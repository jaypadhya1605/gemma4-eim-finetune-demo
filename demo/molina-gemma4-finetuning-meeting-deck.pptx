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F13748-ED91-41C8-A22E-A94D5421A32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A1AD70-E0BA-4B7F-959B-5FDA64561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076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1. I will start with the headline: this is a Gemma 4B-class fine-tuning demo for a browser-action agent.</a:t>
            </a:r>
          </a:p>
          <a:p>
            <a:r>
              <a:rPr lang="en-US"/>
              <a:t>The business question is whether a small open model can learn a reliable EIM workflow behavior.</a:t>
            </a:r>
          </a:p>
          <a:p>
            <a:r>
              <a:rPr lang="en-US"/>
              <a:t>The demo uses AzureML managed compute, synthetic data only, and a LoRA adapter.</a:t>
            </a:r>
          </a:p>
          <a:p>
            <a:r>
              <a:rPr lang="en-US"/>
              <a:t>The output we care about is not prose. It is a JSON action plan that another system can execute.</a:t>
            </a:r>
          </a:p>
          <a:p>
            <a:r>
              <a:rPr lang="en-US"/>
              <a:t>I will walk through the baseline, the fine-tuning method, the data, the Azure resources, and the before-after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1AD70-E0BA-4B7F-959B-5FDA645614E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5120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2. The problem is that browsing agents need repeatable actions, not just good-sounding answers.</a:t>
            </a:r>
          </a:p>
          <a:p>
            <a:r>
              <a:rPr lang="en-US"/>
              <a:t>The user gives a goal, such as opening a prior authorization and submitting it after a policy check.</a:t>
            </a:r>
          </a:p>
          <a:p>
            <a:r>
              <a:rPr lang="en-US"/>
              <a:t>The model sees a compact page state, usually a DOM snippet with both generated IDs and stable attributes.</a:t>
            </a:r>
          </a:p>
          <a:p>
            <a:r>
              <a:rPr lang="en-US"/>
              <a:t>The model must return the action contract: click, type, or extract in strict JSON.</a:t>
            </a:r>
          </a:p>
          <a:p>
            <a:r>
              <a:rPr lang="en-US"/>
              <a:t>This matters because Molina needs repeatable, auditable, low-variance workflow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1AD70-E0BA-4B7F-959B-5FDA645614E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540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3. This demo is scoped narrowly on purpose.</a:t>
            </a:r>
          </a:p>
          <a:p>
            <a:r>
              <a:rPr lang="en-US"/>
              <a:t>We test a workflow contract: DOM plus instruction in, JSON action plan out.</a:t>
            </a:r>
          </a:p>
          <a:p>
            <a:r>
              <a:rPr lang="en-US"/>
              <a:t>We use base Gemma as the small-model baseline to see what it can do before training.</a:t>
            </a:r>
          </a:p>
          <a:p>
            <a:r>
              <a:rPr lang="en-US"/>
              <a:t>We use synthetic healthcare-shaped data so no Molina PHI is involved.</a:t>
            </a:r>
          </a:p>
          <a:p>
            <a:r>
              <a:rPr lang="en-US"/>
              <a:t>We score objective checks: valid JSON, schema, stable selectors, workflow navigation, required actions, and order.</a:t>
            </a:r>
          </a:p>
          <a:p>
            <a:r>
              <a:rPr lang="en-US"/>
              <a:t>The Azure path is AzureML because this Gemma fine-tuning route is not using Foundry serverless fine-tuning.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1AD70-E0BA-4B7F-959B-5FDA645614E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2711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4. Base Gemma is not bad, but it misses the contract we need.</a:t>
            </a:r>
          </a:p>
          <a:p>
            <a:r>
              <a:rPr lang="en-US"/>
              <a:t>It can often produce valid JSON and understand that the task involves clicking, typing, and extracting.</a:t>
            </a:r>
          </a:p>
          <a:p>
            <a:r>
              <a:rPr lang="en-US"/>
              <a:t>Where it fails is the workflow discipline.</a:t>
            </a:r>
          </a:p>
          <a:p>
            <a:r>
              <a:rPr lang="en-US"/>
              <a:t>It may choose generated IDs like member-search-3430 instead of stable data-eim selectors.</a:t>
            </a:r>
          </a:p>
          <a:p>
            <a:r>
              <a:rPr lang="en-US"/>
              <a:t>It may skip opening the correct workspace or miss the exact order.</a:t>
            </a:r>
          </a:p>
          <a:p>
            <a:r>
              <a:rPr lang="en-US"/>
              <a:t>That is why prompting alone is not the full answer for this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1AD70-E0BA-4B7F-959B-5FDA645614E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07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5. The small SLM succeeds natively on general understanding.</a:t>
            </a:r>
          </a:p>
          <a:p>
            <a:r>
              <a:rPr lang="en-US"/>
              <a:t>It can parse healthcare-ish instructions and compact HTML or DOM snippets.</a:t>
            </a:r>
          </a:p>
          <a:p>
            <a:r>
              <a:rPr lang="en-US"/>
              <a:t>It usually understands click, type, and extract as action types.</a:t>
            </a:r>
          </a:p>
          <a:p>
            <a:r>
              <a:rPr lang="en-US"/>
              <a:t>But native behavior is still inconsistent for automation.</a:t>
            </a:r>
          </a:p>
          <a:p>
            <a:r>
              <a:rPr lang="en-US"/>
              <a:t>For a browser agent, a near miss still fails if the selector is brittle or the response includes extra prose.</a:t>
            </a:r>
          </a:p>
          <a:p>
            <a:r>
              <a:rPr lang="en-US"/>
              <a:t>So the measured gap is behavior consistency, not raw model knowledge.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1AD70-E0BA-4B7F-959B-5FDA645614E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567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6. Fine-tuning is the right lever because the gap is behavioral.</a:t>
            </a:r>
          </a:p>
          <a:p>
            <a:r>
              <a:rPr lang="en-US"/>
              <a:t>We are not teaching Molina medical policy to the model.</a:t>
            </a:r>
          </a:p>
          <a:p>
            <a:r>
              <a:rPr lang="en-US"/>
              <a:t>We are teaching the model how to respond when it sees a page state and a user instruction.</a:t>
            </a:r>
          </a:p>
          <a:p>
            <a:r>
              <a:rPr lang="en-US"/>
              <a:t>LoRA keeps the base Gemma model frozen and trains a small adapter on top.</a:t>
            </a:r>
          </a:p>
          <a:p>
            <a:r>
              <a:rPr lang="en-US"/>
              <a:t>That adapter learns stable selectors, workflow ordering, and JSON-only discipline.</a:t>
            </a:r>
          </a:p>
          <a:p>
            <a:r>
              <a:rPr lang="en-US"/>
              <a:t>This keeps the experiment cheaper and makes the behavior swappable by workflow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1AD70-E0BA-4B7F-959B-5FDA645614E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179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7. Here is the end-to-end process flow.</a:t>
            </a:r>
          </a:p>
          <a:p>
            <a:r>
              <a:rPr lang="en-US"/>
              <a:t>First, we generate deterministic synthetic JSONL examples.</a:t>
            </a:r>
          </a:p>
          <a:p>
            <a:r>
              <a:rPr lang="en-US"/>
              <a:t>Second, we prepare or package the data for AzureML.</a:t>
            </a:r>
          </a:p>
          <a:p>
            <a:r>
              <a:rPr lang="en-US"/>
              <a:t>Third, the AzureML SDK submits a command job to the A100 cluster.</a:t>
            </a:r>
          </a:p>
          <a:p>
            <a:r>
              <a:rPr lang="en-US"/>
              <a:t>Fourth, training.py loads Gemma, applies LoRA, and runs supervised fine-tuning.</a:t>
            </a:r>
          </a:p>
          <a:p>
            <a:r>
              <a:rPr lang="en-US"/>
              <a:t>Fifth, the adapter is registered and deployed.</a:t>
            </a:r>
          </a:p>
          <a:p>
            <a:r>
              <a:rPr lang="en-US"/>
              <a:t>Finally, the Streamlit app compares base and tuned behavior on the same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1AD70-E0BA-4B7F-959B-5FDA645614E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1338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8. This is the data used for training.</a:t>
            </a:r>
          </a:p>
          <a:p>
            <a:r>
              <a:rPr lang="en-US"/>
              <a:t>The current winner profile uses 96 training records, 24 validation records, and 16 holdout eval prompts.</a:t>
            </a:r>
          </a:p>
          <a:p>
            <a:r>
              <a:rPr lang="en-US"/>
              <a:t>Each record is a messages object: system instruction, user DOM plus instruction, and assistant JSON answer.</a:t>
            </a:r>
          </a:p>
          <a:p>
            <a:r>
              <a:rPr lang="en-US"/>
              <a:t>The values are fake: fake member IDs, fake authorization IDs, and fake claims.</a:t>
            </a:r>
          </a:p>
          <a:p>
            <a:r>
              <a:rPr lang="en-US"/>
              <a:t>The reason for synthetic data is safety and control.</a:t>
            </a:r>
          </a:p>
          <a:p>
            <a:r>
              <a:rPr lang="en-US"/>
              <a:t>We are proving the workflow pattern without exposing Molina production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1AD70-E0BA-4B7F-959B-5FDA645614E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9345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9. These are the technical resources behind the demo.</a:t>
            </a:r>
          </a:p>
          <a:p>
            <a:r>
              <a:rPr lang="en-US"/>
              <a:t>Foundry and AzureML catalog assets provide the Gemma base model reference.</a:t>
            </a:r>
          </a:p>
          <a:p>
            <a:r>
              <a:rPr lang="en-US"/>
              <a:t>AzureML provides the workspace, jobs, data assets, model registry, lineage, and managed online endpoint.</a:t>
            </a:r>
          </a:p>
          <a:p>
            <a:r>
              <a:rPr lang="en-US"/>
              <a:t>A100 compute runs the actual training job.</a:t>
            </a:r>
          </a:p>
          <a:p>
            <a:r>
              <a:rPr lang="en-US"/>
              <a:t>Key Vault is the production pattern for gated model tokens and secrets.</a:t>
            </a:r>
          </a:p>
          <a:p>
            <a:r>
              <a:rPr lang="en-US"/>
              <a:t>The SDK scripts are control-plane wrappers: prepare data, submit training, register the adapter, and deploy the endpoint.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1AD70-E0BA-4B7F-959B-5FDA645614E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9101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10. This is what trains on the A100.</a:t>
            </a:r>
          </a:p>
          <a:p>
            <a:r>
              <a:rPr lang="en-US"/>
              <a:t>The laptop does not fine-tune the model. It only submits and monitors the AzureML job.</a:t>
            </a:r>
          </a:p>
          <a:p>
            <a:r>
              <a:rPr lang="en-US"/>
              <a:t>Inside the job, Transformers loads the Gemma base model in bf16.</a:t>
            </a:r>
          </a:p>
          <a:p>
            <a:r>
              <a:rPr lang="en-US"/>
              <a:t>PEFT applies LoRA with rank 32 and alpha 64 in the current winner profile.</a:t>
            </a:r>
          </a:p>
          <a:p>
            <a:r>
              <a:rPr lang="en-US"/>
              <a:t>The target modules are attention projections and MLP projections: q, k, v, o, gate, up, and down.</a:t>
            </a:r>
          </a:p>
          <a:p>
            <a:r>
              <a:rPr lang="en-US"/>
              <a:t>TRL SFTTrainer applies the chat template and trains on the assistant JSON examples.</a:t>
            </a:r>
          </a:p>
          <a:p>
            <a:r>
              <a:rPr lang="en-US"/>
              <a:t>The output is a LoRA adapter plus metadata, not a full model retrain.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1AD70-E0BA-4B7F-959B-5FDA645614E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6597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11. This is the fine-tuning code path in plain English.</a:t>
            </a:r>
          </a:p>
          <a:p>
            <a:r>
              <a:rPr lang="en-US"/>
              <a:t>Step one, Transformers loads the base Gemma model from the catalog mount or model path.</a:t>
            </a:r>
          </a:p>
          <a:p>
            <a:r>
              <a:rPr lang="en-US"/>
              <a:t>Step two, PEFT injects LoRA trainable matrices into selected layers while the base weights stay frozen.</a:t>
            </a:r>
          </a:p>
          <a:p>
            <a:r>
              <a:rPr lang="en-US"/>
              <a:t>Step three, SFTTrainer trains against the message records: system, user DOM, and assistant JSON.</a:t>
            </a:r>
          </a:p>
          <a:p>
            <a:r>
              <a:rPr lang="en-US"/>
              <a:t>Step four, the job saves the adapter to outputs/lora_adapter.</a:t>
            </a:r>
          </a:p>
          <a:p>
            <a:r>
              <a:rPr lang="en-US"/>
              <a:t>The key point is that fine-tuning changes the response behavior through the adapter, not by rewriting the whole base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1AD70-E0BA-4B7F-959B-5FDA645614E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4544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12. The live serving pattern uses one endpoint and two behaviors.</a:t>
            </a:r>
          </a:p>
          <a:p>
            <a:r>
              <a:rPr lang="en-US"/>
              <a:t>The endpoint loads the base model and the LoRA adapter.</a:t>
            </a:r>
          </a:p>
          <a:p>
            <a:r>
              <a:rPr lang="en-US"/>
              <a:t>When use_adapter is false, we see base Gemma behavior.</a:t>
            </a:r>
          </a:p>
          <a:p>
            <a:r>
              <a:rPr lang="en-US"/>
              <a:t>When use_adapter is true, we see the fine-tuned behavior.</a:t>
            </a:r>
          </a:p>
          <a:p>
            <a:r>
              <a:rPr lang="en-US"/>
              <a:t>That gives a clean side-by-side comparison without paying for two GPU endpoints.</a:t>
            </a:r>
          </a:p>
          <a:p>
            <a:r>
              <a:rPr lang="en-US"/>
              <a:t>After the demo, delete the endpoint to stop A100 hourly billing.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1AD70-E0BA-4B7F-959B-5FDA645614E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9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13. The conclusion is that the fine-tuned model solves the narrow contract better.</a:t>
            </a:r>
          </a:p>
          <a:p>
            <a:r>
              <a:rPr lang="en-US"/>
              <a:t>It learns to use stable data-eim selectors instead of generated IDs.</a:t>
            </a:r>
          </a:p>
          <a:p>
            <a:r>
              <a:rPr lang="en-US"/>
              <a:t>It learns workflow order, such as opening the workspace before acting inside it.</a:t>
            </a:r>
          </a:p>
          <a:p>
            <a:r>
              <a:rPr lang="en-US"/>
              <a:t>It keeps the response machine-readable by returning JSON only.</a:t>
            </a:r>
          </a:p>
          <a:p>
            <a:r>
              <a:rPr lang="en-US"/>
              <a:t>It remains governed through synthetic data, AzureML lineage, model registration, and endpoint cleanup.</a:t>
            </a:r>
          </a:p>
          <a:p>
            <a:r>
              <a:rPr lang="en-US"/>
              <a:t>The recommended next step is one real Molina workflow, safe examples, agreed graders, and the same baseline to fine-tune to eval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1AD70-E0BA-4B7F-959B-5FDA645614E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798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FFD3F-5E79-454F-DB1A-6D0A3E793E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09F7E2-9CF9-0595-35EC-6D007F5A98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99982-3CCE-67F3-C66E-CC3EE999C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25630-F6C6-4083-9D16-97DD112F45A0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1D5F1-02E9-4ACD-A23A-232FC153D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42DFBB-0AE6-EA18-8779-A57AD535C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4A284-2A1D-44F7-B75D-5BB7CC07B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5404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A6508-2D40-88EB-2617-DD32AB83E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37C42-F9FC-0A33-9335-D92160873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E2DD2-5058-4E50-82E4-BD63D07BB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25630-F6C6-4083-9D16-97DD112F45A0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48126-E0C7-1848-87D1-F132E3333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D1B46-25A8-4762-E7ED-08289665F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4A284-2A1D-44F7-B75D-5BB7CC07B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4133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C38EB-3EF7-1E37-06B5-1D18E0AE3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AB758F-D57E-8E95-0151-B72CCE402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CC4C87-C14A-8291-5A93-79E987644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25630-F6C6-4083-9D16-97DD112F45A0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B07AA8-FDD3-B606-169A-A139C1265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FDDDF8-1BC4-4E5F-5F96-E556F2A78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4A284-2A1D-44F7-B75D-5BB7CC07B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5172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D4F47-DADA-6C87-1B77-B585400F6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78014-D245-F52C-F8EF-7EFD91E2EF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98012-EA47-F360-A293-DEB42FF0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26CCB1-53D7-8819-854F-75432B984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25630-F6C6-4083-9D16-97DD112F45A0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B72DC8-7115-AF5B-695A-877B54912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D911D2-D70C-180F-1AC2-DD0201183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4A284-2A1D-44F7-B75D-5BB7CC07B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635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D102A-5F42-FF0B-818F-EF048EEE8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39D7D4-A287-895F-8413-41196E653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FABF3-EB3B-FCED-0F4D-41F0D1A49B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5D665D-18B7-5DB4-7526-9FAF12CBDC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7C4E7F-BDC4-A57D-9B59-63A594C668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91925F-1486-A7A1-383E-BCDD60FE1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25630-F6C6-4083-9D16-97DD112F45A0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C02307-5727-AF31-0770-BAB1C6676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18040C-56F4-A900-164A-F2C62C215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4A284-2A1D-44F7-B75D-5BB7CC07B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275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06CE0-21FE-6DDE-C7E7-004127EDE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EE9C7D-5079-0F57-313B-00E506BB9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25630-F6C6-4083-9D16-97DD112F45A0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EF769F-B34E-6A76-1560-1C4E8F281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D01CC9-F92D-99C8-6428-0CA80146A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4A284-2A1D-44F7-B75D-5BB7CC07B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5030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D042EE-337B-DD17-9B4E-6F1CB495E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25630-F6C6-4083-9D16-97DD112F45A0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24DD6-7A6A-C3AC-5128-BE3AAFDC4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5060E-E487-B516-C590-16EC54CA0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4A284-2A1D-44F7-B75D-5BB7CC07B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976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0F42F-558A-E353-75AF-4AD543EB6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163F6-8A70-6EEE-98EC-165133E26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04C4BD-0D94-3264-9D61-68559D5D0E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71D3BF-FD51-DFD2-184C-6980914D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25630-F6C6-4083-9D16-97DD112F45A0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CBC03-DC76-35A0-A27E-42914F67E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9904E7-0969-0972-725F-3B9B197A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4A284-2A1D-44F7-B75D-5BB7CC07B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7C1DC-B29C-7E34-F09B-AD4C598E2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7CB4F1-6CE6-F35A-DB2D-014EC24CCD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260255-6678-2DBD-07F8-E3DBC0EA67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BE4B4-FAFE-6469-30B7-58D422952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25630-F6C6-4083-9D16-97DD112F45A0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E3D418-C03B-A723-3363-F772060F1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3153AA-2084-C7F8-2B00-0658D2E55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4A284-2A1D-44F7-B75D-5BB7CC07B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248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AFE14-7981-8135-3FC1-95127049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3EC313-A772-5806-7819-38121BAD4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59950-6A4E-F614-4DFE-312B19AA4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25630-F6C6-4083-9D16-97DD112F45A0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E0C4F-B232-3E15-1F22-5DD26AD14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67DC5-E9F0-BF13-B7A2-4C71E174D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4A284-2A1D-44F7-B75D-5BB7CC07B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078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4B54EF-D99F-1D97-B518-6866114568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439269-32CF-21F8-6AB0-EE34E87EF6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5BBF5E-CCD5-8BAB-3ED3-4EE52FA1D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25630-F6C6-4083-9D16-97DD112F45A0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90F118-3489-5464-4F32-AAB0BF45B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EC21F-BB80-38F4-56E5-D2668D1AB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4A284-2A1D-44F7-B75D-5BB7CC07B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161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587143-9FEB-6CA1-F8DD-54FF79758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A51918-6708-51BE-78C0-D6856E936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B8A17-7A93-2108-17B8-B1E5986B7A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125630-F6C6-4083-9D16-97DD112F45A0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107C99-F8F3-D531-DABF-4604C4525C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61FE6F-324A-1B6B-A720-292523B30B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4A284-2A1D-44F7-B75D-5BB7CC07B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483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CD0A7D-7FF2-0379-19E7-6CD0994D1CF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42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9DE4D46-3739-E62E-716D-3F0DD68CD308}"/>
              </a:ext>
            </a:extLst>
          </p:cNvPr>
          <p:cNvSpPr/>
          <p:nvPr/>
        </p:nvSpPr>
        <p:spPr>
          <a:xfrm>
            <a:off x="8549640" y="-1005840"/>
            <a:ext cx="3749040" cy="3749040"/>
          </a:xfrm>
          <a:prstGeom prst="ellipse">
            <a:avLst/>
          </a:prstGeom>
          <a:solidFill>
            <a:srgbClr val="0078D4">
              <a:alpha val="8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D6F7FAD-E024-37CA-0748-D17ECB9B49F4}"/>
              </a:ext>
            </a:extLst>
          </p:cNvPr>
          <p:cNvSpPr/>
          <p:nvPr/>
        </p:nvSpPr>
        <p:spPr>
          <a:xfrm>
            <a:off x="9921240" y="4069080"/>
            <a:ext cx="2377440" cy="2377440"/>
          </a:xfrm>
          <a:prstGeom prst="ellipse">
            <a:avLst/>
          </a:prstGeom>
          <a:solidFill>
            <a:srgbClr val="00B7C3">
              <a:alpha val="7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9E8557-146D-C181-850C-CF7C20E073CD}"/>
              </a:ext>
            </a:extLst>
          </p:cNvPr>
          <p:cNvSpPr txBox="1"/>
          <p:nvPr/>
        </p:nvSpPr>
        <p:spPr>
          <a:xfrm>
            <a:off x="594360" y="502920"/>
            <a:ext cx="20116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00" b="1">
                <a:solidFill>
                  <a:srgbClr val="00B7C3"/>
                </a:solidFill>
                <a:latin typeface="Segoe UI" panose="020B0502040204020203" pitchFamily="34" charset="0"/>
              </a:rPr>
              <a:t>Molina EIM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F14480-732D-0051-1142-A8AF672D1D99}"/>
              </a:ext>
            </a:extLst>
          </p:cNvPr>
          <p:cNvSpPr txBox="1"/>
          <p:nvPr/>
        </p:nvSpPr>
        <p:spPr>
          <a:xfrm>
            <a:off x="594360" y="1051560"/>
            <a:ext cx="6858000" cy="108337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Aptos Display" panose="020B0004020202020204" pitchFamily="34" charset="0"/>
              </a:rPr>
              <a:t>Gemma 4B-class fine-tuning for a browser-action agent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F4D48C-B88D-64D9-3418-906EBB7EE544}"/>
              </a:ext>
            </a:extLst>
          </p:cNvPr>
          <p:cNvSpPr txBox="1"/>
          <p:nvPr/>
        </p:nvSpPr>
        <p:spPr>
          <a:xfrm>
            <a:off x="621792" y="2395728"/>
            <a:ext cx="6035040" cy="72943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>
                <a:solidFill>
                  <a:srgbClr val="D7EBFF"/>
                </a:solidFill>
                <a:latin typeface="Aptos" panose="020B0004020202020204" pitchFamily="34" charset="0"/>
              </a:rPr>
              <a:t>A customer-ready walkthrough: problem framing, base-model gap, LoRA fine-tuning, synthetic data, AzureML resources, and the before/after demo result.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9B799C-4312-2CC7-13B4-8EF75BBA83C7}"/>
              </a:ext>
            </a:extLst>
          </p:cNvPr>
          <p:cNvSpPr/>
          <p:nvPr/>
        </p:nvSpPr>
        <p:spPr>
          <a:xfrm>
            <a:off x="621792" y="3383280"/>
            <a:ext cx="1920240" cy="310896"/>
          </a:xfrm>
          <a:prstGeom prst="roundRect">
            <a:avLst/>
          </a:prstGeom>
          <a:solidFill>
            <a:srgbClr val="0078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9D43C5-F4D5-1BBA-7CCD-E725F023C5ED}"/>
              </a:ext>
            </a:extLst>
          </p:cNvPr>
          <p:cNvSpPr txBox="1"/>
          <p:nvPr/>
        </p:nvSpPr>
        <p:spPr>
          <a:xfrm>
            <a:off x="713232" y="3442716"/>
            <a:ext cx="173736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Segoe UI" panose="020B0502040204020203" pitchFamily="34" charset="0"/>
              </a:rPr>
              <a:t>AzureML managed compute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F662B39-E943-5E99-386F-B242D4D60CEE}"/>
              </a:ext>
            </a:extLst>
          </p:cNvPr>
          <p:cNvSpPr/>
          <p:nvPr/>
        </p:nvSpPr>
        <p:spPr>
          <a:xfrm>
            <a:off x="2697480" y="3383280"/>
            <a:ext cx="1600200" cy="310896"/>
          </a:xfrm>
          <a:prstGeom prst="roundRect">
            <a:avLst/>
          </a:prstGeom>
          <a:solidFill>
            <a:srgbClr val="0383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A19B2A-A219-A01A-B45A-99ECD1ABEB4F}"/>
              </a:ext>
            </a:extLst>
          </p:cNvPr>
          <p:cNvSpPr txBox="1"/>
          <p:nvPr/>
        </p:nvSpPr>
        <p:spPr>
          <a:xfrm>
            <a:off x="2788920" y="3442716"/>
            <a:ext cx="141732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Segoe UI" panose="020B0502040204020203" pitchFamily="34" charset="0"/>
              </a:rPr>
              <a:t>Synthetic data only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0782096-AAE1-64BA-64A9-D6BABACB8E84}"/>
              </a:ext>
            </a:extLst>
          </p:cNvPr>
          <p:cNvSpPr/>
          <p:nvPr/>
        </p:nvSpPr>
        <p:spPr>
          <a:xfrm>
            <a:off x="4443984" y="3383280"/>
            <a:ext cx="1234440" cy="310896"/>
          </a:xfrm>
          <a:prstGeom prst="roundRect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214B18-D08F-C286-A765-C50361E34EA5}"/>
              </a:ext>
            </a:extLst>
          </p:cNvPr>
          <p:cNvSpPr txBox="1"/>
          <p:nvPr/>
        </p:nvSpPr>
        <p:spPr>
          <a:xfrm>
            <a:off x="4535424" y="3442716"/>
            <a:ext cx="105156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Segoe UI" panose="020B0502040204020203" pitchFamily="34" charset="0"/>
              </a:rPr>
              <a:t>LoRA adapter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7D1D9E-09AA-00B9-F8D2-DE34D606626F}"/>
              </a:ext>
            </a:extLst>
          </p:cNvPr>
          <p:cNvSpPr/>
          <p:nvPr/>
        </p:nvSpPr>
        <p:spPr>
          <a:xfrm>
            <a:off x="7406640" y="1261872"/>
            <a:ext cx="3566160" cy="3429000"/>
          </a:xfrm>
          <a:prstGeom prst="roundRect">
            <a:avLst/>
          </a:prstGeom>
          <a:solidFill>
            <a:srgbClr val="11100F"/>
          </a:solidFill>
          <a:ln w="6350">
            <a:solidFill>
              <a:srgbClr val="605E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9C7D9CB-121C-E8B2-4E82-7424B5FF6C93}"/>
              </a:ext>
            </a:extLst>
          </p:cNvPr>
          <p:cNvSpPr/>
          <p:nvPr/>
        </p:nvSpPr>
        <p:spPr>
          <a:xfrm>
            <a:off x="7726680" y="1627632"/>
            <a:ext cx="2926081" cy="384048"/>
          </a:xfrm>
          <a:prstGeom prst="roundRect">
            <a:avLst/>
          </a:prstGeom>
          <a:solidFill>
            <a:srgbClr val="0045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04C815-FC0D-0DC4-62DF-BC9A08973239}"/>
              </a:ext>
            </a:extLst>
          </p:cNvPr>
          <p:cNvSpPr txBox="1"/>
          <p:nvPr/>
        </p:nvSpPr>
        <p:spPr>
          <a:xfrm>
            <a:off x="7900416" y="1709928"/>
            <a:ext cx="246888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20" b="1">
                <a:solidFill>
                  <a:srgbClr val="FFFFFF"/>
                </a:solidFill>
                <a:latin typeface="Segoe UI" panose="020B0502040204020203" pitchFamily="34" charset="0"/>
              </a:rPr>
              <a:t>Browser Agent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790674B-E11F-86FA-8D09-B87504AA2600}"/>
              </a:ext>
            </a:extLst>
          </p:cNvPr>
          <p:cNvSpPr/>
          <p:nvPr/>
        </p:nvSpPr>
        <p:spPr>
          <a:xfrm>
            <a:off x="7726680" y="2240280"/>
            <a:ext cx="1234440" cy="475488"/>
          </a:xfrm>
          <a:prstGeom prst="roundRect">
            <a:avLst/>
          </a:prstGeom>
          <a:solidFill>
            <a:srgbClr val="D7E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016C0F-39D3-3559-2729-CAA0F1848530}"/>
              </a:ext>
            </a:extLst>
          </p:cNvPr>
          <p:cNvSpPr txBox="1"/>
          <p:nvPr/>
        </p:nvSpPr>
        <p:spPr>
          <a:xfrm>
            <a:off x="8046720" y="2395728"/>
            <a:ext cx="594360" cy="17543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00" b="1">
                <a:solidFill>
                  <a:srgbClr val="004578"/>
                </a:solidFill>
                <a:latin typeface="Segoe UI" panose="020B0502040204020203" pitchFamily="34" charset="0"/>
              </a:rPr>
              <a:t>DOM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D4DC99F-DECC-8E00-7155-DF8AAF6AD95D}"/>
              </a:ext>
            </a:extLst>
          </p:cNvPr>
          <p:cNvSpPr/>
          <p:nvPr/>
        </p:nvSpPr>
        <p:spPr>
          <a:xfrm>
            <a:off x="9189720" y="2240280"/>
            <a:ext cx="1234440" cy="475488"/>
          </a:xfrm>
          <a:prstGeom prst="roundRect">
            <a:avLst/>
          </a:prstGeom>
          <a:solidFill>
            <a:srgbClr val="EDE7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F0CBEC-853D-3739-EC90-3C462336B798}"/>
              </a:ext>
            </a:extLst>
          </p:cNvPr>
          <p:cNvSpPr txBox="1"/>
          <p:nvPr/>
        </p:nvSpPr>
        <p:spPr>
          <a:xfrm>
            <a:off x="9464040" y="2395728"/>
            <a:ext cx="685800" cy="17543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00" b="1">
                <a:solidFill>
                  <a:srgbClr val="5C2D91"/>
                </a:solidFill>
                <a:latin typeface="Segoe UI" panose="020B0502040204020203" pitchFamily="34" charset="0"/>
              </a:rPr>
              <a:t>Intent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BC9A195-67C7-0308-244E-FDFCFFC63EDA}"/>
              </a:ext>
            </a:extLst>
          </p:cNvPr>
          <p:cNvCxnSpPr/>
          <p:nvPr/>
        </p:nvCxnSpPr>
        <p:spPr>
          <a:xfrm>
            <a:off x="8979408" y="2468880"/>
            <a:ext cx="192024" cy="0"/>
          </a:xfrm>
          <a:prstGeom prst="line">
            <a:avLst/>
          </a:prstGeom>
          <a:ln w="20320">
            <a:solidFill>
              <a:srgbClr val="8A88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A99ABAE-EF05-8329-0A42-72C126FCDB0A}"/>
              </a:ext>
            </a:extLst>
          </p:cNvPr>
          <p:cNvSpPr/>
          <p:nvPr/>
        </p:nvSpPr>
        <p:spPr>
          <a:xfrm>
            <a:off x="8275320" y="3246120"/>
            <a:ext cx="1627632" cy="585216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423FAB-688C-0CDF-8951-3BFF57C0C7D3}"/>
              </a:ext>
            </a:extLst>
          </p:cNvPr>
          <p:cNvSpPr txBox="1"/>
          <p:nvPr/>
        </p:nvSpPr>
        <p:spPr>
          <a:xfrm>
            <a:off x="8449056" y="3456432"/>
            <a:ext cx="1280160" cy="17543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00" b="1">
                <a:solidFill>
                  <a:srgbClr val="107C10"/>
                </a:solidFill>
                <a:latin typeface="Segoe UI" panose="020B0502040204020203" pitchFamily="34" charset="0"/>
              </a:rPr>
              <a:t>JSON actions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F6F6D71-FC3F-7572-FE33-245121FB8647}"/>
              </a:ext>
            </a:extLst>
          </p:cNvPr>
          <p:cNvCxnSpPr/>
          <p:nvPr/>
        </p:nvCxnSpPr>
        <p:spPr>
          <a:xfrm>
            <a:off x="8339328" y="2761488"/>
            <a:ext cx="466344" cy="457200"/>
          </a:xfrm>
          <a:prstGeom prst="line">
            <a:avLst/>
          </a:prstGeom>
          <a:ln w="27940">
            <a:solidFill>
              <a:srgbClr val="00B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736BFF1-BCC2-B5E5-220C-FFAB68CCCCEE}"/>
              </a:ext>
            </a:extLst>
          </p:cNvPr>
          <p:cNvCxnSpPr/>
          <p:nvPr/>
        </p:nvCxnSpPr>
        <p:spPr>
          <a:xfrm flipH="1">
            <a:off x="9326880" y="2761488"/>
            <a:ext cx="484632" cy="457200"/>
          </a:xfrm>
          <a:prstGeom prst="line">
            <a:avLst/>
          </a:prstGeom>
          <a:ln w="27940">
            <a:solidFill>
              <a:srgbClr val="00B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C2D968E-575D-22D9-08C3-A2B44FAAF68B}"/>
              </a:ext>
            </a:extLst>
          </p:cNvPr>
          <p:cNvSpPr txBox="1"/>
          <p:nvPr/>
        </p:nvSpPr>
        <p:spPr>
          <a:xfrm>
            <a:off x="621792" y="6144768"/>
            <a:ext cx="484632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C8C6C4"/>
                </a:solidFill>
                <a:latin typeface="Segoe UI" panose="020B0502040204020203" pitchFamily="34" charset="0"/>
              </a:rPr>
              <a:t>Prepared for Chirag, Dhanshri, and EIM team</a:t>
            </a:r>
          </a:p>
        </p:txBody>
      </p:sp>
    </p:spTree>
    <p:extLst>
      <p:ext uri="{BB962C8B-B14F-4D97-AF65-F5344CB8AC3E}">
        <p14:creationId xmlns:p14="http://schemas.microsoft.com/office/powerpoint/2010/main" val="2262400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48D567-4C48-2532-A6E0-BCC214FB14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EB9319-7903-DED0-A583-EC2B8B476DE5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7136FC-CC25-4209-BA5E-479C3F09A3D0}"/>
              </a:ext>
            </a:extLst>
          </p:cNvPr>
          <p:cNvSpPr txBox="1"/>
          <p:nvPr/>
        </p:nvSpPr>
        <p:spPr>
          <a:xfrm>
            <a:off x="502920" y="502920"/>
            <a:ext cx="8046720" cy="92948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The problem: browsing agents need repeatable 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6671A9-7BFC-6A7A-17F0-BFB3C6A0E2C0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785C66-2FD5-9B25-5FE1-63484D341BD9}"/>
              </a:ext>
            </a:extLst>
          </p:cNvPr>
          <p:cNvSpPr txBox="1"/>
          <p:nvPr/>
        </p:nvSpPr>
        <p:spPr>
          <a:xfrm>
            <a:off x="594360" y="1234440"/>
            <a:ext cx="5669280" cy="68326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>
                <a:solidFill>
                  <a:srgbClr val="605E5C"/>
                </a:solidFill>
                <a:latin typeface="Aptos" panose="020B0004020202020204" pitchFamily="34" charset="0"/>
              </a:rPr>
              <a:t>Chirag's ask maps to a browser-control agent: read a page state, understand the user's intent, and return a precise machine-executable action plan.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8BD4F24-6B99-AE58-DDAF-737C78F495C8}"/>
              </a:ext>
            </a:extLst>
          </p:cNvPr>
          <p:cNvSpPr/>
          <p:nvPr/>
        </p:nvSpPr>
        <p:spPr>
          <a:xfrm>
            <a:off x="685800" y="2011680"/>
            <a:ext cx="233172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49EEDD-213B-3C62-644A-FBD7CA023A25}"/>
              </a:ext>
            </a:extLst>
          </p:cNvPr>
          <p:cNvSpPr txBox="1"/>
          <p:nvPr/>
        </p:nvSpPr>
        <p:spPr>
          <a:xfrm>
            <a:off x="914400" y="2249424"/>
            <a:ext cx="256032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0078D4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F4D252-C763-FC13-C25D-7B0D3C2D17AC}"/>
              </a:ext>
            </a:extLst>
          </p:cNvPr>
          <p:cNvSpPr txBox="1"/>
          <p:nvPr/>
        </p:nvSpPr>
        <p:spPr>
          <a:xfrm>
            <a:off x="1234440" y="2212848"/>
            <a:ext cx="1371600" cy="2523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 b="1">
                <a:solidFill>
                  <a:srgbClr val="201F1E"/>
                </a:solidFill>
                <a:latin typeface="Segoe UI" panose="020B0502040204020203" pitchFamily="34" charset="0"/>
              </a:rPr>
              <a:t>User goal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AD7530-1AF5-5D89-072F-951852389BF9}"/>
              </a:ext>
            </a:extLst>
          </p:cNvPr>
          <p:cNvSpPr txBox="1"/>
          <p:nvPr/>
        </p:nvSpPr>
        <p:spPr>
          <a:xfrm>
            <a:off x="914400" y="2770632"/>
            <a:ext cx="1783080" cy="126803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600" b="1">
                <a:solidFill>
                  <a:srgbClr val="004578"/>
                </a:solidFill>
                <a:latin typeface="Aptos" panose="020B0004020202020204" pitchFamily="34" charset="0"/>
              </a:rPr>
              <a:t>Open a prior authorization, run policy check, submit in the right order.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AA7C220-E5E7-5C20-9E33-F39408EAA862}"/>
              </a:ext>
            </a:extLst>
          </p:cNvPr>
          <p:cNvSpPr/>
          <p:nvPr/>
        </p:nvSpPr>
        <p:spPr>
          <a:xfrm>
            <a:off x="3657600" y="2011680"/>
            <a:ext cx="233172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D054AB-6CE4-5011-4682-C43CB4845DB9}"/>
              </a:ext>
            </a:extLst>
          </p:cNvPr>
          <p:cNvSpPr txBox="1"/>
          <p:nvPr/>
        </p:nvSpPr>
        <p:spPr>
          <a:xfrm>
            <a:off x="3886200" y="2249424"/>
            <a:ext cx="256032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038387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E2B1AF-D056-17FD-12D9-FD3B30B06AD5}"/>
              </a:ext>
            </a:extLst>
          </p:cNvPr>
          <p:cNvSpPr txBox="1"/>
          <p:nvPr/>
        </p:nvSpPr>
        <p:spPr>
          <a:xfrm>
            <a:off x="4206240" y="2212848"/>
            <a:ext cx="1371600" cy="2523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 b="1">
                <a:solidFill>
                  <a:srgbClr val="201F1E"/>
                </a:solidFill>
                <a:latin typeface="Segoe UI" panose="020B0502040204020203" pitchFamily="34" charset="0"/>
              </a:rPr>
              <a:t>Page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0A90C0-DAB2-3208-6AC7-34F8C3447D2F}"/>
              </a:ext>
            </a:extLst>
          </p:cNvPr>
          <p:cNvSpPr txBox="1"/>
          <p:nvPr/>
        </p:nvSpPr>
        <p:spPr>
          <a:xfrm>
            <a:off x="3931920" y="2779776"/>
            <a:ext cx="1737360" cy="96026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038387"/>
                </a:solidFill>
                <a:latin typeface="Aptos" panose="020B0004020202020204" pitchFamily="34" charset="0"/>
              </a:rPr>
              <a:t>DOM snippet with noisy IDs plus stable data-eim attributes.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1C16875-E878-B86C-666C-A63761CE7452}"/>
              </a:ext>
            </a:extLst>
          </p:cNvPr>
          <p:cNvSpPr/>
          <p:nvPr/>
        </p:nvSpPr>
        <p:spPr>
          <a:xfrm>
            <a:off x="6629400" y="2011680"/>
            <a:ext cx="233172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E88E05-1E39-AA93-DCE3-DE81C3233DAC}"/>
              </a:ext>
            </a:extLst>
          </p:cNvPr>
          <p:cNvSpPr txBox="1"/>
          <p:nvPr/>
        </p:nvSpPr>
        <p:spPr>
          <a:xfrm>
            <a:off x="6858000" y="2249424"/>
            <a:ext cx="256032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107C10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F77908-5CAF-023E-4C69-CAEABB32DB4E}"/>
              </a:ext>
            </a:extLst>
          </p:cNvPr>
          <p:cNvSpPr txBox="1"/>
          <p:nvPr/>
        </p:nvSpPr>
        <p:spPr>
          <a:xfrm>
            <a:off x="7178040" y="2212848"/>
            <a:ext cx="1554480" cy="2523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 b="1">
                <a:solidFill>
                  <a:srgbClr val="201F1E"/>
                </a:solidFill>
                <a:latin typeface="Segoe UI" panose="020B0502040204020203" pitchFamily="34" charset="0"/>
              </a:rPr>
              <a:t>Action contract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40F76C-7F43-6FB5-D6CA-3D9FDF4CFC5D}"/>
              </a:ext>
            </a:extLst>
          </p:cNvPr>
          <p:cNvSpPr txBox="1"/>
          <p:nvPr/>
        </p:nvSpPr>
        <p:spPr>
          <a:xfrm>
            <a:off x="6903720" y="2770632"/>
            <a:ext cx="1783080" cy="96026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107C10"/>
                </a:solidFill>
                <a:latin typeface="Aptos" panose="020B0004020202020204" pitchFamily="34" charset="0"/>
              </a:rPr>
              <a:t>Return only JSON: click, type, extract - no prose, no markdown.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8865C73-8C1D-F869-9DD3-BC4519E6BB63}"/>
              </a:ext>
            </a:extLst>
          </p:cNvPr>
          <p:cNvSpPr/>
          <p:nvPr/>
        </p:nvSpPr>
        <p:spPr>
          <a:xfrm>
            <a:off x="9601200" y="2011680"/>
            <a:ext cx="1874520" cy="2286000"/>
          </a:xfrm>
          <a:prstGeom prst="roundRect">
            <a:avLst/>
          </a:prstGeom>
          <a:solidFill>
            <a:srgbClr val="25242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5446CB-C814-0BD3-994C-D3B4D35E0F0F}"/>
              </a:ext>
            </a:extLst>
          </p:cNvPr>
          <p:cNvSpPr txBox="1"/>
          <p:nvPr/>
        </p:nvSpPr>
        <p:spPr>
          <a:xfrm>
            <a:off x="9829800" y="2267712"/>
            <a:ext cx="141732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Segoe UI" panose="020B0502040204020203" pitchFamily="34" charset="0"/>
              </a:rPr>
              <a:t>Why it matters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AF99B4-9A78-4F06-AD58-6E35A82B2D60}"/>
              </a:ext>
            </a:extLst>
          </p:cNvPr>
          <p:cNvSpPr txBox="1"/>
          <p:nvPr/>
        </p:nvSpPr>
        <p:spPr>
          <a:xfrm>
            <a:off x="9893808" y="2770632"/>
            <a:ext cx="1234440" cy="119109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500" b="1">
                <a:solidFill>
                  <a:srgbClr val="D7EBFF"/>
                </a:solidFill>
                <a:latin typeface="Aptos" panose="020B0004020202020204" pitchFamily="34" charset="0"/>
              </a:rPr>
              <a:t>Repeatable</a:t>
            </a:r>
          </a:p>
          <a:p>
            <a:pPr algn="ctr"/>
            <a:r>
              <a:rPr lang="en-US" sz="1500" b="1">
                <a:solidFill>
                  <a:srgbClr val="D7EBFF"/>
                </a:solidFill>
                <a:latin typeface="Aptos" panose="020B0004020202020204" pitchFamily="34" charset="0"/>
              </a:rPr>
              <a:t>Auditable</a:t>
            </a:r>
          </a:p>
          <a:p>
            <a:pPr algn="ctr"/>
            <a:r>
              <a:rPr lang="en-US" sz="1500" b="1">
                <a:solidFill>
                  <a:srgbClr val="D7EBFF"/>
                </a:solidFill>
                <a:latin typeface="Aptos" panose="020B0004020202020204" pitchFamily="34" charset="0"/>
              </a:rPr>
              <a:t>Low variance</a:t>
            </a:r>
          </a:p>
          <a:p>
            <a:pPr algn="ctr"/>
            <a:r>
              <a:rPr lang="en-US" sz="1500" b="1">
                <a:solidFill>
                  <a:srgbClr val="D7EBFF"/>
                </a:solidFill>
                <a:latin typeface="Aptos" panose="020B0004020202020204" pitchFamily="34" charset="0"/>
              </a:rPr>
              <a:t>Workflow-safe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48BAA3C-00DC-3B3D-F550-CEB5D67B2977}"/>
              </a:ext>
            </a:extLst>
          </p:cNvPr>
          <p:cNvCxnSpPr/>
          <p:nvPr/>
        </p:nvCxnSpPr>
        <p:spPr>
          <a:xfrm>
            <a:off x="3035808" y="3154680"/>
            <a:ext cx="576072" cy="0"/>
          </a:xfrm>
          <a:prstGeom prst="line">
            <a:avLst/>
          </a:prstGeom>
          <a:ln w="317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B7CB14E-1AC6-834A-043F-AACB1FCF4CEB}"/>
              </a:ext>
            </a:extLst>
          </p:cNvPr>
          <p:cNvCxnSpPr/>
          <p:nvPr/>
        </p:nvCxnSpPr>
        <p:spPr>
          <a:xfrm>
            <a:off x="6007608" y="3154680"/>
            <a:ext cx="576072" cy="0"/>
          </a:xfrm>
          <a:prstGeom prst="line">
            <a:avLst/>
          </a:prstGeom>
          <a:ln w="31750">
            <a:solidFill>
              <a:srgbClr val="00B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E8894EB-C213-509B-B64D-AC80C883D82D}"/>
              </a:ext>
            </a:extLst>
          </p:cNvPr>
          <p:cNvCxnSpPr/>
          <p:nvPr/>
        </p:nvCxnSpPr>
        <p:spPr>
          <a:xfrm>
            <a:off x="8979408" y="3154680"/>
            <a:ext cx="576072" cy="0"/>
          </a:xfrm>
          <a:prstGeom prst="line">
            <a:avLst/>
          </a:prstGeom>
          <a:ln w="3175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AB70CCE-14FE-6C8C-2D8C-026891994F60}"/>
              </a:ext>
            </a:extLst>
          </p:cNvPr>
          <p:cNvSpPr/>
          <p:nvPr/>
        </p:nvSpPr>
        <p:spPr>
          <a:xfrm>
            <a:off x="685800" y="4956048"/>
            <a:ext cx="219456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70F88B-BD0D-965B-6FBD-A16082DEF387}"/>
              </a:ext>
            </a:extLst>
          </p:cNvPr>
          <p:cNvSpPr txBox="1"/>
          <p:nvPr/>
        </p:nvSpPr>
        <p:spPr>
          <a:xfrm>
            <a:off x="850392" y="5084064"/>
            <a:ext cx="186537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0078D4"/>
                </a:solidFill>
                <a:latin typeface="Aptos Display" panose="020B0004020202020204" pitchFamily="34" charset="0"/>
              </a:rPr>
              <a:t>JSON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BF79C6-4CB1-7297-35AA-B1F164C1E97D}"/>
              </a:ext>
            </a:extLst>
          </p:cNvPr>
          <p:cNvSpPr txBox="1"/>
          <p:nvPr/>
        </p:nvSpPr>
        <p:spPr>
          <a:xfrm>
            <a:off x="850392" y="5522976"/>
            <a:ext cx="1865376" cy="3293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Output is executable, not just plausible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7DFE734-1135-10B2-F2A9-A9BFE36661B8}"/>
              </a:ext>
            </a:extLst>
          </p:cNvPr>
          <p:cNvSpPr/>
          <p:nvPr/>
        </p:nvSpPr>
        <p:spPr>
          <a:xfrm>
            <a:off x="3246120" y="4956048"/>
            <a:ext cx="219456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A5F9D5B-1D46-E321-4765-884FC739A5A9}"/>
              </a:ext>
            </a:extLst>
          </p:cNvPr>
          <p:cNvSpPr txBox="1"/>
          <p:nvPr/>
        </p:nvSpPr>
        <p:spPr>
          <a:xfrm>
            <a:off x="3410712" y="5084064"/>
            <a:ext cx="186537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038387"/>
                </a:solidFill>
                <a:latin typeface="Aptos Display" panose="020B0004020202020204" pitchFamily="34" charset="0"/>
              </a:rPr>
              <a:t>data-eim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5419A3-D872-B742-E279-0F63122AC7A9}"/>
              </a:ext>
            </a:extLst>
          </p:cNvPr>
          <p:cNvSpPr txBox="1"/>
          <p:nvPr/>
        </p:nvSpPr>
        <p:spPr>
          <a:xfrm>
            <a:off x="3410712" y="5522976"/>
            <a:ext cx="1865376" cy="3293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Stable selectors survive UI-generated IDs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D0B4990-B108-B7F6-6AFF-C7F4B346A762}"/>
              </a:ext>
            </a:extLst>
          </p:cNvPr>
          <p:cNvSpPr/>
          <p:nvPr/>
        </p:nvSpPr>
        <p:spPr>
          <a:xfrm>
            <a:off x="5806440" y="4956048"/>
            <a:ext cx="219456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D1C13C-1B31-CD16-6AD9-2B3B9F1B7B35}"/>
              </a:ext>
            </a:extLst>
          </p:cNvPr>
          <p:cNvSpPr txBox="1"/>
          <p:nvPr/>
        </p:nvSpPr>
        <p:spPr>
          <a:xfrm>
            <a:off x="5971032" y="5084064"/>
            <a:ext cx="186537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107C10"/>
                </a:solidFill>
                <a:latin typeface="Aptos Display" panose="020B0004020202020204" pitchFamily="34" charset="0"/>
              </a:rPr>
              <a:t>0 PHI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7089D6-A7D3-569C-94DC-EBC133A767E3}"/>
              </a:ext>
            </a:extLst>
          </p:cNvPr>
          <p:cNvSpPr txBox="1"/>
          <p:nvPr/>
        </p:nvSpPr>
        <p:spPr>
          <a:xfrm>
            <a:off x="5971032" y="5522976"/>
            <a:ext cx="186537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Healthcare-safe demo data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7ADAF62-2B53-D974-70C8-EF14FABB34D3}"/>
              </a:ext>
            </a:extLst>
          </p:cNvPr>
          <p:cNvSpPr/>
          <p:nvPr/>
        </p:nvSpPr>
        <p:spPr>
          <a:xfrm>
            <a:off x="8366760" y="4956048"/>
            <a:ext cx="219456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47CD8B-317B-6431-D1B7-02BA89D2CA2A}"/>
              </a:ext>
            </a:extLst>
          </p:cNvPr>
          <p:cNvSpPr txBox="1"/>
          <p:nvPr/>
        </p:nvSpPr>
        <p:spPr>
          <a:xfrm>
            <a:off x="8531352" y="5084064"/>
            <a:ext cx="186537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5C2D91"/>
                </a:solidFill>
                <a:latin typeface="Aptos Display" panose="020B0004020202020204" pitchFamily="34" charset="0"/>
              </a:rPr>
              <a:t>Pilot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689DC31-1A97-A01C-9FA3-A3BFD867DE09}"/>
              </a:ext>
            </a:extLst>
          </p:cNvPr>
          <p:cNvSpPr txBox="1"/>
          <p:nvPr/>
        </p:nvSpPr>
        <p:spPr>
          <a:xfrm>
            <a:off x="8531352" y="5522976"/>
            <a:ext cx="186537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One narrow workflow first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DDF89EC-356B-1066-EEC8-9C77CD1AB1DE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02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2866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705012-E6AE-8810-D871-EE21C7BB0B9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74BAD7-1055-AD51-9F03-0A3E4101FA0B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25EBE5-CA51-2E06-FAE1-B302CA9DDB51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What this demo considers - and why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2100AA-BCE2-4342-66DD-BD64493E27ED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FEF3F6-E36B-E40C-84AC-1DE1472452E4}"/>
              </a:ext>
            </a:extLst>
          </p:cNvPr>
          <p:cNvSpPr txBox="1"/>
          <p:nvPr/>
        </p:nvSpPr>
        <p:spPr>
          <a:xfrm>
            <a:off x="594360" y="1207008"/>
            <a:ext cx="8138160" cy="45243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>
                <a:solidFill>
                  <a:srgbClr val="605E5C"/>
                </a:solidFill>
                <a:latin typeface="Aptos" panose="020B0004020202020204" pitchFamily="34" charset="0"/>
              </a:rPr>
              <a:t>The goal is a disciplined answer to a narrow question: can a small SLM learn Molina/EIM browser-action behavior well enough to justify a pilot?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AE1D0DF-33D5-4DA8-7FC9-773362D8C761}"/>
              </a:ext>
            </a:extLst>
          </p:cNvPr>
          <p:cNvSpPr/>
          <p:nvPr/>
        </p:nvSpPr>
        <p:spPr>
          <a:xfrm>
            <a:off x="685800" y="1874520"/>
            <a:ext cx="3246120" cy="13533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78A6C72-4491-4A99-92E3-8771AADBC9EB}"/>
              </a:ext>
            </a:extLst>
          </p:cNvPr>
          <p:cNvSpPr/>
          <p:nvPr/>
        </p:nvSpPr>
        <p:spPr>
          <a:xfrm>
            <a:off x="868680" y="2093976"/>
            <a:ext cx="384048" cy="384048"/>
          </a:xfrm>
          <a:prstGeom prst="ellipse">
            <a:avLst/>
          </a:prstGeom>
          <a:solidFill>
            <a:srgbClr val="0078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1A3552-9D5D-2830-E6EA-2E6FEE5091AD}"/>
              </a:ext>
            </a:extLst>
          </p:cNvPr>
          <p:cNvSpPr txBox="1"/>
          <p:nvPr/>
        </p:nvSpPr>
        <p:spPr>
          <a:xfrm>
            <a:off x="877824" y="2157984"/>
            <a:ext cx="36576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3AB21B-5706-A4B5-1AF8-4D2213BED032}"/>
              </a:ext>
            </a:extLst>
          </p:cNvPr>
          <p:cNvSpPr txBox="1"/>
          <p:nvPr/>
        </p:nvSpPr>
        <p:spPr>
          <a:xfrm>
            <a:off x="1399032" y="2075688"/>
            <a:ext cx="224028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Workflow contract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DA7877-37F2-B75A-6ADD-C2448ECE9820}"/>
              </a:ext>
            </a:extLst>
          </p:cNvPr>
          <p:cNvSpPr txBox="1"/>
          <p:nvPr/>
        </p:nvSpPr>
        <p:spPr>
          <a:xfrm>
            <a:off x="1399032" y="2377440"/>
            <a:ext cx="2267712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DOM + instruction in, JSON action plan out. This is the core browser-agent interface.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5551763-0ACC-F4DF-2B5E-42380BA7D7D7}"/>
              </a:ext>
            </a:extLst>
          </p:cNvPr>
          <p:cNvSpPr/>
          <p:nvPr/>
        </p:nvSpPr>
        <p:spPr>
          <a:xfrm>
            <a:off x="4434840" y="1874520"/>
            <a:ext cx="3246121" cy="13533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FEEC267-2051-9EB5-4AD8-B22F1C38038D}"/>
              </a:ext>
            </a:extLst>
          </p:cNvPr>
          <p:cNvSpPr/>
          <p:nvPr/>
        </p:nvSpPr>
        <p:spPr>
          <a:xfrm>
            <a:off x="4617720" y="2093976"/>
            <a:ext cx="384048" cy="384048"/>
          </a:xfrm>
          <a:prstGeom prst="ellipse">
            <a:avLst/>
          </a:prstGeom>
          <a:solidFill>
            <a:srgbClr val="5C2D9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A496E-B645-BA0F-0438-0059940AA754}"/>
              </a:ext>
            </a:extLst>
          </p:cNvPr>
          <p:cNvSpPr txBox="1"/>
          <p:nvPr/>
        </p:nvSpPr>
        <p:spPr>
          <a:xfrm>
            <a:off x="4626864" y="2157984"/>
            <a:ext cx="36576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258AD1-629E-1125-52AC-A0ED2BB37FAB}"/>
              </a:ext>
            </a:extLst>
          </p:cNvPr>
          <p:cNvSpPr txBox="1"/>
          <p:nvPr/>
        </p:nvSpPr>
        <p:spPr>
          <a:xfrm>
            <a:off x="5148072" y="2075688"/>
            <a:ext cx="224028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Small model baseline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6AA808-B79A-D3E0-A44E-275A9AAAC31A}"/>
              </a:ext>
            </a:extLst>
          </p:cNvPr>
          <p:cNvSpPr txBox="1"/>
          <p:nvPr/>
        </p:nvSpPr>
        <p:spPr>
          <a:xfrm>
            <a:off x="5148072" y="2377440"/>
            <a:ext cx="2267712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Gemma 4B-class SLM can often parse the task, but generic behavior is inconsistent.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D5ADE33-D38D-D71E-6C23-84BC8A74D6F0}"/>
              </a:ext>
            </a:extLst>
          </p:cNvPr>
          <p:cNvSpPr/>
          <p:nvPr/>
        </p:nvSpPr>
        <p:spPr>
          <a:xfrm>
            <a:off x="8183880" y="1874520"/>
            <a:ext cx="3246120" cy="13533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552E0EC-1277-F83D-1D02-6814B97275BC}"/>
              </a:ext>
            </a:extLst>
          </p:cNvPr>
          <p:cNvSpPr/>
          <p:nvPr/>
        </p:nvSpPr>
        <p:spPr>
          <a:xfrm>
            <a:off x="8366760" y="2093976"/>
            <a:ext cx="384048" cy="384048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AB7768-E4CA-FA52-FB44-699F011EEB88}"/>
              </a:ext>
            </a:extLst>
          </p:cNvPr>
          <p:cNvSpPr txBox="1"/>
          <p:nvPr/>
        </p:nvSpPr>
        <p:spPr>
          <a:xfrm>
            <a:off x="8375904" y="2157984"/>
            <a:ext cx="36576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DD530A-5EAE-D912-810E-FA2D732811FB}"/>
              </a:ext>
            </a:extLst>
          </p:cNvPr>
          <p:cNvSpPr txBox="1"/>
          <p:nvPr/>
        </p:nvSpPr>
        <p:spPr>
          <a:xfrm>
            <a:off x="8897112" y="2075688"/>
            <a:ext cx="224028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Synthetic training data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2338D7-B86A-4AAA-D5C3-90A92F41671E}"/>
              </a:ext>
            </a:extLst>
          </p:cNvPr>
          <p:cNvSpPr txBox="1"/>
          <p:nvPr/>
        </p:nvSpPr>
        <p:spPr>
          <a:xfrm>
            <a:off x="8897112" y="2377440"/>
            <a:ext cx="2267712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Healthcare-shaped, deterministic, fake members and claims. No Molina PHI.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DCFE204-FCCF-A424-AD9F-79B10FC7B7B7}"/>
              </a:ext>
            </a:extLst>
          </p:cNvPr>
          <p:cNvSpPr/>
          <p:nvPr/>
        </p:nvSpPr>
        <p:spPr>
          <a:xfrm>
            <a:off x="685800" y="3703320"/>
            <a:ext cx="3246120" cy="13533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8861689-0107-AFBB-D630-31B77260AFD6}"/>
              </a:ext>
            </a:extLst>
          </p:cNvPr>
          <p:cNvSpPr/>
          <p:nvPr/>
        </p:nvSpPr>
        <p:spPr>
          <a:xfrm>
            <a:off x="868680" y="3922776"/>
            <a:ext cx="384048" cy="384048"/>
          </a:xfrm>
          <a:prstGeom prst="ellipse">
            <a:avLst/>
          </a:prstGeom>
          <a:solidFill>
            <a:srgbClr val="FF8C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3BD434-BDA6-4709-491E-4A58C9F1A1A2}"/>
              </a:ext>
            </a:extLst>
          </p:cNvPr>
          <p:cNvSpPr txBox="1"/>
          <p:nvPr/>
        </p:nvSpPr>
        <p:spPr>
          <a:xfrm>
            <a:off x="877824" y="3986784"/>
            <a:ext cx="36576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27C52E-FD25-68F0-6322-96B6B8F2580A}"/>
              </a:ext>
            </a:extLst>
          </p:cNvPr>
          <p:cNvSpPr txBox="1"/>
          <p:nvPr/>
        </p:nvSpPr>
        <p:spPr>
          <a:xfrm>
            <a:off x="1399032" y="3904488"/>
            <a:ext cx="224028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Objective checks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EE331C-E97E-AF44-7A8C-4242BF0EDF98}"/>
              </a:ext>
            </a:extLst>
          </p:cNvPr>
          <p:cNvSpPr txBox="1"/>
          <p:nvPr/>
        </p:nvSpPr>
        <p:spPr>
          <a:xfrm>
            <a:off x="1399032" y="4206240"/>
            <a:ext cx="2267712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Valid JSON, action schema, stable selectors, workflow navigation, required actions, order.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E1A764C-0BFC-4800-BE59-6460150A7E48}"/>
              </a:ext>
            </a:extLst>
          </p:cNvPr>
          <p:cNvSpPr/>
          <p:nvPr/>
        </p:nvSpPr>
        <p:spPr>
          <a:xfrm>
            <a:off x="4434840" y="3703320"/>
            <a:ext cx="3246121" cy="13533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051C8B1-C15F-2C58-3F2F-1E73398C76FC}"/>
              </a:ext>
            </a:extLst>
          </p:cNvPr>
          <p:cNvSpPr/>
          <p:nvPr/>
        </p:nvSpPr>
        <p:spPr>
          <a:xfrm>
            <a:off x="4617720" y="3922776"/>
            <a:ext cx="384048" cy="384048"/>
          </a:xfrm>
          <a:prstGeom prst="ellipse">
            <a:avLst/>
          </a:prstGeom>
          <a:solidFill>
            <a:srgbClr val="0383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9073CB-44A7-5265-B36F-8BEF5E2E5D70}"/>
              </a:ext>
            </a:extLst>
          </p:cNvPr>
          <p:cNvSpPr txBox="1"/>
          <p:nvPr/>
        </p:nvSpPr>
        <p:spPr>
          <a:xfrm>
            <a:off x="4626864" y="3986784"/>
            <a:ext cx="36576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7C4F89-BBA8-89A7-E7CF-5FF298230BAE}"/>
              </a:ext>
            </a:extLst>
          </p:cNvPr>
          <p:cNvSpPr txBox="1"/>
          <p:nvPr/>
        </p:nvSpPr>
        <p:spPr>
          <a:xfrm>
            <a:off x="5148072" y="3904488"/>
            <a:ext cx="224028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Azure execution path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E8A098-D6D0-C26B-B977-29A4269ABE84}"/>
              </a:ext>
            </a:extLst>
          </p:cNvPr>
          <p:cNvSpPr txBox="1"/>
          <p:nvPr/>
        </p:nvSpPr>
        <p:spPr>
          <a:xfrm>
            <a:off x="5148072" y="4206240"/>
            <a:ext cx="2267712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A100 managed compute, AzureML job lineage, model registration, online endpoint.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DC1DD26-E6DB-390F-BB75-8B1CFD19B30B}"/>
              </a:ext>
            </a:extLst>
          </p:cNvPr>
          <p:cNvSpPr/>
          <p:nvPr/>
        </p:nvSpPr>
        <p:spPr>
          <a:xfrm>
            <a:off x="8183880" y="3703320"/>
            <a:ext cx="3246120" cy="13533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1B880A3-7CA3-88A3-54D6-F70D55E66E1D}"/>
              </a:ext>
            </a:extLst>
          </p:cNvPr>
          <p:cNvSpPr/>
          <p:nvPr/>
        </p:nvSpPr>
        <p:spPr>
          <a:xfrm>
            <a:off x="8366760" y="3922776"/>
            <a:ext cx="384048" cy="384048"/>
          </a:xfrm>
          <a:prstGeom prst="ellipse">
            <a:avLst/>
          </a:prstGeom>
          <a:solidFill>
            <a:srgbClr val="D134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3F17AC-BED0-8D87-A877-1C66E4DE0099}"/>
              </a:ext>
            </a:extLst>
          </p:cNvPr>
          <p:cNvSpPr txBox="1"/>
          <p:nvPr/>
        </p:nvSpPr>
        <p:spPr>
          <a:xfrm>
            <a:off x="8375904" y="3986784"/>
            <a:ext cx="36576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82D461-F34D-0CFF-2A6C-189E8E32DD51}"/>
              </a:ext>
            </a:extLst>
          </p:cNvPr>
          <p:cNvSpPr txBox="1"/>
          <p:nvPr/>
        </p:nvSpPr>
        <p:spPr>
          <a:xfrm>
            <a:off x="8897112" y="3904488"/>
            <a:ext cx="224028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Cost and cleanup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C92E68-6720-BB62-5938-1B59A8CBCE06}"/>
              </a:ext>
            </a:extLst>
          </p:cNvPr>
          <p:cNvSpPr txBox="1"/>
          <p:nvPr/>
        </p:nvSpPr>
        <p:spPr>
          <a:xfrm>
            <a:off x="8897112" y="4206240"/>
            <a:ext cx="2267712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LoRA keeps training small; endpoint is deleted after demo to stop A100 billing.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111890A-EB2F-9BA3-172E-365EDEF71571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03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2568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35F46F-5E20-F6F7-6F86-B83A78FB1F0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4D878-63A0-735C-775B-C1956F3FD91B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D15C6D-F201-E0FE-1452-A9DAAD1F02F4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Base Gemma misses the EIM contract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D6DDED-FF58-0697-7472-F0EC7422BF12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B574AB-5861-4668-13E2-28B41B402C58}"/>
              </a:ext>
            </a:extLst>
          </p:cNvPr>
          <p:cNvSpPr txBox="1"/>
          <p:nvPr/>
        </p:nvSpPr>
        <p:spPr>
          <a:xfrm>
            <a:off x="594360" y="1188720"/>
            <a:ext cx="6400800" cy="45243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>
                <a:solidFill>
                  <a:srgbClr val="605E5C"/>
                </a:solidFill>
                <a:latin typeface="Aptos" panose="020B0004020202020204" pitchFamily="34" charset="0"/>
              </a:rPr>
              <a:t>In the live demo, the base model often gets surface structure right, but misses the stable EIM automation contract.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768D5A4-80E9-4B29-CE25-0BF304B2E7C4}"/>
              </a:ext>
            </a:extLst>
          </p:cNvPr>
          <p:cNvSpPr/>
          <p:nvPr/>
        </p:nvSpPr>
        <p:spPr>
          <a:xfrm>
            <a:off x="685800" y="1755648"/>
            <a:ext cx="5212080" cy="39776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79F5B1-3811-A8A5-3C8D-87C9A13AA968}"/>
              </a:ext>
            </a:extLst>
          </p:cNvPr>
          <p:cNvSpPr txBox="1"/>
          <p:nvPr/>
        </p:nvSpPr>
        <p:spPr>
          <a:xfrm>
            <a:off x="960120" y="1993392"/>
            <a:ext cx="3840480" cy="2523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 b="1">
                <a:solidFill>
                  <a:srgbClr val="004578"/>
                </a:solidFill>
                <a:latin typeface="Segoe UI" panose="020B0502040204020203" pitchFamily="34" charset="0"/>
              </a:rPr>
              <a:t>Base Gemma response pattern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33DA25-401C-5863-A624-8A55161534D3}"/>
              </a:ext>
            </a:extLst>
          </p:cNvPr>
          <p:cNvSpPr txBox="1"/>
          <p:nvPr/>
        </p:nvSpPr>
        <p:spPr>
          <a:xfrm>
            <a:off x="960120" y="2432304"/>
            <a:ext cx="2377440" cy="19851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50" b="1">
                <a:solidFill>
                  <a:srgbClr val="107C10"/>
                </a:solidFill>
                <a:latin typeface="Segoe UI" panose="020B0502040204020203" pitchFamily="34" charset="0"/>
              </a:rPr>
              <a:t>Passes low-level format checks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8C29D7-D8AC-F9C6-F723-1645729F71D7}"/>
              </a:ext>
            </a:extLst>
          </p:cNvPr>
          <p:cNvSpPr txBox="1"/>
          <p:nvPr/>
        </p:nvSpPr>
        <p:spPr>
          <a:xfrm>
            <a:off x="960120" y="2724912"/>
            <a:ext cx="2011680" cy="63709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Valid JSON</a:t>
            </a:r>
          </a:p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Action schema</a:t>
            </a:r>
          </a:p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Selector syntax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9345E9-0354-5409-016C-7F374A4FBAA5}"/>
              </a:ext>
            </a:extLst>
          </p:cNvPr>
          <p:cNvSpPr txBox="1"/>
          <p:nvPr/>
        </p:nvSpPr>
        <p:spPr>
          <a:xfrm>
            <a:off x="3246120" y="2432304"/>
            <a:ext cx="2148840" cy="19851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50" b="1">
                <a:solidFill>
                  <a:srgbClr val="D13438"/>
                </a:solidFill>
                <a:latin typeface="Segoe UI" panose="020B0502040204020203" pitchFamily="34" charset="0"/>
              </a:rPr>
              <a:t>Misses workflow checks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58802C-5B82-5209-F4AF-989A9ECF1F14}"/>
              </a:ext>
            </a:extLst>
          </p:cNvPr>
          <p:cNvSpPr txBox="1"/>
          <p:nvPr/>
        </p:nvSpPr>
        <p:spPr>
          <a:xfrm>
            <a:off x="3246120" y="2724912"/>
            <a:ext cx="2194560" cy="103720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Stable EIM selectors</a:t>
            </a:r>
          </a:p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Workflow navigation</a:t>
            </a:r>
          </a:p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Required actions</a:t>
            </a:r>
          </a:p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Correct order</a:t>
            </a:r>
          </a:p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Exact match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E7FF8A-D016-D541-C7E4-8FAAF7BB2F5E}"/>
              </a:ext>
            </a:extLst>
          </p:cNvPr>
          <p:cNvSpPr/>
          <p:nvPr/>
        </p:nvSpPr>
        <p:spPr>
          <a:xfrm>
            <a:off x="960120" y="4096512"/>
            <a:ext cx="4434840" cy="1033272"/>
          </a:xfrm>
          <a:prstGeom prst="roundRect">
            <a:avLst/>
          </a:prstGeom>
          <a:solidFill>
            <a:srgbClr val="D7E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738BCC-9492-70C6-1C0E-47D22803CE77}"/>
              </a:ext>
            </a:extLst>
          </p:cNvPr>
          <p:cNvSpPr txBox="1"/>
          <p:nvPr/>
        </p:nvSpPr>
        <p:spPr>
          <a:xfrm>
            <a:off x="1170432" y="4352544"/>
            <a:ext cx="3749040" cy="2831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600" b="1">
                <a:solidFill>
                  <a:srgbClr val="004578"/>
                </a:solidFill>
                <a:latin typeface="Consolas" panose="020B0609020204030204" pitchFamily="49" charset="0"/>
              </a:rPr>
              <a:t>Example: #member-search-3430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39767D-7BFD-DB9F-8AF1-0B8803E1A62C}"/>
              </a:ext>
            </a:extLst>
          </p:cNvPr>
          <p:cNvSpPr txBox="1"/>
          <p:nvPr/>
        </p:nvSpPr>
        <p:spPr>
          <a:xfrm>
            <a:off x="1170432" y="4718304"/>
            <a:ext cx="379476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Works once, brittle when UI-generated IDs change.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3E36F80-D832-E91B-A68C-5C854FC9207E}"/>
              </a:ext>
            </a:extLst>
          </p:cNvPr>
          <p:cNvSpPr/>
          <p:nvPr/>
        </p:nvSpPr>
        <p:spPr>
          <a:xfrm>
            <a:off x="6446520" y="1755648"/>
            <a:ext cx="5074920" cy="39776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DD0ADF-067A-0FCC-95C2-08E431332DA6}"/>
              </a:ext>
            </a:extLst>
          </p:cNvPr>
          <p:cNvSpPr txBox="1"/>
          <p:nvPr/>
        </p:nvSpPr>
        <p:spPr>
          <a:xfrm>
            <a:off x="6720840" y="1993392"/>
            <a:ext cx="3566160" cy="2523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 b="1">
                <a:solidFill>
                  <a:srgbClr val="201F1E"/>
                </a:solidFill>
                <a:latin typeface="Segoe UI" panose="020B0502040204020203" pitchFamily="34" charset="0"/>
              </a:rPr>
              <a:t>Response Score Breakdown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A3F955-4307-8E10-75D8-B7C36D9C02B1}"/>
              </a:ext>
            </a:extLst>
          </p:cNvPr>
          <p:cNvSpPr txBox="1"/>
          <p:nvPr/>
        </p:nvSpPr>
        <p:spPr>
          <a:xfrm>
            <a:off x="6720840" y="2395728"/>
            <a:ext cx="196596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 b="1">
                <a:solidFill>
                  <a:srgbClr val="605E5C"/>
                </a:solidFill>
                <a:latin typeface="Segoe UI" panose="020B0502040204020203" pitchFamily="34" charset="0"/>
              </a:rPr>
              <a:t>Check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E598C2-57F9-758E-277F-E94FEA2F1A42}"/>
              </a:ext>
            </a:extLst>
          </p:cNvPr>
          <p:cNvSpPr txBox="1"/>
          <p:nvPr/>
        </p:nvSpPr>
        <p:spPr>
          <a:xfrm>
            <a:off x="9326880" y="2395728"/>
            <a:ext cx="73152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605E5C"/>
                </a:solidFill>
                <a:latin typeface="Segoe UI" panose="020B0502040204020203" pitchFamily="34" charset="0"/>
              </a:rPr>
              <a:t>Base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1818B3-6CED-6D47-A83F-460F7EBE4CBA}"/>
              </a:ext>
            </a:extLst>
          </p:cNvPr>
          <p:cNvSpPr txBox="1"/>
          <p:nvPr/>
        </p:nvSpPr>
        <p:spPr>
          <a:xfrm>
            <a:off x="10287000" y="2395728"/>
            <a:ext cx="73152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605E5C"/>
                </a:solidFill>
                <a:latin typeface="Segoe UI" panose="020B0502040204020203" pitchFamily="34" charset="0"/>
              </a:rPr>
              <a:t>Tuned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CD73F6-8895-B126-81CE-46617E04E250}"/>
              </a:ext>
            </a:extLst>
          </p:cNvPr>
          <p:cNvSpPr txBox="1"/>
          <p:nvPr/>
        </p:nvSpPr>
        <p:spPr>
          <a:xfrm>
            <a:off x="6720840" y="2679192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Valid JSON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1A8B150-B682-A09D-0DA6-F5DE031E6649}"/>
              </a:ext>
            </a:extLst>
          </p:cNvPr>
          <p:cNvSpPr/>
          <p:nvPr/>
        </p:nvSpPr>
        <p:spPr>
          <a:xfrm>
            <a:off x="9235440" y="2642616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BDD2A5-704C-2867-630D-9625A5ACF479}"/>
              </a:ext>
            </a:extLst>
          </p:cNvPr>
          <p:cNvSpPr txBox="1"/>
          <p:nvPr/>
        </p:nvSpPr>
        <p:spPr>
          <a:xfrm>
            <a:off x="9272016" y="2711196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91CED91-A5B5-A40C-AE1E-5CD5C14819ED}"/>
              </a:ext>
            </a:extLst>
          </p:cNvPr>
          <p:cNvSpPr/>
          <p:nvPr/>
        </p:nvSpPr>
        <p:spPr>
          <a:xfrm>
            <a:off x="10241280" y="2642616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F34005-F38A-C108-F1EA-DDEB4051E37E}"/>
              </a:ext>
            </a:extLst>
          </p:cNvPr>
          <p:cNvSpPr txBox="1"/>
          <p:nvPr/>
        </p:nvSpPr>
        <p:spPr>
          <a:xfrm>
            <a:off x="10277856" y="2711196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A3ACEF-736D-261D-5671-9130198078FE}"/>
              </a:ext>
            </a:extLst>
          </p:cNvPr>
          <p:cNvSpPr txBox="1"/>
          <p:nvPr/>
        </p:nvSpPr>
        <p:spPr>
          <a:xfrm>
            <a:off x="6720840" y="2990088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Action schema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A7DD594-CB53-C17E-1851-A54C48B44705}"/>
              </a:ext>
            </a:extLst>
          </p:cNvPr>
          <p:cNvSpPr/>
          <p:nvPr/>
        </p:nvSpPr>
        <p:spPr>
          <a:xfrm>
            <a:off x="9235440" y="2953512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0E223B-0260-F095-D1EE-B308DD505BE0}"/>
              </a:ext>
            </a:extLst>
          </p:cNvPr>
          <p:cNvSpPr txBox="1"/>
          <p:nvPr/>
        </p:nvSpPr>
        <p:spPr>
          <a:xfrm>
            <a:off x="9272016" y="3022092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F004A13-F3C1-EB87-1771-C369733FDE28}"/>
              </a:ext>
            </a:extLst>
          </p:cNvPr>
          <p:cNvSpPr/>
          <p:nvPr/>
        </p:nvSpPr>
        <p:spPr>
          <a:xfrm>
            <a:off x="10241280" y="2953512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A7D3F0-D8E4-D716-721A-C0A9B4BA155A}"/>
              </a:ext>
            </a:extLst>
          </p:cNvPr>
          <p:cNvSpPr txBox="1"/>
          <p:nvPr/>
        </p:nvSpPr>
        <p:spPr>
          <a:xfrm>
            <a:off x="10277856" y="3022092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184995-C6DE-2B2F-483E-8E1C64BD655A}"/>
              </a:ext>
            </a:extLst>
          </p:cNvPr>
          <p:cNvSpPr txBox="1"/>
          <p:nvPr/>
        </p:nvSpPr>
        <p:spPr>
          <a:xfrm>
            <a:off x="6720840" y="3300984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Selector validity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9CF2FC2-4431-DC2B-95E7-020F4F392F31}"/>
              </a:ext>
            </a:extLst>
          </p:cNvPr>
          <p:cNvSpPr/>
          <p:nvPr/>
        </p:nvSpPr>
        <p:spPr>
          <a:xfrm>
            <a:off x="9235440" y="3264408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6F2060-79C5-19ED-DEB5-A09F5DFC342B}"/>
              </a:ext>
            </a:extLst>
          </p:cNvPr>
          <p:cNvSpPr txBox="1"/>
          <p:nvPr/>
        </p:nvSpPr>
        <p:spPr>
          <a:xfrm>
            <a:off x="9272016" y="3332988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401D943-C884-0BFF-7C6D-78C03B44C27E}"/>
              </a:ext>
            </a:extLst>
          </p:cNvPr>
          <p:cNvSpPr/>
          <p:nvPr/>
        </p:nvSpPr>
        <p:spPr>
          <a:xfrm>
            <a:off x="10241280" y="3264408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F47870-F051-9305-6A6B-1AE89AB873D7}"/>
              </a:ext>
            </a:extLst>
          </p:cNvPr>
          <p:cNvSpPr txBox="1"/>
          <p:nvPr/>
        </p:nvSpPr>
        <p:spPr>
          <a:xfrm>
            <a:off x="10277856" y="3332988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915D97-B1EA-7DB6-A74E-9691C5F7C041}"/>
              </a:ext>
            </a:extLst>
          </p:cNvPr>
          <p:cNvSpPr txBox="1"/>
          <p:nvPr/>
        </p:nvSpPr>
        <p:spPr>
          <a:xfrm>
            <a:off x="6720840" y="3611880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Stable EIM selectors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2B523953-4772-70FB-DF8F-CD6696182C20}"/>
              </a:ext>
            </a:extLst>
          </p:cNvPr>
          <p:cNvSpPr/>
          <p:nvPr/>
        </p:nvSpPr>
        <p:spPr>
          <a:xfrm>
            <a:off x="9235440" y="3575304"/>
            <a:ext cx="758952" cy="329184"/>
          </a:xfrm>
          <a:prstGeom prst="roundRect">
            <a:avLst/>
          </a:prstGeom>
          <a:solidFill>
            <a:srgbClr val="FDE7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309AC00-1A53-3BC8-85AB-43EB3484CF6C}"/>
              </a:ext>
            </a:extLst>
          </p:cNvPr>
          <p:cNvSpPr txBox="1"/>
          <p:nvPr/>
        </p:nvSpPr>
        <p:spPr>
          <a:xfrm>
            <a:off x="9272016" y="3643884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D13438"/>
                </a:solidFill>
                <a:latin typeface="Segoe UI" panose="020B0502040204020203" pitchFamily="34" charset="0"/>
              </a:rPr>
              <a:t>Miss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21521E2-0354-2806-C8A6-5E9D2D67EDD8}"/>
              </a:ext>
            </a:extLst>
          </p:cNvPr>
          <p:cNvSpPr/>
          <p:nvPr/>
        </p:nvSpPr>
        <p:spPr>
          <a:xfrm>
            <a:off x="10241280" y="3575304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80DD9F-9F2B-2879-1F11-A21BC9ACE97D}"/>
              </a:ext>
            </a:extLst>
          </p:cNvPr>
          <p:cNvSpPr txBox="1"/>
          <p:nvPr/>
        </p:nvSpPr>
        <p:spPr>
          <a:xfrm>
            <a:off x="10277856" y="3643884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056491-9918-1BAA-EA2A-B0AA7D7B544F}"/>
              </a:ext>
            </a:extLst>
          </p:cNvPr>
          <p:cNvSpPr txBox="1"/>
          <p:nvPr/>
        </p:nvSpPr>
        <p:spPr>
          <a:xfrm>
            <a:off x="6720840" y="3922776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Workflow navigation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E3716D8F-17EB-0D0F-90E9-B4AC0D677B85}"/>
              </a:ext>
            </a:extLst>
          </p:cNvPr>
          <p:cNvSpPr/>
          <p:nvPr/>
        </p:nvSpPr>
        <p:spPr>
          <a:xfrm>
            <a:off x="9235440" y="3886200"/>
            <a:ext cx="758952" cy="329184"/>
          </a:xfrm>
          <a:prstGeom prst="roundRect">
            <a:avLst/>
          </a:prstGeom>
          <a:solidFill>
            <a:srgbClr val="FDE7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AE5DDB0-16DE-F199-82B0-E5118A54FE50}"/>
              </a:ext>
            </a:extLst>
          </p:cNvPr>
          <p:cNvSpPr txBox="1"/>
          <p:nvPr/>
        </p:nvSpPr>
        <p:spPr>
          <a:xfrm>
            <a:off x="9272016" y="3954780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D13438"/>
                </a:solidFill>
                <a:latin typeface="Segoe UI" panose="020B0502040204020203" pitchFamily="34" charset="0"/>
              </a:rPr>
              <a:t>Miss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9E6D2075-425A-798E-D9DA-E45B3CAA5B7F}"/>
              </a:ext>
            </a:extLst>
          </p:cNvPr>
          <p:cNvSpPr/>
          <p:nvPr/>
        </p:nvSpPr>
        <p:spPr>
          <a:xfrm>
            <a:off x="10241280" y="3886200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D63E9A5-98DF-E697-E998-3F042C3007E7}"/>
              </a:ext>
            </a:extLst>
          </p:cNvPr>
          <p:cNvSpPr txBox="1"/>
          <p:nvPr/>
        </p:nvSpPr>
        <p:spPr>
          <a:xfrm>
            <a:off x="10277856" y="3954780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1F9841-9005-9EB6-3543-210728D0C397}"/>
              </a:ext>
            </a:extLst>
          </p:cNvPr>
          <p:cNvSpPr txBox="1"/>
          <p:nvPr/>
        </p:nvSpPr>
        <p:spPr>
          <a:xfrm>
            <a:off x="6720840" y="4233672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Required actions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12A17C5-43EF-B163-95BD-C30660C92600}"/>
              </a:ext>
            </a:extLst>
          </p:cNvPr>
          <p:cNvSpPr/>
          <p:nvPr/>
        </p:nvSpPr>
        <p:spPr>
          <a:xfrm>
            <a:off x="9235440" y="4197096"/>
            <a:ext cx="758952" cy="329184"/>
          </a:xfrm>
          <a:prstGeom prst="roundRect">
            <a:avLst/>
          </a:prstGeom>
          <a:solidFill>
            <a:srgbClr val="FDE7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1D33BB-3B88-0B60-A1A2-D75FDE4E8EF1}"/>
              </a:ext>
            </a:extLst>
          </p:cNvPr>
          <p:cNvSpPr txBox="1"/>
          <p:nvPr/>
        </p:nvSpPr>
        <p:spPr>
          <a:xfrm>
            <a:off x="9272016" y="4265676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D13438"/>
                </a:solidFill>
                <a:latin typeface="Segoe UI" panose="020B0502040204020203" pitchFamily="34" charset="0"/>
              </a:rPr>
              <a:t>Miss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63F51F7-7EC8-3F3E-120D-A12045FE8E8A}"/>
              </a:ext>
            </a:extLst>
          </p:cNvPr>
          <p:cNvSpPr/>
          <p:nvPr/>
        </p:nvSpPr>
        <p:spPr>
          <a:xfrm>
            <a:off x="10241280" y="4197096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87D63A9-43C9-F33B-751D-17A5985C4C67}"/>
              </a:ext>
            </a:extLst>
          </p:cNvPr>
          <p:cNvSpPr txBox="1"/>
          <p:nvPr/>
        </p:nvSpPr>
        <p:spPr>
          <a:xfrm>
            <a:off x="10277856" y="4265676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D92B16-615C-7282-EC64-024FBF18165B}"/>
              </a:ext>
            </a:extLst>
          </p:cNvPr>
          <p:cNvSpPr txBox="1"/>
          <p:nvPr/>
        </p:nvSpPr>
        <p:spPr>
          <a:xfrm>
            <a:off x="6720840" y="4544568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Correct order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F8CE039-D6C6-E78C-E0B1-FEB736C15D82}"/>
              </a:ext>
            </a:extLst>
          </p:cNvPr>
          <p:cNvSpPr/>
          <p:nvPr/>
        </p:nvSpPr>
        <p:spPr>
          <a:xfrm>
            <a:off x="9235440" y="4507992"/>
            <a:ext cx="758952" cy="329184"/>
          </a:xfrm>
          <a:prstGeom prst="roundRect">
            <a:avLst/>
          </a:prstGeom>
          <a:solidFill>
            <a:srgbClr val="FDE7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B09AB-71EF-9DBE-10F5-7207F7C839E0}"/>
              </a:ext>
            </a:extLst>
          </p:cNvPr>
          <p:cNvSpPr txBox="1"/>
          <p:nvPr/>
        </p:nvSpPr>
        <p:spPr>
          <a:xfrm>
            <a:off x="9272016" y="4576572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D13438"/>
                </a:solidFill>
                <a:latin typeface="Segoe UI" panose="020B0502040204020203" pitchFamily="34" charset="0"/>
              </a:rPr>
              <a:t>Miss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517677E-CDAE-BBAF-9217-218BBD291F72}"/>
              </a:ext>
            </a:extLst>
          </p:cNvPr>
          <p:cNvSpPr/>
          <p:nvPr/>
        </p:nvSpPr>
        <p:spPr>
          <a:xfrm>
            <a:off x="10241280" y="4507992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41FA21B-AC35-F488-06EC-9B63028E36A9}"/>
              </a:ext>
            </a:extLst>
          </p:cNvPr>
          <p:cNvSpPr txBox="1"/>
          <p:nvPr/>
        </p:nvSpPr>
        <p:spPr>
          <a:xfrm>
            <a:off x="10277856" y="4576572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7347B9C-F798-2B40-DD4A-B8FE6E9D9F2E}"/>
              </a:ext>
            </a:extLst>
          </p:cNvPr>
          <p:cNvSpPr txBox="1"/>
          <p:nvPr/>
        </p:nvSpPr>
        <p:spPr>
          <a:xfrm>
            <a:off x="6720840" y="4855464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Exact action match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5CB23DEF-2C50-11E7-58A5-6BEDB4ABECB2}"/>
              </a:ext>
            </a:extLst>
          </p:cNvPr>
          <p:cNvSpPr/>
          <p:nvPr/>
        </p:nvSpPr>
        <p:spPr>
          <a:xfrm>
            <a:off x="9235440" y="4818888"/>
            <a:ext cx="758952" cy="329184"/>
          </a:xfrm>
          <a:prstGeom prst="roundRect">
            <a:avLst/>
          </a:prstGeom>
          <a:solidFill>
            <a:srgbClr val="FDE7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F700B1-A702-3082-0752-DDED041DBD27}"/>
              </a:ext>
            </a:extLst>
          </p:cNvPr>
          <p:cNvSpPr txBox="1"/>
          <p:nvPr/>
        </p:nvSpPr>
        <p:spPr>
          <a:xfrm>
            <a:off x="9272016" y="4887468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D13438"/>
                </a:solidFill>
                <a:latin typeface="Segoe UI" panose="020B0502040204020203" pitchFamily="34" charset="0"/>
              </a:rPr>
              <a:t>Miss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B5BA48D-EF8B-7E93-5486-8A635F2FD593}"/>
              </a:ext>
            </a:extLst>
          </p:cNvPr>
          <p:cNvSpPr/>
          <p:nvPr/>
        </p:nvSpPr>
        <p:spPr>
          <a:xfrm>
            <a:off x="10241280" y="4818888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6683F4E-56E1-519C-3A15-73B4CDFB5361}"/>
              </a:ext>
            </a:extLst>
          </p:cNvPr>
          <p:cNvSpPr txBox="1"/>
          <p:nvPr/>
        </p:nvSpPr>
        <p:spPr>
          <a:xfrm>
            <a:off x="10277856" y="4887468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34C565-6D78-A12A-01C9-8E1C0ABCC167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04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6125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1FB0FC-E2AA-5830-19A0-EFD7B3683F0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1F855C-5D0D-C983-BA23-398A1AC891DD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EF2489-4CB8-E708-85E1-EC6B9C8D0DFC}"/>
              </a:ext>
            </a:extLst>
          </p:cNvPr>
          <p:cNvSpPr txBox="1"/>
          <p:nvPr/>
        </p:nvSpPr>
        <p:spPr>
          <a:xfrm>
            <a:off x="502920" y="502920"/>
            <a:ext cx="8046720" cy="92948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Where the small SLM succeeds natively - and where it fails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7363B4-A751-5617-9A3A-DEF766B90104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7EB95F-C9F1-9214-AB54-2A0FD02BD023}"/>
              </a:ext>
            </a:extLst>
          </p:cNvPr>
          <p:cNvSpPr/>
          <p:nvPr/>
        </p:nvSpPr>
        <p:spPr>
          <a:xfrm>
            <a:off x="658368" y="1417320"/>
            <a:ext cx="5212080" cy="4480560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CB92A7-3DDC-22DA-C685-8BB3DAE7A1A9}"/>
              </a:ext>
            </a:extLst>
          </p:cNvPr>
          <p:cNvSpPr txBox="1"/>
          <p:nvPr/>
        </p:nvSpPr>
        <p:spPr>
          <a:xfrm>
            <a:off x="950976" y="1719072"/>
            <a:ext cx="237744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700" b="1">
                <a:solidFill>
                  <a:srgbClr val="107C10"/>
                </a:solidFill>
                <a:latin typeface="Aptos Display" panose="020B0004020202020204" pitchFamily="34" charset="0"/>
              </a:rPr>
              <a:t>Native strengths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D35CAE3-9898-7F05-B86E-0035FF9C7B6A}"/>
              </a:ext>
            </a:extLst>
          </p:cNvPr>
          <p:cNvSpPr/>
          <p:nvPr/>
        </p:nvSpPr>
        <p:spPr>
          <a:xfrm>
            <a:off x="969264" y="2221992"/>
            <a:ext cx="256032" cy="25603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6424C8-2385-087A-BD8F-86E6DEE36749}"/>
              </a:ext>
            </a:extLst>
          </p:cNvPr>
          <p:cNvSpPr txBox="1"/>
          <p:nvPr/>
        </p:nvSpPr>
        <p:spPr>
          <a:xfrm>
            <a:off x="982980" y="2290572"/>
            <a:ext cx="228600" cy="12157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550" b="1">
                <a:solidFill>
                  <a:srgbClr val="FFFFFF"/>
                </a:solidFill>
                <a:latin typeface="Segoe UI" panose="020B0502040204020203" pitchFamily="34" charset="0"/>
              </a:rPr>
              <a:t>OK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2D187A-C5E8-3B1D-BC70-2FA14A799674}"/>
              </a:ext>
            </a:extLst>
          </p:cNvPr>
          <p:cNvSpPr txBox="1"/>
          <p:nvPr/>
        </p:nvSpPr>
        <p:spPr>
          <a:xfrm>
            <a:off x="1353312" y="2194560"/>
            <a:ext cx="393192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Understands healthcare-ish instructions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8E1D0C4-03CD-F488-FE72-BC52F0386C5E}"/>
              </a:ext>
            </a:extLst>
          </p:cNvPr>
          <p:cNvSpPr/>
          <p:nvPr/>
        </p:nvSpPr>
        <p:spPr>
          <a:xfrm>
            <a:off x="969264" y="2907792"/>
            <a:ext cx="256032" cy="25603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8E03B8-DDA9-B424-C460-887A4B033F8F}"/>
              </a:ext>
            </a:extLst>
          </p:cNvPr>
          <p:cNvSpPr txBox="1"/>
          <p:nvPr/>
        </p:nvSpPr>
        <p:spPr>
          <a:xfrm>
            <a:off x="982980" y="2976372"/>
            <a:ext cx="228600" cy="12157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550" b="1">
                <a:solidFill>
                  <a:srgbClr val="FFFFFF"/>
                </a:solidFill>
                <a:latin typeface="Segoe UI" panose="020B0502040204020203" pitchFamily="34" charset="0"/>
              </a:rPr>
              <a:t>OK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A97C80-AA82-104E-AD2F-3BDFFF25CA15}"/>
              </a:ext>
            </a:extLst>
          </p:cNvPr>
          <p:cNvSpPr txBox="1"/>
          <p:nvPr/>
        </p:nvSpPr>
        <p:spPr>
          <a:xfrm>
            <a:off x="1353312" y="2880360"/>
            <a:ext cx="393192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Can parse compact HTML/DOM snippets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C5D24-F390-5A50-4647-D20BE281BCBF}"/>
              </a:ext>
            </a:extLst>
          </p:cNvPr>
          <p:cNvSpPr/>
          <p:nvPr/>
        </p:nvSpPr>
        <p:spPr>
          <a:xfrm>
            <a:off x="969264" y="3593592"/>
            <a:ext cx="256032" cy="25603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27CD29-E232-D221-2B06-57D86E320748}"/>
              </a:ext>
            </a:extLst>
          </p:cNvPr>
          <p:cNvSpPr txBox="1"/>
          <p:nvPr/>
        </p:nvSpPr>
        <p:spPr>
          <a:xfrm>
            <a:off x="982980" y="3662172"/>
            <a:ext cx="228600" cy="12157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550" b="1">
                <a:solidFill>
                  <a:srgbClr val="FFFFFF"/>
                </a:solidFill>
                <a:latin typeface="Segoe UI" panose="020B0502040204020203" pitchFamily="34" charset="0"/>
              </a:rPr>
              <a:t>OK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6F9C4E-58A2-F5FD-FB1B-8A2933EC4986}"/>
              </a:ext>
            </a:extLst>
          </p:cNvPr>
          <p:cNvSpPr txBox="1"/>
          <p:nvPr/>
        </p:nvSpPr>
        <p:spPr>
          <a:xfrm>
            <a:off x="1353312" y="3566160"/>
            <a:ext cx="393192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Usually recognizes click/type/extract actions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CE0A6EA-DFDE-91FF-1C63-174AE7FBDDFA}"/>
              </a:ext>
            </a:extLst>
          </p:cNvPr>
          <p:cNvSpPr/>
          <p:nvPr/>
        </p:nvSpPr>
        <p:spPr>
          <a:xfrm>
            <a:off x="969264" y="4279392"/>
            <a:ext cx="256032" cy="25603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49E90F-17C9-93E0-5EF3-3A61D0FADC8B}"/>
              </a:ext>
            </a:extLst>
          </p:cNvPr>
          <p:cNvSpPr txBox="1"/>
          <p:nvPr/>
        </p:nvSpPr>
        <p:spPr>
          <a:xfrm>
            <a:off x="982980" y="4347972"/>
            <a:ext cx="228600" cy="12157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550" b="1">
                <a:solidFill>
                  <a:srgbClr val="FFFFFF"/>
                </a:solidFill>
                <a:latin typeface="Segoe UI" panose="020B0502040204020203" pitchFamily="34" charset="0"/>
              </a:rPr>
              <a:t>OK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977512-AB29-DC03-5121-A8589A0D3EB5}"/>
              </a:ext>
            </a:extLst>
          </p:cNvPr>
          <p:cNvSpPr txBox="1"/>
          <p:nvPr/>
        </p:nvSpPr>
        <p:spPr>
          <a:xfrm>
            <a:off x="1353312" y="4251960"/>
            <a:ext cx="393192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Can emit JSON when strongly prompted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8B3B240-3B60-0423-4B83-168B04331479}"/>
              </a:ext>
            </a:extLst>
          </p:cNvPr>
          <p:cNvSpPr/>
          <p:nvPr/>
        </p:nvSpPr>
        <p:spPr>
          <a:xfrm>
            <a:off x="6355080" y="1417320"/>
            <a:ext cx="5212080" cy="4480560"/>
          </a:xfrm>
          <a:prstGeom prst="roundRect">
            <a:avLst/>
          </a:prstGeom>
          <a:solidFill>
            <a:srgbClr val="FDE7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967711-10A5-6AD3-A110-640BDA0F65D0}"/>
              </a:ext>
            </a:extLst>
          </p:cNvPr>
          <p:cNvSpPr txBox="1"/>
          <p:nvPr/>
        </p:nvSpPr>
        <p:spPr>
          <a:xfrm>
            <a:off x="6647688" y="1719072"/>
            <a:ext cx="219456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700" b="1">
                <a:solidFill>
                  <a:srgbClr val="D13438"/>
                </a:solidFill>
                <a:latin typeface="Aptos Display" panose="020B0004020202020204" pitchFamily="34" charset="0"/>
              </a:rPr>
              <a:t>Native gaps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2B1B492-E31D-932C-367D-E1059D94D152}"/>
              </a:ext>
            </a:extLst>
          </p:cNvPr>
          <p:cNvSpPr/>
          <p:nvPr/>
        </p:nvSpPr>
        <p:spPr>
          <a:xfrm>
            <a:off x="6665976" y="2221992"/>
            <a:ext cx="256032" cy="256032"/>
          </a:xfrm>
          <a:prstGeom prst="ellipse">
            <a:avLst/>
          </a:prstGeom>
          <a:solidFill>
            <a:srgbClr val="D134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F0EEF9-9E7E-144B-E974-9A21147E6C0B}"/>
              </a:ext>
            </a:extLst>
          </p:cNvPr>
          <p:cNvSpPr txBox="1"/>
          <p:nvPr/>
        </p:nvSpPr>
        <p:spPr>
          <a:xfrm>
            <a:off x="6693408" y="2272284"/>
            <a:ext cx="201168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!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432E92-EAE1-56DB-4F81-75A27CDE12BE}"/>
              </a:ext>
            </a:extLst>
          </p:cNvPr>
          <p:cNvSpPr txBox="1"/>
          <p:nvPr/>
        </p:nvSpPr>
        <p:spPr>
          <a:xfrm>
            <a:off x="7040880" y="2194560"/>
            <a:ext cx="397764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Chooses generated IDs instead of stable selectors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BB7DEC8-B7A2-5704-C176-7FD92C005651}"/>
              </a:ext>
            </a:extLst>
          </p:cNvPr>
          <p:cNvSpPr/>
          <p:nvPr/>
        </p:nvSpPr>
        <p:spPr>
          <a:xfrm>
            <a:off x="6665976" y="2907792"/>
            <a:ext cx="256032" cy="256032"/>
          </a:xfrm>
          <a:prstGeom prst="ellipse">
            <a:avLst/>
          </a:prstGeom>
          <a:solidFill>
            <a:srgbClr val="D134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19F0C5-E607-5515-E0AF-AEC99A4C3B59}"/>
              </a:ext>
            </a:extLst>
          </p:cNvPr>
          <p:cNvSpPr txBox="1"/>
          <p:nvPr/>
        </p:nvSpPr>
        <p:spPr>
          <a:xfrm>
            <a:off x="6693408" y="2958084"/>
            <a:ext cx="201168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!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399E48-F857-787C-7BA2-DECA03B824E7}"/>
              </a:ext>
            </a:extLst>
          </p:cNvPr>
          <p:cNvSpPr txBox="1"/>
          <p:nvPr/>
        </p:nvSpPr>
        <p:spPr>
          <a:xfrm>
            <a:off x="7040880" y="2880360"/>
            <a:ext cx="397764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May explain instead of returning only contract JSON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757B03E-5A6C-7689-4E93-C747801BDB8B}"/>
              </a:ext>
            </a:extLst>
          </p:cNvPr>
          <p:cNvSpPr/>
          <p:nvPr/>
        </p:nvSpPr>
        <p:spPr>
          <a:xfrm>
            <a:off x="6665976" y="3593592"/>
            <a:ext cx="256032" cy="256032"/>
          </a:xfrm>
          <a:prstGeom prst="ellipse">
            <a:avLst/>
          </a:prstGeom>
          <a:solidFill>
            <a:srgbClr val="D134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E0819D7-7849-01C0-432E-951C1A4DFE78}"/>
              </a:ext>
            </a:extLst>
          </p:cNvPr>
          <p:cNvSpPr txBox="1"/>
          <p:nvPr/>
        </p:nvSpPr>
        <p:spPr>
          <a:xfrm>
            <a:off x="6693408" y="3643884"/>
            <a:ext cx="201168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!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61E6AE-43AD-BA3B-0B3A-1ECBDA8B9F6D}"/>
              </a:ext>
            </a:extLst>
          </p:cNvPr>
          <p:cNvSpPr txBox="1"/>
          <p:nvPr/>
        </p:nvSpPr>
        <p:spPr>
          <a:xfrm>
            <a:off x="7040880" y="3566160"/>
            <a:ext cx="397764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Misses workflow navigation or pre-submit checks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16B7D71-6EEA-5850-F841-D988DB5985C4}"/>
              </a:ext>
            </a:extLst>
          </p:cNvPr>
          <p:cNvSpPr/>
          <p:nvPr/>
        </p:nvSpPr>
        <p:spPr>
          <a:xfrm>
            <a:off x="6665976" y="4279392"/>
            <a:ext cx="256032" cy="256032"/>
          </a:xfrm>
          <a:prstGeom prst="ellipse">
            <a:avLst/>
          </a:prstGeom>
          <a:solidFill>
            <a:srgbClr val="D134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F24D00-8EEE-4F29-3A66-0866ED2756AB}"/>
              </a:ext>
            </a:extLst>
          </p:cNvPr>
          <p:cNvSpPr txBox="1"/>
          <p:nvPr/>
        </p:nvSpPr>
        <p:spPr>
          <a:xfrm>
            <a:off x="6693408" y="4329684"/>
            <a:ext cx="201168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!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A755E4-A92A-06B1-8DBE-3933817A4B13}"/>
              </a:ext>
            </a:extLst>
          </p:cNvPr>
          <p:cNvSpPr txBox="1"/>
          <p:nvPr/>
        </p:nvSpPr>
        <p:spPr>
          <a:xfrm>
            <a:off x="7040880" y="4251960"/>
            <a:ext cx="397764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Order can drift on multi-step tasks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CEFBD31-F7C0-1317-F5AB-20E5FE48F46B}"/>
              </a:ext>
            </a:extLst>
          </p:cNvPr>
          <p:cNvSpPr/>
          <p:nvPr/>
        </p:nvSpPr>
        <p:spPr>
          <a:xfrm>
            <a:off x="4370832" y="5413248"/>
            <a:ext cx="3429000" cy="713232"/>
          </a:xfrm>
          <a:prstGeom prst="roundRect">
            <a:avLst/>
          </a:prstGeom>
          <a:solidFill>
            <a:srgbClr val="25242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07C7F0-88AC-EA4B-2D30-905F688129EF}"/>
              </a:ext>
            </a:extLst>
          </p:cNvPr>
          <p:cNvSpPr txBox="1"/>
          <p:nvPr/>
        </p:nvSpPr>
        <p:spPr>
          <a:xfrm>
            <a:off x="4617720" y="5650992"/>
            <a:ext cx="2926080" cy="3816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20" b="1">
                <a:solidFill>
                  <a:srgbClr val="FFFFFF"/>
                </a:solidFill>
                <a:latin typeface="Segoe UI" panose="020B0502040204020203" pitchFamily="34" charset="0"/>
              </a:rPr>
              <a:t>Conclusion: promptable, but not yet dependable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6FE080-652A-49E2-4591-817F44F37AED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05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2220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CBE77F-7B63-2ACD-411C-17E82D9D45A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82C0EF-64C3-3454-C3EE-C9C3AD7A29C4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50BA90-9845-10DA-36FB-53DF416870AE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Why fine-tuning is the right lever here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A93A0B-D740-2248-9939-068DAC8BCA5D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A7849C-5B25-7690-077E-8D67C3A1A899}"/>
              </a:ext>
            </a:extLst>
          </p:cNvPr>
          <p:cNvSpPr txBox="1"/>
          <p:nvPr/>
        </p:nvSpPr>
        <p:spPr>
          <a:xfrm>
            <a:off x="594360" y="1143000"/>
            <a:ext cx="7315200" cy="45243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>
                <a:solidFill>
                  <a:srgbClr val="605E5C"/>
                </a:solidFill>
                <a:latin typeface="Aptos" panose="020B0004020202020204" pitchFamily="34" charset="0"/>
              </a:rPr>
              <a:t>We are not trying to teach the model medical facts. We are teaching it a repeatable output behavior: the Molina/EIM action contract.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A993033-320A-03C2-9C53-7158651E02C5}"/>
              </a:ext>
            </a:extLst>
          </p:cNvPr>
          <p:cNvSpPr/>
          <p:nvPr/>
        </p:nvSpPr>
        <p:spPr>
          <a:xfrm>
            <a:off x="749808" y="1874520"/>
            <a:ext cx="2834640" cy="30175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C767AF-22D3-A879-2336-1921A89CEE34}"/>
              </a:ext>
            </a:extLst>
          </p:cNvPr>
          <p:cNvSpPr txBox="1"/>
          <p:nvPr/>
        </p:nvSpPr>
        <p:spPr>
          <a:xfrm>
            <a:off x="987552" y="2148840"/>
            <a:ext cx="2103120" cy="2831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600" b="1">
                <a:solidFill>
                  <a:srgbClr val="004578"/>
                </a:solidFill>
                <a:latin typeface="Aptos Display" panose="020B0004020202020204" pitchFamily="34" charset="0"/>
              </a:rPr>
              <a:t>Frozen base model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FC6E5BE-AC78-6EC9-952A-B2C7AA87F767}"/>
              </a:ext>
            </a:extLst>
          </p:cNvPr>
          <p:cNvSpPr/>
          <p:nvPr/>
        </p:nvSpPr>
        <p:spPr>
          <a:xfrm>
            <a:off x="1417320" y="2697480"/>
            <a:ext cx="1417320" cy="1417320"/>
          </a:xfrm>
          <a:prstGeom prst="ellipse">
            <a:avLst/>
          </a:prstGeom>
          <a:solidFill>
            <a:srgbClr val="D7EBFF"/>
          </a:solidFill>
          <a:ln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150563-6504-2E68-0191-BB1282CCC0CB}"/>
              </a:ext>
            </a:extLst>
          </p:cNvPr>
          <p:cNvSpPr txBox="1"/>
          <p:nvPr/>
        </p:nvSpPr>
        <p:spPr>
          <a:xfrm>
            <a:off x="1746504" y="3154680"/>
            <a:ext cx="749808" cy="52937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600" b="1">
                <a:solidFill>
                  <a:srgbClr val="004578"/>
                </a:solidFill>
                <a:latin typeface="Aptos" panose="020B0004020202020204" pitchFamily="34" charset="0"/>
              </a:rPr>
              <a:t>Gemma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51277F-BF07-83EE-3262-C6D05633ADFB}"/>
              </a:ext>
            </a:extLst>
          </p:cNvPr>
          <p:cNvSpPr txBox="1"/>
          <p:nvPr/>
        </p:nvSpPr>
        <p:spPr>
          <a:xfrm>
            <a:off x="1143000" y="4343400"/>
            <a:ext cx="2057400" cy="36009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50">
                <a:solidFill>
                  <a:srgbClr val="605E5C"/>
                </a:solidFill>
                <a:latin typeface="Segoe UI" panose="020B0502040204020203" pitchFamily="34" charset="0"/>
              </a:rPr>
              <a:t>General language + code + web understanding stays intact.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F6951F1-BF49-021B-6DC1-4E1E4A95823D}"/>
              </a:ext>
            </a:extLst>
          </p:cNvPr>
          <p:cNvSpPr/>
          <p:nvPr/>
        </p:nvSpPr>
        <p:spPr>
          <a:xfrm>
            <a:off x="4663440" y="1627632"/>
            <a:ext cx="2834640" cy="3520440"/>
          </a:xfrm>
          <a:prstGeom prst="roundRect">
            <a:avLst/>
          </a:prstGeom>
          <a:solidFill>
            <a:srgbClr val="EDE7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689965-D97B-1E59-3BA0-300872522429}"/>
              </a:ext>
            </a:extLst>
          </p:cNvPr>
          <p:cNvSpPr txBox="1"/>
          <p:nvPr/>
        </p:nvSpPr>
        <p:spPr>
          <a:xfrm>
            <a:off x="4965192" y="1993392"/>
            <a:ext cx="214884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700" b="1">
                <a:solidFill>
                  <a:srgbClr val="5C2D91"/>
                </a:solidFill>
                <a:latin typeface="Aptos Display" panose="020B0004020202020204" pitchFamily="34" charset="0"/>
              </a:rPr>
              <a:t>LoRA adapter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40C48C9-B0DB-F128-24BC-B3409E600CA3}"/>
              </a:ext>
            </a:extLst>
          </p:cNvPr>
          <p:cNvSpPr/>
          <p:nvPr/>
        </p:nvSpPr>
        <p:spPr>
          <a:xfrm>
            <a:off x="5285232" y="2670048"/>
            <a:ext cx="1627632" cy="1005840"/>
          </a:xfrm>
          <a:prstGeom prst="roundRect">
            <a:avLst/>
          </a:prstGeom>
          <a:solidFill>
            <a:srgbClr val="5C2D9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3D2D1D-7CA5-53B2-00D4-5F80C6745AF0}"/>
              </a:ext>
            </a:extLst>
          </p:cNvPr>
          <p:cNvSpPr txBox="1"/>
          <p:nvPr/>
        </p:nvSpPr>
        <p:spPr>
          <a:xfrm>
            <a:off x="5486400" y="2916936"/>
            <a:ext cx="1207008" cy="56015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ptos Display" panose="020B0004020202020204" pitchFamily="34" charset="0"/>
              </a:rPr>
              <a:t>~0.1%</a:t>
            </a:r>
          </a:p>
          <a:p>
            <a:pPr algn="ctr"/>
            <a:r>
              <a:rPr lang="en-US" sz="1700" b="1">
                <a:solidFill>
                  <a:srgbClr val="FFFFFF"/>
                </a:solidFill>
                <a:latin typeface="Aptos Display" panose="020B0004020202020204" pitchFamily="34" charset="0"/>
              </a:rPr>
              <a:t>trainable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D60268-F21D-B8AB-4CD0-D1CE0909AA66}"/>
              </a:ext>
            </a:extLst>
          </p:cNvPr>
          <p:cNvSpPr txBox="1"/>
          <p:nvPr/>
        </p:nvSpPr>
        <p:spPr>
          <a:xfrm>
            <a:off x="5074920" y="4187952"/>
            <a:ext cx="1828800" cy="52168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50">
                <a:solidFill>
                  <a:srgbClr val="605E5C"/>
                </a:solidFill>
                <a:latin typeface="Segoe UI" panose="020B0502040204020203" pitchFamily="34" charset="0"/>
              </a:rPr>
              <a:t>Small adapter learns selectors, ordering, and contract discipline.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374E130-3EA6-5B96-AFEC-F3E6A9C83D67}"/>
              </a:ext>
            </a:extLst>
          </p:cNvPr>
          <p:cNvSpPr/>
          <p:nvPr/>
        </p:nvSpPr>
        <p:spPr>
          <a:xfrm>
            <a:off x="8549640" y="1874520"/>
            <a:ext cx="2834640" cy="30175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DF1265-4047-586B-4895-5BEFA3ED4BED}"/>
              </a:ext>
            </a:extLst>
          </p:cNvPr>
          <p:cNvSpPr txBox="1"/>
          <p:nvPr/>
        </p:nvSpPr>
        <p:spPr>
          <a:xfrm>
            <a:off x="8851392" y="2148840"/>
            <a:ext cx="2148840" cy="2831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600" b="1">
                <a:solidFill>
                  <a:srgbClr val="107C10"/>
                </a:solidFill>
                <a:latin typeface="Aptos Display" panose="020B0004020202020204" pitchFamily="34" charset="0"/>
              </a:rPr>
              <a:t>Tuned behavior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C7562E8-6E03-2609-044A-B6682A13AD35}"/>
              </a:ext>
            </a:extLst>
          </p:cNvPr>
          <p:cNvSpPr/>
          <p:nvPr/>
        </p:nvSpPr>
        <p:spPr>
          <a:xfrm>
            <a:off x="9015984" y="2743200"/>
            <a:ext cx="1828800" cy="384048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3783C3-B248-8C53-DB31-D15FE059896C}"/>
              </a:ext>
            </a:extLst>
          </p:cNvPr>
          <p:cNvSpPr txBox="1"/>
          <p:nvPr/>
        </p:nvSpPr>
        <p:spPr>
          <a:xfrm>
            <a:off x="9226296" y="2880360"/>
            <a:ext cx="13716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stable selectors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EFE6F04-295C-61D9-1600-D809EF87097E}"/>
              </a:ext>
            </a:extLst>
          </p:cNvPr>
          <p:cNvSpPr/>
          <p:nvPr/>
        </p:nvSpPr>
        <p:spPr>
          <a:xfrm>
            <a:off x="9015984" y="3246120"/>
            <a:ext cx="1828800" cy="384048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1EBEFC-2446-0132-EEFD-BB47CD7828AE}"/>
              </a:ext>
            </a:extLst>
          </p:cNvPr>
          <p:cNvSpPr txBox="1"/>
          <p:nvPr/>
        </p:nvSpPr>
        <p:spPr>
          <a:xfrm>
            <a:off x="9400032" y="3383280"/>
            <a:ext cx="914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right order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08BD0CA-869D-0AD8-3A20-16A52E1437F5}"/>
              </a:ext>
            </a:extLst>
          </p:cNvPr>
          <p:cNvSpPr/>
          <p:nvPr/>
        </p:nvSpPr>
        <p:spPr>
          <a:xfrm>
            <a:off x="9015984" y="3749040"/>
            <a:ext cx="1828800" cy="384048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7BB7B1-2C77-F0F2-98D4-BB30184A3DAC}"/>
              </a:ext>
            </a:extLst>
          </p:cNvPr>
          <p:cNvSpPr txBox="1"/>
          <p:nvPr/>
        </p:nvSpPr>
        <p:spPr>
          <a:xfrm>
            <a:off x="9491472" y="3886200"/>
            <a:ext cx="73152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no prose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0AEE10F-B8F7-0D12-9CCA-512CDFA37674}"/>
              </a:ext>
            </a:extLst>
          </p:cNvPr>
          <p:cNvCxnSpPr/>
          <p:nvPr/>
        </p:nvCxnSpPr>
        <p:spPr>
          <a:xfrm>
            <a:off x="3611880" y="3364992"/>
            <a:ext cx="978408" cy="0"/>
          </a:xfrm>
          <a:prstGeom prst="line">
            <a:avLst/>
          </a:prstGeom>
          <a:ln w="381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9CBEC77-1436-02D2-3B92-DC5BA87C491F}"/>
              </a:ext>
            </a:extLst>
          </p:cNvPr>
          <p:cNvCxnSpPr/>
          <p:nvPr/>
        </p:nvCxnSpPr>
        <p:spPr>
          <a:xfrm>
            <a:off x="7525512" y="3364992"/>
            <a:ext cx="978408" cy="0"/>
          </a:xfrm>
          <a:prstGeom prst="line">
            <a:avLst/>
          </a:prstGeom>
          <a:ln w="3810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556B60CF-C010-9C86-84D2-CF90C6EADB5B}"/>
              </a:ext>
            </a:extLst>
          </p:cNvPr>
          <p:cNvSpPr/>
          <p:nvPr/>
        </p:nvSpPr>
        <p:spPr>
          <a:xfrm>
            <a:off x="914400" y="553212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9CA6AE-3AAE-7BA2-14D6-EC8C697AA0A4}"/>
              </a:ext>
            </a:extLst>
          </p:cNvPr>
          <p:cNvSpPr txBox="1"/>
          <p:nvPr/>
        </p:nvSpPr>
        <p:spPr>
          <a:xfrm>
            <a:off x="1078992" y="566013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0078D4"/>
                </a:solidFill>
                <a:latin typeface="Aptos Display" panose="020B0004020202020204" pitchFamily="34" charset="0"/>
              </a:rPr>
              <a:t>bf16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A6384B-D575-2AC1-B197-7FFE0FEF9FB5}"/>
              </a:ext>
            </a:extLst>
          </p:cNvPr>
          <p:cNvSpPr txBox="1"/>
          <p:nvPr/>
        </p:nvSpPr>
        <p:spPr>
          <a:xfrm>
            <a:off x="1078992" y="609904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Fits single A100 80GB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B4A26F2-DC19-CA11-30D6-7301A8CB79B7}"/>
              </a:ext>
            </a:extLst>
          </p:cNvPr>
          <p:cNvSpPr/>
          <p:nvPr/>
        </p:nvSpPr>
        <p:spPr>
          <a:xfrm>
            <a:off x="3474720" y="553212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61CE26-50D1-2542-234E-B39ABD8E31CE}"/>
              </a:ext>
            </a:extLst>
          </p:cNvPr>
          <p:cNvSpPr txBox="1"/>
          <p:nvPr/>
        </p:nvSpPr>
        <p:spPr>
          <a:xfrm>
            <a:off x="3639312" y="566013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5C2D91"/>
                </a:solidFill>
                <a:latin typeface="Aptos Display" panose="020B0004020202020204" pitchFamily="34" charset="0"/>
              </a:rPr>
              <a:t>LoRA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2C9D0E-A253-BC50-4081-32D62A6B047A}"/>
              </a:ext>
            </a:extLst>
          </p:cNvPr>
          <p:cNvSpPr txBox="1"/>
          <p:nvPr/>
        </p:nvSpPr>
        <p:spPr>
          <a:xfrm>
            <a:off x="3639312" y="609904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No full model retrain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FE62956-7474-EC14-4681-575AAA46D9ED}"/>
              </a:ext>
            </a:extLst>
          </p:cNvPr>
          <p:cNvSpPr/>
          <p:nvPr/>
        </p:nvSpPr>
        <p:spPr>
          <a:xfrm>
            <a:off x="6035040" y="553212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1D7EF31-541C-B666-58E5-77503FC87D1D}"/>
              </a:ext>
            </a:extLst>
          </p:cNvPr>
          <p:cNvSpPr txBox="1"/>
          <p:nvPr/>
        </p:nvSpPr>
        <p:spPr>
          <a:xfrm>
            <a:off x="6199632" y="566013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038387"/>
                </a:solidFill>
                <a:latin typeface="Aptos Display" panose="020B0004020202020204" pitchFamily="34" charset="0"/>
              </a:rPr>
              <a:t>per flow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7AD369-2102-E6BB-9177-9A6EF69D4D09}"/>
              </a:ext>
            </a:extLst>
          </p:cNvPr>
          <p:cNvSpPr txBox="1"/>
          <p:nvPr/>
        </p:nvSpPr>
        <p:spPr>
          <a:xfrm>
            <a:off x="6199632" y="609904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Adapter can be swapped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E7B3EFE-7CBE-2CD8-512C-78CB2FB3CB10}"/>
              </a:ext>
            </a:extLst>
          </p:cNvPr>
          <p:cNvSpPr/>
          <p:nvPr/>
        </p:nvSpPr>
        <p:spPr>
          <a:xfrm>
            <a:off x="8595360" y="553212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3B69C42-9F96-CEAD-A80B-D007790CC142}"/>
              </a:ext>
            </a:extLst>
          </p:cNvPr>
          <p:cNvSpPr txBox="1"/>
          <p:nvPr/>
        </p:nvSpPr>
        <p:spPr>
          <a:xfrm>
            <a:off x="8759952" y="566013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107C10"/>
                </a:solidFill>
                <a:latin typeface="Aptos Display" panose="020B0004020202020204" pitchFamily="34" charset="0"/>
              </a:rPr>
              <a:t>fast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352904-2C9F-9122-DAE3-23EADB335C89}"/>
              </a:ext>
            </a:extLst>
          </p:cNvPr>
          <p:cNvSpPr txBox="1"/>
          <p:nvPr/>
        </p:nvSpPr>
        <p:spPr>
          <a:xfrm>
            <a:off x="8759952" y="609904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Lower experiment cost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57DF6E-8077-2080-1D31-5D84E7190881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06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3080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F8963D-7B84-29ED-E959-68B2DFC4E74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177279-3069-4C66-75B9-93F2580612F2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9E2177-0C47-DA0A-3ED4-47E765BA1975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Fine-tuning process flow used in this project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6844D3-8F35-9140-7AE2-A06CA14484C6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BB608E-518F-F6DC-5073-C8802010B09A}"/>
              </a:ext>
            </a:extLst>
          </p:cNvPr>
          <p:cNvSpPr txBox="1"/>
          <p:nvPr/>
        </p:nvSpPr>
        <p:spPr>
          <a:xfrm>
            <a:off x="594360" y="1115568"/>
            <a:ext cx="8321040" cy="44319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20">
                <a:solidFill>
                  <a:srgbClr val="605E5C"/>
                </a:solidFill>
                <a:latin typeface="Aptos" panose="020B0004020202020204" pitchFamily="34" charset="0"/>
              </a:rPr>
              <a:t>The implementation is deliberately end-to-end: generate safe data, train on AzureML A100 compute, register the adapter, deploy, evaluate, and clean up.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FB55AAC-AAE4-05DD-A22B-E11E9510E47E}"/>
              </a:ext>
            </a:extLst>
          </p:cNvPr>
          <p:cNvSpPr/>
          <p:nvPr/>
        </p:nvSpPr>
        <p:spPr>
          <a:xfrm>
            <a:off x="749808" y="1874520"/>
            <a:ext cx="306324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AE016B7-76D4-B5C4-C1A1-5930420A812E}"/>
              </a:ext>
            </a:extLst>
          </p:cNvPr>
          <p:cNvSpPr/>
          <p:nvPr/>
        </p:nvSpPr>
        <p:spPr>
          <a:xfrm>
            <a:off x="896112" y="2039112"/>
            <a:ext cx="420624" cy="420624"/>
          </a:xfrm>
          <a:prstGeom prst="ellipse">
            <a:avLst/>
          </a:prstGeom>
          <a:solidFill>
            <a:srgbClr val="0078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64FFC-7515-94DA-90F8-C9CFF9A3C452}"/>
              </a:ext>
            </a:extLst>
          </p:cNvPr>
          <p:cNvSpPr txBox="1"/>
          <p:nvPr/>
        </p:nvSpPr>
        <p:spPr>
          <a:xfrm>
            <a:off x="905256" y="2103120"/>
            <a:ext cx="393192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6EBDC9-F632-53E9-7084-F74AF892ED00}"/>
              </a:ext>
            </a:extLst>
          </p:cNvPr>
          <p:cNvSpPr txBox="1"/>
          <p:nvPr/>
        </p:nvSpPr>
        <p:spPr>
          <a:xfrm>
            <a:off x="1435608" y="2020824"/>
            <a:ext cx="2194560" cy="21390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50" b="1">
                <a:solidFill>
                  <a:srgbClr val="201F1E"/>
                </a:solidFill>
                <a:latin typeface="Segoe UI" panose="020B0502040204020203" pitchFamily="34" charset="0"/>
              </a:rPr>
              <a:t>Generate synthetic JSONL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D5F402-D315-8573-E001-4A211197FFB0}"/>
              </a:ext>
            </a:extLst>
          </p:cNvPr>
          <p:cNvSpPr txBox="1"/>
          <p:nvPr/>
        </p:nvSpPr>
        <p:spPr>
          <a:xfrm>
            <a:off x="1435608" y="2304288"/>
            <a:ext cx="219456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DOM + instruction + gold assistant action plan.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0A788B-C89A-CC55-EC0E-3BDB42D40FFA}"/>
              </a:ext>
            </a:extLst>
          </p:cNvPr>
          <p:cNvCxnSpPr/>
          <p:nvPr/>
        </p:nvCxnSpPr>
        <p:spPr>
          <a:xfrm>
            <a:off x="3840480" y="2350008"/>
            <a:ext cx="402336" cy="0"/>
          </a:xfrm>
          <a:prstGeom prst="line">
            <a:avLst/>
          </a:prstGeom>
          <a:ln w="317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C7802BA-423D-4B0C-E3CD-66A2754F916C}"/>
              </a:ext>
            </a:extLst>
          </p:cNvPr>
          <p:cNvSpPr/>
          <p:nvPr/>
        </p:nvSpPr>
        <p:spPr>
          <a:xfrm>
            <a:off x="4453128" y="1874520"/>
            <a:ext cx="306324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6B80484-F9F5-7492-8E4C-B4302DAA0AA6}"/>
              </a:ext>
            </a:extLst>
          </p:cNvPr>
          <p:cNvSpPr/>
          <p:nvPr/>
        </p:nvSpPr>
        <p:spPr>
          <a:xfrm>
            <a:off x="4599432" y="2039112"/>
            <a:ext cx="420624" cy="420624"/>
          </a:xfrm>
          <a:prstGeom prst="ellipse">
            <a:avLst/>
          </a:prstGeom>
          <a:solidFill>
            <a:srgbClr val="0383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7871F7-1B64-7FD2-8FF0-D4005A96B5C9}"/>
              </a:ext>
            </a:extLst>
          </p:cNvPr>
          <p:cNvSpPr txBox="1"/>
          <p:nvPr/>
        </p:nvSpPr>
        <p:spPr>
          <a:xfrm>
            <a:off x="4608576" y="2103120"/>
            <a:ext cx="393192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93A1B3-68D2-8D11-9B8F-1066915E48DC}"/>
              </a:ext>
            </a:extLst>
          </p:cNvPr>
          <p:cNvSpPr txBox="1"/>
          <p:nvPr/>
        </p:nvSpPr>
        <p:spPr>
          <a:xfrm>
            <a:off x="5138928" y="2020824"/>
            <a:ext cx="2194560" cy="21390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50" b="1">
                <a:solidFill>
                  <a:srgbClr val="201F1E"/>
                </a:solidFill>
                <a:latin typeface="Segoe UI" panose="020B0502040204020203" pitchFamily="34" charset="0"/>
              </a:rPr>
              <a:t>Prepare data asset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51FEA6-46DF-7D64-6090-70CB736283EE}"/>
              </a:ext>
            </a:extLst>
          </p:cNvPr>
          <p:cNvSpPr txBox="1"/>
          <p:nvPr/>
        </p:nvSpPr>
        <p:spPr>
          <a:xfrm>
            <a:off x="5138928" y="2304288"/>
            <a:ext cx="219456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Register or package train and validation files.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81F7C6A-9E7D-E40D-CBF4-351F5B4A5783}"/>
              </a:ext>
            </a:extLst>
          </p:cNvPr>
          <p:cNvCxnSpPr/>
          <p:nvPr/>
        </p:nvCxnSpPr>
        <p:spPr>
          <a:xfrm>
            <a:off x="7543800" y="2350008"/>
            <a:ext cx="402336" cy="0"/>
          </a:xfrm>
          <a:prstGeom prst="line">
            <a:avLst/>
          </a:prstGeom>
          <a:ln w="31750">
            <a:solidFill>
              <a:srgbClr val="0383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432C1A9-DAA2-AF90-0F6B-664F2B3935D2}"/>
              </a:ext>
            </a:extLst>
          </p:cNvPr>
          <p:cNvSpPr/>
          <p:nvPr/>
        </p:nvSpPr>
        <p:spPr>
          <a:xfrm>
            <a:off x="8156448" y="1874520"/>
            <a:ext cx="306324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DDD38AC-603C-B4BF-56BC-EA4868FFDB6F}"/>
              </a:ext>
            </a:extLst>
          </p:cNvPr>
          <p:cNvSpPr/>
          <p:nvPr/>
        </p:nvSpPr>
        <p:spPr>
          <a:xfrm>
            <a:off x="8302752" y="2039112"/>
            <a:ext cx="420624" cy="420624"/>
          </a:xfrm>
          <a:prstGeom prst="ellipse">
            <a:avLst/>
          </a:prstGeom>
          <a:solidFill>
            <a:srgbClr val="5C2D9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FD28C3-2DEB-4B20-F356-99C0FF0E8A40}"/>
              </a:ext>
            </a:extLst>
          </p:cNvPr>
          <p:cNvSpPr txBox="1"/>
          <p:nvPr/>
        </p:nvSpPr>
        <p:spPr>
          <a:xfrm>
            <a:off x="8311896" y="2103120"/>
            <a:ext cx="393192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434572-CC32-8F56-2F17-DDBF4A63FC6C}"/>
              </a:ext>
            </a:extLst>
          </p:cNvPr>
          <p:cNvSpPr txBox="1"/>
          <p:nvPr/>
        </p:nvSpPr>
        <p:spPr>
          <a:xfrm>
            <a:off x="8842248" y="2020824"/>
            <a:ext cx="2194560" cy="21390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50" b="1">
                <a:solidFill>
                  <a:srgbClr val="201F1E"/>
                </a:solidFill>
                <a:latin typeface="Segoe UI" panose="020B0502040204020203" pitchFamily="34" charset="0"/>
              </a:rPr>
              <a:t>Submit AML job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9B713A-AC0A-F169-2649-C83CDA733236}"/>
              </a:ext>
            </a:extLst>
          </p:cNvPr>
          <p:cNvSpPr txBox="1"/>
          <p:nvPr/>
        </p:nvSpPr>
        <p:spPr>
          <a:xfrm>
            <a:off x="8842248" y="2304288"/>
            <a:ext cx="219456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A100 command job runs training/train.py.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888DD6E-7DE9-F81E-078F-E1AF25A9F301}"/>
              </a:ext>
            </a:extLst>
          </p:cNvPr>
          <p:cNvCxnSpPr/>
          <p:nvPr/>
        </p:nvCxnSpPr>
        <p:spPr>
          <a:xfrm>
            <a:off x="9692640" y="2880360"/>
            <a:ext cx="0" cy="731520"/>
          </a:xfrm>
          <a:prstGeom prst="line">
            <a:avLst/>
          </a:prstGeom>
          <a:ln w="31750">
            <a:solidFill>
              <a:srgbClr val="5C2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B2ACD6F-6FA3-A708-C9DD-1D173BFE27EF}"/>
              </a:ext>
            </a:extLst>
          </p:cNvPr>
          <p:cNvSpPr/>
          <p:nvPr/>
        </p:nvSpPr>
        <p:spPr>
          <a:xfrm>
            <a:off x="8156448" y="3886200"/>
            <a:ext cx="306324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D8B9D4E-2701-700B-8742-CF75A0194CCE}"/>
              </a:ext>
            </a:extLst>
          </p:cNvPr>
          <p:cNvSpPr/>
          <p:nvPr/>
        </p:nvSpPr>
        <p:spPr>
          <a:xfrm>
            <a:off x="8302752" y="4050792"/>
            <a:ext cx="420624" cy="420624"/>
          </a:xfrm>
          <a:prstGeom prst="ellipse">
            <a:avLst/>
          </a:prstGeom>
          <a:solidFill>
            <a:srgbClr val="FF8C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A96269-EEDB-FDB7-EC43-419DAE56CACA}"/>
              </a:ext>
            </a:extLst>
          </p:cNvPr>
          <p:cNvSpPr txBox="1"/>
          <p:nvPr/>
        </p:nvSpPr>
        <p:spPr>
          <a:xfrm>
            <a:off x="8311896" y="4114800"/>
            <a:ext cx="393192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8F7453-94C0-A3E2-A4C2-6CC8CFF5F78A}"/>
              </a:ext>
            </a:extLst>
          </p:cNvPr>
          <p:cNvSpPr txBox="1"/>
          <p:nvPr/>
        </p:nvSpPr>
        <p:spPr>
          <a:xfrm>
            <a:off x="8842248" y="4032504"/>
            <a:ext cx="2194560" cy="21390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50" b="1">
                <a:solidFill>
                  <a:srgbClr val="201F1E"/>
                </a:solidFill>
                <a:latin typeface="Segoe UI" panose="020B0502040204020203" pitchFamily="34" charset="0"/>
              </a:rPr>
              <a:t>Train LoRA adapter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99E4F9-5B9A-6888-2560-FE9259676F1E}"/>
              </a:ext>
            </a:extLst>
          </p:cNvPr>
          <p:cNvSpPr txBox="1"/>
          <p:nvPr/>
        </p:nvSpPr>
        <p:spPr>
          <a:xfrm>
            <a:off x="8842248" y="4315968"/>
            <a:ext cx="219456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bf16 base model, rank/alpha adapters, SFTTrainer.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EC1AFCF-4281-9CC7-9535-A5EBE49B1A6A}"/>
              </a:ext>
            </a:extLst>
          </p:cNvPr>
          <p:cNvSpPr/>
          <p:nvPr/>
        </p:nvSpPr>
        <p:spPr>
          <a:xfrm>
            <a:off x="4453128" y="3886200"/>
            <a:ext cx="306324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8D98B48-A417-FEE1-63E7-A2572A9B8792}"/>
              </a:ext>
            </a:extLst>
          </p:cNvPr>
          <p:cNvSpPr/>
          <p:nvPr/>
        </p:nvSpPr>
        <p:spPr>
          <a:xfrm>
            <a:off x="4599432" y="4050792"/>
            <a:ext cx="420624" cy="420624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0AA412-E3E1-9F4F-FB47-9EB0968DEB18}"/>
              </a:ext>
            </a:extLst>
          </p:cNvPr>
          <p:cNvSpPr txBox="1"/>
          <p:nvPr/>
        </p:nvSpPr>
        <p:spPr>
          <a:xfrm>
            <a:off x="4608576" y="4114800"/>
            <a:ext cx="393192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1633B2-B2FF-AC92-AAD6-FA984DDF012A}"/>
              </a:ext>
            </a:extLst>
          </p:cNvPr>
          <p:cNvSpPr txBox="1"/>
          <p:nvPr/>
        </p:nvSpPr>
        <p:spPr>
          <a:xfrm>
            <a:off x="5138928" y="4032504"/>
            <a:ext cx="2194560" cy="21390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50" b="1">
                <a:solidFill>
                  <a:srgbClr val="201F1E"/>
                </a:solidFill>
                <a:latin typeface="Segoe UI" panose="020B0502040204020203" pitchFamily="34" charset="0"/>
              </a:rPr>
              <a:t>Register + deploy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3CDC3D-F750-4252-7926-C72535A9151E}"/>
              </a:ext>
            </a:extLst>
          </p:cNvPr>
          <p:cNvSpPr txBox="1"/>
          <p:nvPr/>
        </p:nvSpPr>
        <p:spPr>
          <a:xfrm>
            <a:off x="5138928" y="4315968"/>
            <a:ext cx="219456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Adapter artifact becomes an AML model and endpoint.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D245A82-ADA2-E301-60F6-D792D86DB448}"/>
              </a:ext>
            </a:extLst>
          </p:cNvPr>
          <p:cNvCxnSpPr/>
          <p:nvPr/>
        </p:nvCxnSpPr>
        <p:spPr>
          <a:xfrm>
            <a:off x="4050792" y="4361688"/>
            <a:ext cx="384048" cy="0"/>
          </a:xfrm>
          <a:prstGeom prst="line">
            <a:avLst/>
          </a:prstGeom>
          <a:ln w="3175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68A4EFD-4BE5-C69B-03B4-D2784954BAA1}"/>
              </a:ext>
            </a:extLst>
          </p:cNvPr>
          <p:cNvSpPr/>
          <p:nvPr/>
        </p:nvSpPr>
        <p:spPr>
          <a:xfrm>
            <a:off x="749808" y="3886200"/>
            <a:ext cx="306324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AE2D665-65FC-6BE4-DB1E-789ECF1C6C39}"/>
              </a:ext>
            </a:extLst>
          </p:cNvPr>
          <p:cNvSpPr/>
          <p:nvPr/>
        </p:nvSpPr>
        <p:spPr>
          <a:xfrm>
            <a:off x="896112" y="4050792"/>
            <a:ext cx="420624" cy="420624"/>
          </a:xfrm>
          <a:prstGeom prst="ellipse">
            <a:avLst/>
          </a:prstGeom>
          <a:solidFill>
            <a:srgbClr val="D134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EFB707-6452-7459-D6DB-ABAFF637460A}"/>
              </a:ext>
            </a:extLst>
          </p:cNvPr>
          <p:cNvSpPr txBox="1"/>
          <p:nvPr/>
        </p:nvSpPr>
        <p:spPr>
          <a:xfrm>
            <a:off x="905256" y="4114800"/>
            <a:ext cx="393192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D8E085-69E1-434A-7A69-592DC7319881}"/>
              </a:ext>
            </a:extLst>
          </p:cNvPr>
          <p:cNvSpPr txBox="1"/>
          <p:nvPr/>
        </p:nvSpPr>
        <p:spPr>
          <a:xfrm>
            <a:off x="1435608" y="4032504"/>
            <a:ext cx="2194560" cy="21390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50" b="1">
                <a:solidFill>
                  <a:srgbClr val="201F1E"/>
                </a:solidFill>
                <a:latin typeface="Segoe UI" panose="020B0502040204020203" pitchFamily="34" charset="0"/>
              </a:rPr>
              <a:t>Evaluate + cleanup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E2B42A-C6B4-D127-9ED3-224E1015B87F}"/>
              </a:ext>
            </a:extLst>
          </p:cNvPr>
          <p:cNvSpPr txBox="1"/>
          <p:nvPr/>
        </p:nvSpPr>
        <p:spPr>
          <a:xfrm>
            <a:off x="1435608" y="4315968"/>
            <a:ext cx="219456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Same prompts, base vs tuned, delete endpoint after demo.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C88F108-2000-1FD5-C4E3-CE636B5AC06B}"/>
              </a:ext>
            </a:extLst>
          </p:cNvPr>
          <p:cNvCxnSpPr/>
          <p:nvPr/>
        </p:nvCxnSpPr>
        <p:spPr>
          <a:xfrm>
            <a:off x="347472" y="4361688"/>
            <a:ext cx="384048" cy="0"/>
          </a:xfrm>
          <a:prstGeom prst="line">
            <a:avLst/>
          </a:prstGeom>
          <a:ln w="31750">
            <a:solidFill>
              <a:srgbClr val="D134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2ABFF85-025A-A203-FA61-A0ACD3537EA0}"/>
              </a:ext>
            </a:extLst>
          </p:cNvPr>
          <p:cNvSpPr/>
          <p:nvPr/>
        </p:nvSpPr>
        <p:spPr>
          <a:xfrm>
            <a:off x="868680" y="6071616"/>
            <a:ext cx="10287000" cy="310896"/>
          </a:xfrm>
          <a:prstGeom prst="roundRect">
            <a:avLst/>
          </a:prstGeom>
          <a:solidFill>
            <a:srgbClr val="D7E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D3F1F48-A31B-8D0D-6867-83DCDBED74E7}"/>
              </a:ext>
            </a:extLst>
          </p:cNvPr>
          <p:cNvSpPr txBox="1"/>
          <p:nvPr/>
        </p:nvSpPr>
        <p:spPr>
          <a:xfrm>
            <a:off x="987552" y="6163056"/>
            <a:ext cx="10058400" cy="1569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780" b="1">
                <a:solidFill>
                  <a:srgbClr val="004578"/>
                </a:solidFill>
                <a:latin typeface="Consolas" panose="020B0609020204030204" pitchFamily="49" charset="0"/>
              </a:rPr>
              <a:t>Project files: data/generate_winner_data.py -&gt; src/03_submit_training_job.py -&gt; training/train.py -&gt; src/04_register_and_deploy.py -&gt; demo_app/app.py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F5079BD-3434-0F0F-2904-22D0CD7AE1F8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07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664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D0EBA4-A288-48B9-33CA-4682AFF206F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77D87D-71E1-5755-5AEA-2572552E7355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562C2D-7480-3D3C-4627-DC0786D0B45C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Training data: synthetic browser-action examples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077930-7EC1-1DA7-318C-C7C35FF50A95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332891-B100-6F4F-61FB-5700D5EE8F0F}"/>
              </a:ext>
            </a:extLst>
          </p:cNvPr>
          <p:cNvSpPr txBox="1"/>
          <p:nvPr/>
        </p:nvSpPr>
        <p:spPr>
          <a:xfrm>
            <a:off x="594360" y="1143000"/>
            <a:ext cx="7680960" cy="45243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>
                <a:solidFill>
                  <a:srgbClr val="605E5C"/>
                </a:solidFill>
                <a:latin typeface="Aptos" panose="020B0004020202020204" pitchFamily="34" charset="0"/>
              </a:rPr>
              <a:t>The examples mirror the task shape without using Molina data: fake members, fake claims, deterministic seeds, and stable EIM selectors.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5DFA154-9EC6-3E4C-903E-51E39FD7524E}"/>
              </a:ext>
            </a:extLst>
          </p:cNvPr>
          <p:cNvSpPr/>
          <p:nvPr/>
        </p:nvSpPr>
        <p:spPr>
          <a:xfrm>
            <a:off x="713232" y="178308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22C70F-DF36-07B9-70D5-BBEB7043697E}"/>
              </a:ext>
            </a:extLst>
          </p:cNvPr>
          <p:cNvSpPr txBox="1"/>
          <p:nvPr/>
        </p:nvSpPr>
        <p:spPr>
          <a:xfrm>
            <a:off x="877824" y="191109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0078D4"/>
                </a:solidFill>
                <a:latin typeface="Aptos Display" panose="020B0004020202020204" pitchFamily="34" charset="0"/>
              </a:rPr>
              <a:t>96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83EE5C-150D-BF6E-209C-659BB5D5FAB4}"/>
              </a:ext>
            </a:extLst>
          </p:cNvPr>
          <p:cNvSpPr txBox="1"/>
          <p:nvPr/>
        </p:nvSpPr>
        <p:spPr>
          <a:xfrm>
            <a:off x="877824" y="235000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training records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0C38E1A-619B-96DB-337F-2EC9211A5430}"/>
              </a:ext>
            </a:extLst>
          </p:cNvPr>
          <p:cNvSpPr/>
          <p:nvPr/>
        </p:nvSpPr>
        <p:spPr>
          <a:xfrm>
            <a:off x="2788920" y="178308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42475A-266E-0E6B-9E18-0B3944B2C1E2}"/>
              </a:ext>
            </a:extLst>
          </p:cNvPr>
          <p:cNvSpPr txBox="1"/>
          <p:nvPr/>
        </p:nvSpPr>
        <p:spPr>
          <a:xfrm>
            <a:off x="2953512" y="191109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038387"/>
                </a:solidFill>
                <a:latin typeface="Aptos Display" panose="020B0004020202020204" pitchFamily="34" charset="0"/>
              </a:rPr>
              <a:t>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AF8727-1624-EAFE-3C8D-69F6540A8A45}"/>
              </a:ext>
            </a:extLst>
          </p:cNvPr>
          <p:cNvSpPr txBox="1"/>
          <p:nvPr/>
        </p:nvSpPr>
        <p:spPr>
          <a:xfrm>
            <a:off x="2953512" y="235000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validation records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DAE0DCD-4153-CA5D-CE28-629269BD2B05}"/>
              </a:ext>
            </a:extLst>
          </p:cNvPr>
          <p:cNvSpPr/>
          <p:nvPr/>
        </p:nvSpPr>
        <p:spPr>
          <a:xfrm>
            <a:off x="4864608" y="178308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B228EA-3CD3-F989-0216-1440A8912F0C}"/>
              </a:ext>
            </a:extLst>
          </p:cNvPr>
          <p:cNvSpPr txBox="1"/>
          <p:nvPr/>
        </p:nvSpPr>
        <p:spPr>
          <a:xfrm>
            <a:off x="5029200" y="191109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5C2D91"/>
                </a:solidFill>
                <a:latin typeface="Aptos Display" panose="020B0004020202020204" pitchFamily="34" charset="0"/>
              </a:rPr>
              <a:t>16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CA9C2-4427-ADC6-4973-6E599636534F}"/>
              </a:ext>
            </a:extLst>
          </p:cNvPr>
          <p:cNvSpPr txBox="1"/>
          <p:nvPr/>
        </p:nvSpPr>
        <p:spPr>
          <a:xfrm>
            <a:off x="5029200" y="235000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holdout eval prompts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C08D74-EFBC-3DD2-F995-E51624F25D3F}"/>
              </a:ext>
            </a:extLst>
          </p:cNvPr>
          <p:cNvSpPr/>
          <p:nvPr/>
        </p:nvSpPr>
        <p:spPr>
          <a:xfrm>
            <a:off x="6940296" y="178308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B20486-3607-36AF-C3DD-C8C394FC6595}"/>
              </a:ext>
            </a:extLst>
          </p:cNvPr>
          <p:cNvSpPr txBox="1"/>
          <p:nvPr/>
        </p:nvSpPr>
        <p:spPr>
          <a:xfrm>
            <a:off x="7104888" y="191109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107C10"/>
                </a:solidFill>
                <a:latin typeface="Aptos Display" panose="020B0004020202020204" pitchFamily="34" charset="0"/>
              </a:rPr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F207C0-B27F-C9E0-D949-DEB6A8004227}"/>
              </a:ext>
            </a:extLst>
          </p:cNvPr>
          <p:cNvSpPr txBox="1"/>
          <p:nvPr/>
        </p:nvSpPr>
        <p:spPr>
          <a:xfrm>
            <a:off x="7104888" y="235000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real PHI used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578D13F-BBEB-2EE8-835E-AF723A7811E0}"/>
              </a:ext>
            </a:extLst>
          </p:cNvPr>
          <p:cNvSpPr/>
          <p:nvPr/>
        </p:nvSpPr>
        <p:spPr>
          <a:xfrm>
            <a:off x="713232" y="3063240"/>
            <a:ext cx="5376672" cy="2651760"/>
          </a:xfrm>
          <a:prstGeom prst="roundRect">
            <a:avLst/>
          </a:prstGeom>
          <a:solidFill>
            <a:srgbClr val="11100F"/>
          </a:solidFill>
          <a:ln w="6350">
            <a:solidFill>
              <a:srgbClr val="605E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4367FC-C31F-F257-7CF5-D6CB6FFEF8A8}"/>
              </a:ext>
            </a:extLst>
          </p:cNvPr>
          <p:cNvSpPr txBox="1"/>
          <p:nvPr/>
        </p:nvSpPr>
        <p:spPr>
          <a:xfrm>
            <a:off x="960120" y="3310128"/>
            <a:ext cx="1280160" cy="22159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00" b="1">
                <a:solidFill>
                  <a:srgbClr val="D7EBFF"/>
                </a:solidFill>
                <a:latin typeface="Segoe UI" panose="020B0502040204020203" pitchFamily="34" charset="0"/>
              </a:rPr>
              <a:t>Sample input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5B82DB-F2F2-064A-065B-C1A08700D069}"/>
              </a:ext>
            </a:extLst>
          </p:cNvPr>
          <p:cNvSpPr txBox="1"/>
          <p:nvPr/>
        </p:nvSpPr>
        <p:spPr>
          <a:xfrm>
            <a:off x="960120" y="3675888"/>
            <a:ext cx="4800600" cy="131112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F3F2F1"/>
                </a:solidFill>
                <a:latin typeface="Consolas" panose="020B0609020204030204" pitchFamily="49" charset="0"/>
              </a:rPr>
              <a:t>DOM:</a:t>
            </a:r>
          </a:p>
          <a:p>
            <a:r>
              <a:rPr lang="en-US" sz="920">
                <a:solidFill>
                  <a:srgbClr val="F3F2F1"/>
                </a:solidFill>
                <a:latin typeface="Consolas" panose="020B0609020204030204" pitchFamily="49" charset="0"/>
              </a:rPr>
              <a:t>&lt;button id='nav-1288-auth' data-eim-action='open-authorizations'&gt;...</a:t>
            </a:r>
          </a:p>
          <a:p>
            <a:r>
              <a:rPr lang="en-US" sz="920">
                <a:solidFill>
                  <a:srgbClr val="F3F2F1"/>
                </a:solidFill>
                <a:latin typeface="Consolas" panose="020B0609020204030204" pitchFamily="49" charset="0"/>
              </a:rPr>
              <a:t>&lt;input id='member-search-1288' data-eim-field='member-id' /&gt;</a:t>
            </a:r>
          </a:p>
          <a:p>
            <a:r>
              <a:rPr lang="en-US" sz="920">
                <a:solidFill>
                  <a:srgbClr val="F3F2F1"/>
                </a:solidFill>
                <a:latin typeface="Consolas" panose="020B0609020204030204" pitchFamily="49" charset="0"/>
              </a:rPr>
              <a:t>&lt;button id='submit-review-1288' data-eim-action='complete-nurse-review'&gt;...</a:t>
            </a:r>
          </a:p>
          <a:p>
            <a:endParaRPr lang="en-US" sz="920">
              <a:solidFill>
                <a:srgbClr val="F3F2F1"/>
              </a:solidFill>
              <a:latin typeface="Consolas" panose="020B0609020204030204" pitchFamily="49" charset="0"/>
            </a:endParaRPr>
          </a:p>
          <a:p>
            <a:r>
              <a:rPr lang="en-US" sz="920">
                <a:solidFill>
                  <a:srgbClr val="F3F2F1"/>
                </a:solidFill>
                <a:latin typeface="Consolas" panose="020B0609020204030204" pitchFamily="49" charset="0"/>
              </a:rPr>
              <a:t>Instruction:</a:t>
            </a:r>
          </a:p>
          <a:p>
            <a:r>
              <a:rPr lang="en-US" sz="920">
                <a:solidFill>
                  <a:srgbClr val="F3F2F1"/>
                </a:solidFill>
                <a:latin typeface="Consolas" panose="020B0609020204030204" pitchFamily="49" charset="0"/>
              </a:rPr>
              <a:t>Open authorization PA-2000109 for member M10000077 and complete nurse review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BDD8034-1020-0A06-71CF-C37A1BC5FC92}"/>
              </a:ext>
            </a:extLst>
          </p:cNvPr>
          <p:cNvSpPr/>
          <p:nvPr/>
        </p:nvSpPr>
        <p:spPr>
          <a:xfrm>
            <a:off x="6419088" y="3063240"/>
            <a:ext cx="5047488" cy="2651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404935-A7E7-558B-D0D1-6E29CE17E640}"/>
              </a:ext>
            </a:extLst>
          </p:cNvPr>
          <p:cNvSpPr txBox="1"/>
          <p:nvPr/>
        </p:nvSpPr>
        <p:spPr>
          <a:xfrm>
            <a:off x="6693408" y="3310128"/>
            <a:ext cx="1828800" cy="22159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00" b="1">
                <a:solidFill>
                  <a:srgbClr val="107C10"/>
                </a:solidFill>
                <a:latin typeface="Segoe UI" panose="020B0502040204020203" pitchFamily="34" charset="0"/>
              </a:rPr>
              <a:t>Gold assistant output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7ABCDB-B1CF-7104-5845-EEF906A6DFEF}"/>
              </a:ext>
            </a:extLst>
          </p:cNvPr>
          <p:cNvSpPr txBox="1"/>
          <p:nvPr/>
        </p:nvSpPr>
        <p:spPr>
          <a:xfrm>
            <a:off x="6693408" y="3675888"/>
            <a:ext cx="4434840" cy="136037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    "actions": [</a:t>
            </a:r>
          </a:p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        {"type":"click", "selector":"[data-eim-action='open-authorizations']"},</a:t>
            </a:r>
          </a:p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        {"type":"type", "selector":"[data-eim-field='member-id']", "value":"M10000077"},</a:t>
            </a:r>
          </a:p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        {"type":"click", "selector":"[data-eim-action='complete-nurse-review']"}</a:t>
            </a:r>
          </a:p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    ]</a:t>
            </a:r>
          </a:p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B020116-EE27-3C33-C88E-1C92C35DB2DD}"/>
              </a:ext>
            </a:extLst>
          </p:cNvPr>
          <p:cNvSpPr/>
          <p:nvPr/>
        </p:nvSpPr>
        <p:spPr>
          <a:xfrm>
            <a:off x="2148840" y="5870448"/>
            <a:ext cx="7863840" cy="347472"/>
          </a:xfrm>
          <a:prstGeom prst="roundRect">
            <a:avLst/>
          </a:prstGeom>
          <a:solidFill>
            <a:srgbClr val="FFF4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396FBE-294A-D4A1-961A-6EB9EEC390F2}"/>
              </a:ext>
            </a:extLst>
          </p:cNvPr>
          <p:cNvSpPr txBox="1"/>
          <p:nvPr/>
        </p:nvSpPr>
        <p:spPr>
          <a:xfrm>
            <a:off x="2359152" y="5980176"/>
            <a:ext cx="7443216" cy="17235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80" b="1">
                <a:solidFill>
                  <a:srgbClr val="8A4B00"/>
                </a:solidFill>
                <a:latin typeface="Segoe UI" panose="020B0502040204020203" pitchFamily="34" charset="0"/>
              </a:rPr>
              <a:t>Why this data: teach stable selectors, exact JSON, workflow order, and reusable browser actions - not medical facts.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0188B1-C358-99BE-8C9A-5C3098B66E67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08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9924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2D175E-CF38-378C-76E1-52D523A956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4055C7-D162-A249-7755-08EF05F11B43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A0CBF9-9324-0007-4A2B-0E872D3E7E34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Technical resources leveraged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CEE9E8-AF21-50EF-6FCA-8C97CAC7637D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A934FA-C479-0E45-3195-27305E98DF57}"/>
              </a:ext>
            </a:extLst>
          </p:cNvPr>
          <p:cNvSpPr txBox="1"/>
          <p:nvPr/>
        </p:nvSpPr>
        <p:spPr>
          <a:xfrm>
            <a:off x="594360" y="1225296"/>
            <a:ext cx="9052560" cy="4278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70">
                <a:solidFill>
                  <a:srgbClr val="605E5C"/>
                </a:solidFill>
                <a:latin typeface="Aptos" panose="020B0004020202020204" pitchFamily="34" charset="0"/>
              </a:rPr>
              <a:t>Foundry catalog assets plus AzureML SDK resources powered the demo. Gemma was not available through this serverless fine-tuning path, so training ran on AzureML managed A100 compute.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AA8E2B-B7A5-C908-3853-ED8849380024}"/>
              </a:ext>
            </a:extLst>
          </p:cNvPr>
          <p:cNvSpPr/>
          <p:nvPr/>
        </p:nvSpPr>
        <p:spPr>
          <a:xfrm>
            <a:off x="713232" y="1755648"/>
            <a:ext cx="1965960" cy="1005840"/>
          </a:xfrm>
          <a:prstGeom prst="roundRect">
            <a:avLst/>
          </a:prstGeom>
          <a:solidFill>
            <a:srgbClr val="D7E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6466FC-DC1C-427E-3960-E9CB61378252}"/>
              </a:ext>
            </a:extLst>
          </p:cNvPr>
          <p:cNvSpPr txBox="1"/>
          <p:nvPr/>
        </p:nvSpPr>
        <p:spPr>
          <a:xfrm>
            <a:off x="914400" y="2029968"/>
            <a:ext cx="1536192" cy="37548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004578"/>
                </a:solidFill>
                <a:latin typeface="Segoe UI" panose="020B0502040204020203" pitchFamily="34" charset="0"/>
              </a:rPr>
              <a:t>Foundry / AML catalog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79C6F5-18D2-EE77-A3AF-A5C742DE2EFA}"/>
              </a:ext>
            </a:extLst>
          </p:cNvPr>
          <p:cNvSpPr txBox="1"/>
          <p:nvPr/>
        </p:nvSpPr>
        <p:spPr>
          <a:xfrm>
            <a:off x="960120" y="2359152"/>
            <a:ext cx="1444752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>
                <a:solidFill>
                  <a:srgbClr val="605E5C"/>
                </a:solidFill>
                <a:latin typeface="Segoe UI" panose="020B0502040204020203" pitchFamily="34" charset="0"/>
              </a:rPr>
              <a:t>Gemma base model asset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229B731-A004-9E16-1929-17B6A09A0ED1}"/>
              </a:ext>
            </a:extLst>
          </p:cNvPr>
          <p:cNvSpPr/>
          <p:nvPr/>
        </p:nvSpPr>
        <p:spPr>
          <a:xfrm>
            <a:off x="3182112" y="1755648"/>
            <a:ext cx="1965960" cy="1005840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F9E905-61AA-A9F9-21EA-FFD0C20A1312}"/>
              </a:ext>
            </a:extLst>
          </p:cNvPr>
          <p:cNvSpPr txBox="1"/>
          <p:nvPr/>
        </p:nvSpPr>
        <p:spPr>
          <a:xfrm>
            <a:off x="3456432" y="2029968"/>
            <a:ext cx="1371600" cy="37548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107C10"/>
                </a:solidFill>
                <a:latin typeface="Segoe UI" panose="020B0502040204020203" pitchFamily="34" charset="0"/>
              </a:rPr>
              <a:t>AzureML workspace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AD0445-EC9D-E306-291D-F15C8DA28894}"/>
              </a:ext>
            </a:extLst>
          </p:cNvPr>
          <p:cNvSpPr txBox="1"/>
          <p:nvPr/>
        </p:nvSpPr>
        <p:spPr>
          <a:xfrm>
            <a:off x="3474720" y="2359152"/>
            <a:ext cx="1371600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>
                <a:solidFill>
                  <a:srgbClr val="605E5C"/>
                </a:solidFill>
                <a:latin typeface="Segoe UI" panose="020B0502040204020203" pitchFamily="34" charset="0"/>
              </a:rPr>
              <a:t>jobs, data, models, lineage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DCC58C9-FB3D-8102-E470-43253760B7D6}"/>
              </a:ext>
            </a:extLst>
          </p:cNvPr>
          <p:cNvSpPr/>
          <p:nvPr/>
        </p:nvSpPr>
        <p:spPr>
          <a:xfrm>
            <a:off x="5650992" y="1755648"/>
            <a:ext cx="1965960" cy="1005840"/>
          </a:xfrm>
          <a:prstGeom prst="roundRect">
            <a:avLst/>
          </a:prstGeom>
          <a:solidFill>
            <a:srgbClr val="EDE7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FF1EB8-E4E7-D902-8644-85D328C803E3}"/>
              </a:ext>
            </a:extLst>
          </p:cNvPr>
          <p:cNvSpPr txBox="1"/>
          <p:nvPr/>
        </p:nvSpPr>
        <p:spPr>
          <a:xfrm>
            <a:off x="6062472" y="2029968"/>
            <a:ext cx="1051560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5C2D91"/>
                </a:solidFill>
                <a:latin typeface="Segoe UI" panose="020B0502040204020203" pitchFamily="34" charset="0"/>
              </a:rPr>
              <a:t>A100 compute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939F1A-53AE-6E9D-0F70-D9639DB1F9F5}"/>
              </a:ext>
            </a:extLst>
          </p:cNvPr>
          <p:cNvSpPr txBox="1"/>
          <p:nvPr/>
        </p:nvSpPr>
        <p:spPr>
          <a:xfrm>
            <a:off x="5870448" y="2359152"/>
            <a:ext cx="1508760" cy="15081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740">
                <a:solidFill>
                  <a:srgbClr val="605E5C"/>
                </a:solidFill>
                <a:latin typeface="Segoe UI" panose="020B0502040204020203" pitchFamily="34" charset="0"/>
              </a:rPr>
              <a:t>Standard_NC24ads_A100_v4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6789D16-D520-9680-7DE9-5F10CA7A911F}"/>
              </a:ext>
            </a:extLst>
          </p:cNvPr>
          <p:cNvSpPr/>
          <p:nvPr/>
        </p:nvSpPr>
        <p:spPr>
          <a:xfrm>
            <a:off x="8119872" y="1755648"/>
            <a:ext cx="1965960" cy="1005840"/>
          </a:xfrm>
          <a:prstGeom prst="roundRect">
            <a:avLst/>
          </a:prstGeom>
          <a:solidFill>
            <a:srgbClr val="FFF4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BDCC9D-AC7E-8422-6BB4-56C9C4B3FDBD}"/>
              </a:ext>
            </a:extLst>
          </p:cNvPr>
          <p:cNvSpPr txBox="1"/>
          <p:nvPr/>
        </p:nvSpPr>
        <p:spPr>
          <a:xfrm>
            <a:off x="8641080" y="2029968"/>
            <a:ext cx="914400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8A4B00"/>
                </a:solidFill>
                <a:latin typeface="Segoe UI" panose="020B0502040204020203" pitchFamily="34" charset="0"/>
              </a:rPr>
              <a:t>Key Vault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A78F57-85EF-0B70-AD76-BE5554599C8B}"/>
              </a:ext>
            </a:extLst>
          </p:cNvPr>
          <p:cNvSpPr txBox="1"/>
          <p:nvPr/>
        </p:nvSpPr>
        <p:spPr>
          <a:xfrm>
            <a:off x="8549640" y="2359152"/>
            <a:ext cx="1051560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>
                <a:solidFill>
                  <a:srgbClr val="605E5C"/>
                </a:solidFill>
                <a:latin typeface="Segoe UI" panose="020B0502040204020203" pitchFamily="34" charset="0"/>
              </a:rPr>
              <a:t>HF token / secrets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DCDECFF-69BB-AA63-980F-257D5128783A}"/>
              </a:ext>
            </a:extLst>
          </p:cNvPr>
          <p:cNvCxnSpPr/>
          <p:nvPr/>
        </p:nvCxnSpPr>
        <p:spPr>
          <a:xfrm>
            <a:off x="2697480" y="2258568"/>
            <a:ext cx="457200" cy="0"/>
          </a:xfrm>
          <a:prstGeom prst="line">
            <a:avLst/>
          </a:prstGeom>
          <a:ln w="317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A49E15-8FED-E7FB-2383-3BA6EF7E00EA}"/>
              </a:ext>
            </a:extLst>
          </p:cNvPr>
          <p:cNvCxnSpPr/>
          <p:nvPr/>
        </p:nvCxnSpPr>
        <p:spPr>
          <a:xfrm>
            <a:off x="5166360" y="2258568"/>
            <a:ext cx="457200" cy="0"/>
          </a:xfrm>
          <a:prstGeom prst="line">
            <a:avLst/>
          </a:prstGeom>
          <a:ln w="3175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026986E-9002-DA5E-3B27-E3B73A76DBA7}"/>
              </a:ext>
            </a:extLst>
          </p:cNvPr>
          <p:cNvCxnSpPr/>
          <p:nvPr/>
        </p:nvCxnSpPr>
        <p:spPr>
          <a:xfrm>
            <a:off x="7635240" y="2258568"/>
            <a:ext cx="457200" cy="0"/>
          </a:xfrm>
          <a:prstGeom prst="line">
            <a:avLst/>
          </a:prstGeom>
          <a:ln w="31750">
            <a:solidFill>
              <a:srgbClr val="5C2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E6CF461-8793-8A48-566F-82E279404FA3}"/>
              </a:ext>
            </a:extLst>
          </p:cNvPr>
          <p:cNvSpPr/>
          <p:nvPr/>
        </p:nvSpPr>
        <p:spPr>
          <a:xfrm>
            <a:off x="1115568" y="3520440"/>
            <a:ext cx="9509760" cy="20299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E2201C-B938-8B12-5EAA-38AC345479B6}"/>
              </a:ext>
            </a:extLst>
          </p:cNvPr>
          <p:cNvSpPr txBox="1"/>
          <p:nvPr/>
        </p:nvSpPr>
        <p:spPr>
          <a:xfrm>
            <a:off x="1417320" y="3822192"/>
            <a:ext cx="2560320" cy="2523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 b="1">
                <a:solidFill>
                  <a:srgbClr val="201F1E"/>
                </a:solidFill>
                <a:latin typeface="Segoe UI" panose="020B0502040204020203" pitchFamily="34" charset="0"/>
              </a:rPr>
              <a:t>What the SDK scripts did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0B51AD-72C1-C237-C9AB-945A75CE47D6}"/>
              </a:ext>
            </a:extLst>
          </p:cNvPr>
          <p:cNvSpPr txBox="1"/>
          <p:nvPr/>
        </p:nvSpPr>
        <p:spPr>
          <a:xfrm>
            <a:off x="1444752" y="4315968"/>
            <a:ext cx="201168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it-IT" sz="920" b="1">
                <a:solidFill>
                  <a:srgbClr val="004578"/>
                </a:solidFill>
                <a:latin typeface="Consolas" panose="020B0609020204030204" pitchFamily="49" charset="0"/>
              </a:rPr>
              <a:t>src/02_prepare_data.py</a:t>
            </a:r>
            <a:endParaRPr lang="en-US" sz="920" b="1">
              <a:solidFill>
                <a:srgbClr val="004578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44B0FB-BB94-D32C-D8E0-B038BE35279D}"/>
              </a:ext>
            </a:extLst>
          </p:cNvPr>
          <p:cNvSpPr txBox="1"/>
          <p:nvPr/>
        </p:nvSpPr>
        <p:spPr>
          <a:xfrm>
            <a:off x="3429000" y="4297680"/>
            <a:ext cx="621792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Registered synthetic train/validation data as an AML asset.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89FE71-534E-958F-21ED-DC2850886C1D}"/>
              </a:ext>
            </a:extLst>
          </p:cNvPr>
          <p:cNvSpPr txBox="1"/>
          <p:nvPr/>
        </p:nvSpPr>
        <p:spPr>
          <a:xfrm>
            <a:off x="1444752" y="4663440"/>
            <a:ext cx="21031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 b="1">
                <a:solidFill>
                  <a:srgbClr val="004578"/>
                </a:solidFill>
                <a:latin typeface="Consolas" panose="020B0609020204030204" pitchFamily="49" charset="0"/>
              </a:rPr>
              <a:t>src/03_submit_training_job.py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0D689C-8A5B-1C9D-7C67-78B2E0D737AE}"/>
              </a:ext>
            </a:extLst>
          </p:cNvPr>
          <p:cNvSpPr txBox="1"/>
          <p:nvPr/>
        </p:nvSpPr>
        <p:spPr>
          <a:xfrm>
            <a:off x="3429000" y="4645152"/>
            <a:ext cx="635508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Submitted a command job to A100 compute with custom CUDA/Transformers/TRL environment.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6B98C0-450B-D5EB-5BD3-ECAE57D2F503}"/>
              </a:ext>
            </a:extLst>
          </p:cNvPr>
          <p:cNvSpPr txBox="1"/>
          <p:nvPr/>
        </p:nvSpPr>
        <p:spPr>
          <a:xfrm>
            <a:off x="1444752" y="5010912"/>
            <a:ext cx="2267712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 b="1">
                <a:solidFill>
                  <a:srgbClr val="004578"/>
                </a:solidFill>
                <a:latin typeface="Consolas" panose="020B0609020204030204" pitchFamily="49" charset="0"/>
              </a:rPr>
              <a:t>src/04_register_and_deploy.py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C11CD0-7EBB-CBCD-14B7-53C5CA881F47}"/>
              </a:ext>
            </a:extLst>
          </p:cNvPr>
          <p:cNvSpPr txBox="1"/>
          <p:nvPr/>
        </p:nvSpPr>
        <p:spPr>
          <a:xfrm>
            <a:off x="3429000" y="4992624"/>
            <a:ext cx="612648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Registered adapter, packaged base+LoRA, and deployed a managed online endpoint.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5E0514-E940-765E-978D-E79B8F36C22C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09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6079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BAD3820-892F-4D09-512B-84411096564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72C8A-49BE-E727-A5BA-876D60F3A5B9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F80590-6347-DDCF-A7E9-34960F71550A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Fine-tuning details: what trained on the A100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248C4B-1AB7-26CF-AA0D-154DD6075BC3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A3960A-A70E-D5BB-76C9-A5B278B2517C}"/>
              </a:ext>
            </a:extLst>
          </p:cNvPr>
          <p:cNvSpPr txBox="1"/>
          <p:nvPr/>
        </p:nvSpPr>
        <p:spPr>
          <a:xfrm>
            <a:off x="594360" y="1143000"/>
            <a:ext cx="8046720" cy="44319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20">
                <a:solidFill>
                  <a:srgbClr val="605E5C"/>
                </a:solidFill>
                <a:latin typeface="Aptos" panose="020B0004020202020204" pitchFamily="34" charset="0"/>
              </a:rPr>
              <a:t>The job runs inside AzureML. The laptop only submits and monitors; the GPU node loads the model, applies LoRA, trains, and writes artifacts.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01F6963-A3E9-F397-4592-6C5258E6B3EE}"/>
              </a:ext>
            </a:extLst>
          </p:cNvPr>
          <p:cNvSpPr/>
          <p:nvPr/>
        </p:nvSpPr>
        <p:spPr>
          <a:xfrm>
            <a:off x="713232" y="1773936"/>
            <a:ext cx="2834640" cy="41605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8591CD-FC7A-D729-E0EF-B7DCB7E5C510}"/>
              </a:ext>
            </a:extLst>
          </p:cNvPr>
          <p:cNvSpPr txBox="1"/>
          <p:nvPr/>
        </p:nvSpPr>
        <p:spPr>
          <a:xfrm>
            <a:off x="987552" y="2057400"/>
            <a:ext cx="146304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004578"/>
                </a:solidFill>
                <a:latin typeface="Segoe UI" panose="020B0502040204020203" pitchFamily="34" charset="0"/>
              </a:rPr>
              <a:t>Model load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47E6BE-7DA3-F988-330A-732C35CEDF57}"/>
              </a:ext>
            </a:extLst>
          </p:cNvPr>
          <p:cNvSpPr txBox="1"/>
          <p:nvPr/>
        </p:nvSpPr>
        <p:spPr>
          <a:xfrm>
            <a:off x="987552" y="2578608"/>
            <a:ext cx="2011680" cy="76328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Gemma 4B-class SLM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AzureML catalog mount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bf16 on GPU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scaled dot-product attention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349533F-9237-F862-1C85-E06F90EE7E3C}"/>
              </a:ext>
            </a:extLst>
          </p:cNvPr>
          <p:cNvSpPr/>
          <p:nvPr/>
        </p:nvSpPr>
        <p:spPr>
          <a:xfrm>
            <a:off x="3767328" y="1773936"/>
            <a:ext cx="2834640" cy="41605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EE2308-717A-F695-B473-D63595D3255A}"/>
              </a:ext>
            </a:extLst>
          </p:cNvPr>
          <p:cNvSpPr txBox="1"/>
          <p:nvPr/>
        </p:nvSpPr>
        <p:spPr>
          <a:xfrm>
            <a:off x="4041648" y="2057400"/>
            <a:ext cx="146304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5C2D91"/>
                </a:solidFill>
                <a:latin typeface="Segoe UI" panose="020B0502040204020203" pitchFamily="34" charset="0"/>
              </a:rPr>
              <a:t>LoRA config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E9BE88-A6D1-885D-A491-23C2ED971C45}"/>
              </a:ext>
            </a:extLst>
          </p:cNvPr>
          <p:cNvSpPr txBox="1"/>
          <p:nvPr/>
        </p:nvSpPr>
        <p:spPr>
          <a:xfrm>
            <a:off x="4041648" y="2578608"/>
            <a:ext cx="2057400" cy="94487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Rank 32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Alpha 64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Dropout 0.05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Target: q/k/v/o + MLP projections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40BCDB0-71D3-F452-D03D-E50B75121E9F}"/>
              </a:ext>
            </a:extLst>
          </p:cNvPr>
          <p:cNvSpPr/>
          <p:nvPr/>
        </p:nvSpPr>
        <p:spPr>
          <a:xfrm>
            <a:off x="6812280" y="1773936"/>
            <a:ext cx="2697481" cy="41605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2927F1-770A-BCAE-9473-1FE06CBCF93C}"/>
              </a:ext>
            </a:extLst>
          </p:cNvPr>
          <p:cNvSpPr txBox="1"/>
          <p:nvPr/>
        </p:nvSpPr>
        <p:spPr>
          <a:xfrm>
            <a:off x="7086600" y="2057400"/>
            <a:ext cx="123444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107C10"/>
                </a:solidFill>
                <a:latin typeface="Segoe UI" panose="020B0502040204020203" pitchFamily="34" charset="0"/>
              </a:rPr>
              <a:t>Trainer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AB75D0-F9B5-31AD-A924-74DBC096C807}"/>
              </a:ext>
            </a:extLst>
          </p:cNvPr>
          <p:cNvSpPr txBox="1"/>
          <p:nvPr/>
        </p:nvSpPr>
        <p:spPr>
          <a:xfrm>
            <a:off x="7086600" y="2578608"/>
            <a:ext cx="1828800" cy="94487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TRL SFTTrainer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chat template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8 epochs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batch 2 x grad accum 4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cosine LR schedule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D69DA47-64EB-9DBA-B500-5CF4B2314EF0}"/>
              </a:ext>
            </a:extLst>
          </p:cNvPr>
          <p:cNvSpPr/>
          <p:nvPr/>
        </p:nvSpPr>
        <p:spPr>
          <a:xfrm>
            <a:off x="9738360" y="1773936"/>
            <a:ext cx="1691640" cy="4160520"/>
          </a:xfrm>
          <a:prstGeom prst="roundRect">
            <a:avLst/>
          </a:prstGeom>
          <a:solidFill>
            <a:srgbClr val="25242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564A34-5666-366F-54C2-794274B3BFFB}"/>
              </a:ext>
            </a:extLst>
          </p:cNvPr>
          <p:cNvSpPr txBox="1"/>
          <p:nvPr/>
        </p:nvSpPr>
        <p:spPr>
          <a:xfrm>
            <a:off x="10104120" y="2057400"/>
            <a:ext cx="91440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Segoe UI" panose="020B0502040204020203" pitchFamily="34" charset="0"/>
              </a:rPr>
              <a:t>Output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6798C3-1D04-3304-A1D6-DBC7945A87E9}"/>
              </a:ext>
            </a:extLst>
          </p:cNvPr>
          <p:cNvSpPr txBox="1"/>
          <p:nvPr/>
        </p:nvSpPr>
        <p:spPr>
          <a:xfrm>
            <a:off x="9948672" y="2706624"/>
            <a:ext cx="1252728" cy="70173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80" b="1">
                <a:solidFill>
                  <a:srgbClr val="D7EBFF"/>
                </a:solidFill>
                <a:latin typeface="Aptos" panose="020B0004020202020204" pitchFamily="34" charset="0"/>
              </a:rPr>
              <a:t>LoRA adapter</a:t>
            </a:r>
          </a:p>
          <a:p>
            <a:pPr algn="ctr"/>
            <a:r>
              <a:rPr lang="en-US" sz="1080" b="1">
                <a:solidFill>
                  <a:srgbClr val="D7EBFF"/>
                </a:solidFill>
                <a:latin typeface="Aptos" panose="020B0004020202020204" pitchFamily="34" charset="0"/>
              </a:rPr>
              <a:t>metadata</a:t>
            </a:r>
          </a:p>
          <a:p>
            <a:pPr algn="ctr"/>
            <a:r>
              <a:rPr lang="en-US" sz="1080" b="1">
                <a:solidFill>
                  <a:srgbClr val="D7EBFF"/>
                </a:solidFill>
                <a:latin typeface="Aptos" panose="020B0004020202020204" pitchFamily="34" charset="0"/>
              </a:rPr>
              <a:t>registered model</a:t>
            </a:r>
          </a:p>
          <a:p>
            <a:pPr algn="ctr"/>
            <a:r>
              <a:rPr lang="en-US" sz="1080" b="1">
                <a:solidFill>
                  <a:srgbClr val="D7EBFF"/>
                </a:solidFill>
                <a:latin typeface="Aptos" panose="020B0004020202020204" pitchFamily="34" charset="0"/>
              </a:rPr>
              <a:t>deploy package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D34884-667A-4A32-3F8C-EA6D797143D1}"/>
              </a:ext>
            </a:extLst>
          </p:cNvPr>
          <p:cNvCxnSpPr/>
          <p:nvPr/>
        </p:nvCxnSpPr>
        <p:spPr>
          <a:xfrm>
            <a:off x="3566160" y="3749040"/>
            <a:ext cx="164592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12C611F-5A7D-4288-9509-DA0AEB8B0617}"/>
              </a:ext>
            </a:extLst>
          </p:cNvPr>
          <p:cNvCxnSpPr/>
          <p:nvPr/>
        </p:nvCxnSpPr>
        <p:spPr>
          <a:xfrm>
            <a:off x="6620256" y="3749040"/>
            <a:ext cx="164592" cy="0"/>
          </a:xfrm>
          <a:prstGeom prst="line">
            <a:avLst/>
          </a:prstGeom>
          <a:ln w="25400">
            <a:solidFill>
              <a:srgbClr val="5C2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5E9242E-C1DE-D37B-F8FF-4A2B31CA5E80}"/>
              </a:ext>
            </a:extLst>
          </p:cNvPr>
          <p:cNvCxnSpPr/>
          <p:nvPr/>
        </p:nvCxnSpPr>
        <p:spPr>
          <a:xfrm>
            <a:off x="9528048" y="3749040"/>
            <a:ext cx="182880" cy="0"/>
          </a:xfrm>
          <a:prstGeom prst="line">
            <a:avLst/>
          </a:prstGeom>
          <a:ln w="2540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9C63943-A3B3-62CC-E763-93589018830D}"/>
              </a:ext>
            </a:extLst>
          </p:cNvPr>
          <p:cNvSpPr/>
          <p:nvPr/>
        </p:nvSpPr>
        <p:spPr>
          <a:xfrm>
            <a:off x="1261872" y="6181344"/>
            <a:ext cx="9646920" cy="256032"/>
          </a:xfrm>
          <a:prstGeom prst="roundRect">
            <a:avLst/>
          </a:prstGeom>
          <a:solidFill>
            <a:srgbClr val="D7E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5990BD-3D2A-6C98-67BD-5EA820A01AB5}"/>
              </a:ext>
            </a:extLst>
          </p:cNvPr>
          <p:cNvSpPr txBox="1"/>
          <p:nvPr/>
        </p:nvSpPr>
        <p:spPr>
          <a:xfrm>
            <a:off x="1417320" y="6263640"/>
            <a:ext cx="9326880" cy="1569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780" b="1">
                <a:solidFill>
                  <a:srgbClr val="004578"/>
                </a:solidFill>
                <a:latin typeface="Segoe UI" panose="020B0502040204020203" pitchFamily="34" charset="0"/>
              </a:rPr>
              <a:t>Memory shape: base weights ~8GB, LoRA trainable params small, total fits comfortably on a single A100 80GB.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91AFCF-5E93-B7D8-D29E-92D3DBF0A6E9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10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0259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9B5C24E-C29F-F179-961F-F994CF38C58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15B841-87A6-2FB6-DFE2-E91C6B142D11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FCDEFA-2D57-456E-A2A2-90BA4660E263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Fine-tuning in code: what actually changes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70CE8E-5EE8-B5EC-CDCC-F7D9B0895CBE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27A2F-5838-6632-6156-06B4F40F1EF2}"/>
              </a:ext>
            </a:extLst>
          </p:cNvPr>
          <p:cNvSpPr txBox="1"/>
          <p:nvPr/>
        </p:nvSpPr>
        <p:spPr>
          <a:xfrm>
            <a:off x="594360" y="1133856"/>
            <a:ext cx="8778240" cy="44319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20">
                <a:solidFill>
                  <a:srgbClr val="605E5C"/>
                </a:solidFill>
                <a:latin typeface="Aptos" panose="020B0004020202020204" pitchFamily="34" charset="0"/>
              </a:rPr>
              <a:t>The base Gemma weights stay mostly frozen. The training job learns a small LoRA adapter that changes how the model responds to this browser-action contract.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46A8B1B-0EC3-724E-0544-4A256B6AC6EA}"/>
              </a:ext>
            </a:extLst>
          </p:cNvPr>
          <p:cNvSpPr/>
          <p:nvPr/>
        </p:nvSpPr>
        <p:spPr>
          <a:xfrm>
            <a:off x="713232" y="1874520"/>
            <a:ext cx="2487168" cy="3566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E80E16C-1E59-9159-452D-AD2B80E17004}"/>
              </a:ext>
            </a:extLst>
          </p:cNvPr>
          <p:cNvSpPr/>
          <p:nvPr/>
        </p:nvSpPr>
        <p:spPr>
          <a:xfrm>
            <a:off x="877824" y="2084832"/>
            <a:ext cx="438912" cy="438912"/>
          </a:xfrm>
          <a:prstGeom prst="ellipse">
            <a:avLst/>
          </a:prstGeom>
          <a:solidFill>
            <a:srgbClr val="0078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C91497-72C3-DF3F-F452-54201876450B}"/>
              </a:ext>
            </a:extLst>
          </p:cNvPr>
          <p:cNvSpPr txBox="1"/>
          <p:nvPr/>
        </p:nvSpPr>
        <p:spPr>
          <a:xfrm>
            <a:off x="891540" y="2157984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64F904-EEAE-9EFA-F8E0-9DD850B9901E}"/>
              </a:ext>
            </a:extLst>
          </p:cNvPr>
          <p:cNvSpPr txBox="1"/>
          <p:nvPr/>
        </p:nvSpPr>
        <p:spPr>
          <a:xfrm>
            <a:off x="1426464" y="2084832"/>
            <a:ext cx="1536192" cy="22929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50" b="1">
                <a:solidFill>
                  <a:srgbClr val="201F1E"/>
                </a:solidFill>
                <a:latin typeface="Segoe UI" panose="020B0502040204020203" pitchFamily="34" charset="0"/>
              </a:rPr>
              <a:t>Load base Gemma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27E280-444A-98AC-5DDD-BF9E3260FB9C}"/>
              </a:ext>
            </a:extLst>
          </p:cNvPr>
          <p:cNvSpPr txBox="1"/>
          <p:nvPr/>
        </p:nvSpPr>
        <p:spPr>
          <a:xfrm>
            <a:off x="932688" y="2651760"/>
            <a:ext cx="2011680" cy="35086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20">
                <a:solidFill>
                  <a:srgbClr val="605E5C"/>
                </a:solidFill>
                <a:latin typeface="Segoe UI" panose="020B0502040204020203" pitchFamily="34" charset="0"/>
              </a:rPr>
              <a:t>Transformers loads the catalog model in bf16 on the A100.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4E27EC3-D4A4-8AA8-1B75-EF2E3158350D}"/>
              </a:ext>
            </a:extLst>
          </p:cNvPr>
          <p:cNvSpPr/>
          <p:nvPr/>
        </p:nvSpPr>
        <p:spPr>
          <a:xfrm>
            <a:off x="932688" y="3703320"/>
            <a:ext cx="1993392" cy="566928"/>
          </a:xfrm>
          <a:prstGeom prst="roundRect">
            <a:avLst/>
          </a:prstGeom>
          <a:solidFill>
            <a:srgbClr val="11100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DED24-4470-1989-35F4-C2AEC81C929A}"/>
              </a:ext>
            </a:extLst>
          </p:cNvPr>
          <p:cNvSpPr txBox="1"/>
          <p:nvPr/>
        </p:nvSpPr>
        <p:spPr>
          <a:xfrm>
            <a:off x="1033272" y="3913632"/>
            <a:ext cx="1810512" cy="1554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770">
                <a:solidFill>
                  <a:srgbClr val="D7EBFF"/>
                </a:solidFill>
                <a:latin typeface="Consolas" panose="020B0609020204030204" pitchFamily="49" charset="0"/>
              </a:rPr>
              <a:t>from_pretrained(...)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5A1EF84-EAA9-7B90-A19E-DC290FC857E9}"/>
              </a:ext>
            </a:extLst>
          </p:cNvPr>
          <p:cNvCxnSpPr/>
          <p:nvPr/>
        </p:nvCxnSpPr>
        <p:spPr>
          <a:xfrm>
            <a:off x="3218688" y="3657600"/>
            <a:ext cx="237744" cy="0"/>
          </a:xfrm>
          <a:prstGeom prst="line">
            <a:avLst/>
          </a:prstGeom>
          <a:ln w="317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0C6CC0-CF7C-F5DC-9A11-84DCF2091F4C}"/>
              </a:ext>
            </a:extLst>
          </p:cNvPr>
          <p:cNvSpPr/>
          <p:nvPr/>
        </p:nvSpPr>
        <p:spPr>
          <a:xfrm>
            <a:off x="3502152" y="1874520"/>
            <a:ext cx="2487168" cy="3566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4FE6B05-702C-5FBE-5EAA-60B095A6048B}"/>
              </a:ext>
            </a:extLst>
          </p:cNvPr>
          <p:cNvSpPr/>
          <p:nvPr/>
        </p:nvSpPr>
        <p:spPr>
          <a:xfrm>
            <a:off x="3666744" y="2084832"/>
            <a:ext cx="438912" cy="438912"/>
          </a:xfrm>
          <a:prstGeom prst="ellipse">
            <a:avLst/>
          </a:prstGeom>
          <a:solidFill>
            <a:srgbClr val="5C2D9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22E15E-F344-599B-3307-9B2DD96A7F51}"/>
              </a:ext>
            </a:extLst>
          </p:cNvPr>
          <p:cNvSpPr txBox="1"/>
          <p:nvPr/>
        </p:nvSpPr>
        <p:spPr>
          <a:xfrm>
            <a:off x="3680460" y="2157984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EAA9FB-6A96-0445-0EDA-C9CB1373648C}"/>
              </a:ext>
            </a:extLst>
          </p:cNvPr>
          <p:cNvSpPr txBox="1"/>
          <p:nvPr/>
        </p:nvSpPr>
        <p:spPr>
          <a:xfrm>
            <a:off x="4215384" y="2084832"/>
            <a:ext cx="1536192" cy="22929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50" b="1">
                <a:solidFill>
                  <a:srgbClr val="201F1E"/>
                </a:solidFill>
                <a:latin typeface="Segoe UI" panose="020B0502040204020203" pitchFamily="34" charset="0"/>
              </a:rPr>
              <a:t>Inject LoRA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B64EE8-4BA2-1244-56C7-9835050DF873}"/>
              </a:ext>
            </a:extLst>
          </p:cNvPr>
          <p:cNvSpPr txBox="1"/>
          <p:nvPr/>
        </p:nvSpPr>
        <p:spPr>
          <a:xfrm>
            <a:off x="3721608" y="2651760"/>
            <a:ext cx="2011680" cy="50783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20">
                <a:solidFill>
                  <a:srgbClr val="605E5C"/>
                </a:solidFill>
                <a:latin typeface="Segoe UI" panose="020B0502040204020203" pitchFamily="34" charset="0"/>
              </a:rPr>
              <a:t>PEFT adds trainable adapter matrices to attention and MLP projections.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A3AB708-5A30-D9E0-A2FF-1EA1E3786E70}"/>
              </a:ext>
            </a:extLst>
          </p:cNvPr>
          <p:cNvSpPr/>
          <p:nvPr/>
        </p:nvSpPr>
        <p:spPr>
          <a:xfrm>
            <a:off x="3721608" y="3703320"/>
            <a:ext cx="1993392" cy="566928"/>
          </a:xfrm>
          <a:prstGeom prst="roundRect">
            <a:avLst/>
          </a:prstGeom>
          <a:solidFill>
            <a:srgbClr val="11100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5681D3-47DD-DF10-145C-DB5790A44477}"/>
              </a:ext>
            </a:extLst>
          </p:cNvPr>
          <p:cNvSpPr txBox="1"/>
          <p:nvPr/>
        </p:nvSpPr>
        <p:spPr>
          <a:xfrm>
            <a:off x="3822192" y="3913632"/>
            <a:ext cx="1810512" cy="1554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pt-BR" sz="770">
                <a:solidFill>
                  <a:srgbClr val="D7EBFF"/>
                </a:solidFill>
                <a:latin typeface="Consolas" panose="020B0609020204030204" pitchFamily="49" charset="0"/>
              </a:rPr>
              <a:t>LoraConfig(r=32, alpha=64)</a:t>
            </a:r>
            <a:endParaRPr lang="en-US" sz="770">
              <a:solidFill>
                <a:srgbClr val="D7EBFF"/>
              </a:solidFill>
              <a:latin typeface="Consolas" panose="020B0609020204030204" pitchFamily="49" charset="0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DCEBE23-6C88-2D87-7B4F-19ACD5B1AF13}"/>
              </a:ext>
            </a:extLst>
          </p:cNvPr>
          <p:cNvCxnSpPr/>
          <p:nvPr/>
        </p:nvCxnSpPr>
        <p:spPr>
          <a:xfrm>
            <a:off x="6007608" y="3657600"/>
            <a:ext cx="237744" cy="0"/>
          </a:xfrm>
          <a:prstGeom prst="line">
            <a:avLst/>
          </a:prstGeom>
          <a:ln w="31750">
            <a:solidFill>
              <a:srgbClr val="5C2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A282FB8-A77D-AC6C-7CB6-070865A9CEFA}"/>
              </a:ext>
            </a:extLst>
          </p:cNvPr>
          <p:cNvSpPr/>
          <p:nvPr/>
        </p:nvSpPr>
        <p:spPr>
          <a:xfrm>
            <a:off x="6291072" y="1874520"/>
            <a:ext cx="2487167" cy="3566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20F9F01-D2B5-3BBE-323E-BADF879D886E}"/>
              </a:ext>
            </a:extLst>
          </p:cNvPr>
          <p:cNvSpPr/>
          <p:nvPr/>
        </p:nvSpPr>
        <p:spPr>
          <a:xfrm>
            <a:off x="6455664" y="2084832"/>
            <a:ext cx="438912" cy="43891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B7CEF8-2F2F-E53D-D427-07B10A882A3A}"/>
              </a:ext>
            </a:extLst>
          </p:cNvPr>
          <p:cNvSpPr txBox="1"/>
          <p:nvPr/>
        </p:nvSpPr>
        <p:spPr>
          <a:xfrm>
            <a:off x="6469380" y="2157984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D46360-BB87-DD72-7BC6-A3013CE60CB2}"/>
              </a:ext>
            </a:extLst>
          </p:cNvPr>
          <p:cNvSpPr txBox="1"/>
          <p:nvPr/>
        </p:nvSpPr>
        <p:spPr>
          <a:xfrm>
            <a:off x="7004304" y="2084832"/>
            <a:ext cx="1536192" cy="22929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50" b="1">
                <a:solidFill>
                  <a:srgbClr val="201F1E"/>
                </a:solidFill>
                <a:latin typeface="Segoe UI" panose="020B0502040204020203" pitchFamily="34" charset="0"/>
              </a:rPr>
              <a:t>Run SFT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CDC0F1-A2E0-3D40-D55F-9C5C6B1B4F7D}"/>
              </a:ext>
            </a:extLst>
          </p:cNvPr>
          <p:cNvSpPr txBox="1"/>
          <p:nvPr/>
        </p:nvSpPr>
        <p:spPr>
          <a:xfrm>
            <a:off x="6510528" y="2651760"/>
            <a:ext cx="2011680" cy="50783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20">
                <a:solidFill>
                  <a:srgbClr val="605E5C"/>
                </a:solidFill>
                <a:latin typeface="Segoe UI" panose="020B0502040204020203" pitchFamily="34" charset="0"/>
              </a:rPr>
              <a:t>TRL SFTTrainer learns from messages: system, user DOM, assistant JSON.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CD84674-E448-DF9A-05C7-3A07DE2EFBCB}"/>
              </a:ext>
            </a:extLst>
          </p:cNvPr>
          <p:cNvSpPr/>
          <p:nvPr/>
        </p:nvSpPr>
        <p:spPr>
          <a:xfrm>
            <a:off x="6510528" y="3703320"/>
            <a:ext cx="1993392" cy="566928"/>
          </a:xfrm>
          <a:prstGeom prst="roundRect">
            <a:avLst/>
          </a:prstGeom>
          <a:solidFill>
            <a:srgbClr val="11100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8F2643-85BD-979C-C860-64A9D7867FAB}"/>
              </a:ext>
            </a:extLst>
          </p:cNvPr>
          <p:cNvSpPr txBox="1"/>
          <p:nvPr/>
        </p:nvSpPr>
        <p:spPr>
          <a:xfrm>
            <a:off x="6611112" y="3913632"/>
            <a:ext cx="1810512" cy="1554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770">
                <a:solidFill>
                  <a:srgbClr val="D7EBFF"/>
                </a:solidFill>
                <a:latin typeface="Consolas" panose="020B0609020204030204" pitchFamily="49" charset="0"/>
              </a:rPr>
              <a:t>trainer = SFTTrainer(...)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96F3F75-D0AE-AF3D-77AF-C612BD61E452}"/>
              </a:ext>
            </a:extLst>
          </p:cNvPr>
          <p:cNvCxnSpPr/>
          <p:nvPr/>
        </p:nvCxnSpPr>
        <p:spPr>
          <a:xfrm>
            <a:off x="8796528" y="3657600"/>
            <a:ext cx="237744" cy="0"/>
          </a:xfrm>
          <a:prstGeom prst="line">
            <a:avLst/>
          </a:prstGeom>
          <a:ln w="3175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4296737-9D03-FAEA-DA5F-26ED578DA45F}"/>
              </a:ext>
            </a:extLst>
          </p:cNvPr>
          <p:cNvSpPr/>
          <p:nvPr/>
        </p:nvSpPr>
        <p:spPr>
          <a:xfrm>
            <a:off x="9079992" y="1874520"/>
            <a:ext cx="2487169" cy="3566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C39E235-1A79-53D9-7C90-BE001F2DFFAF}"/>
              </a:ext>
            </a:extLst>
          </p:cNvPr>
          <p:cNvSpPr/>
          <p:nvPr/>
        </p:nvSpPr>
        <p:spPr>
          <a:xfrm>
            <a:off x="9244584" y="2084832"/>
            <a:ext cx="438912" cy="438912"/>
          </a:xfrm>
          <a:prstGeom prst="ellipse">
            <a:avLst/>
          </a:prstGeom>
          <a:solidFill>
            <a:srgbClr val="FF8C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BCDD22-F24E-1BAB-D82D-9CFD72E3942F}"/>
              </a:ext>
            </a:extLst>
          </p:cNvPr>
          <p:cNvSpPr txBox="1"/>
          <p:nvPr/>
        </p:nvSpPr>
        <p:spPr>
          <a:xfrm>
            <a:off x="9258300" y="2157984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C042A72-3CC5-0FD4-54E6-EF0FB30FDEF5}"/>
              </a:ext>
            </a:extLst>
          </p:cNvPr>
          <p:cNvSpPr txBox="1"/>
          <p:nvPr/>
        </p:nvSpPr>
        <p:spPr>
          <a:xfrm>
            <a:off x="9793224" y="2084832"/>
            <a:ext cx="1536192" cy="22929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50" b="1">
                <a:solidFill>
                  <a:srgbClr val="201F1E"/>
                </a:solidFill>
                <a:latin typeface="Segoe UI" panose="020B0502040204020203" pitchFamily="34" charset="0"/>
              </a:rPr>
              <a:t>Save adapter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CE7129-C57C-8651-52ED-6F8594AE59AB}"/>
              </a:ext>
            </a:extLst>
          </p:cNvPr>
          <p:cNvSpPr txBox="1"/>
          <p:nvPr/>
        </p:nvSpPr>
        <p:spPr>
          <a:xfrm>
            <a:off x="9299448" y="2651760"/>
            <a:ext cx="2011680" cy="50783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20">
                <a:solidFill>
                  <a:srgbClr val="605E5C"/>
                </a:solidFill>
                <a:latin typeface="Segoe UI" panose="020B0502040204020203" pitchFamily="34" charset="0"/>
              </a:rPr>
              <a:t>Only the adapter and metadata are saved, then registered and deployed.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CBEC898D-FB1D-AC1E-4501-056D722EBD62}"/>
              </a:ext>
            </a:extLst>
          </p:cNvPr>
          <p:cNvSpPr/>
          <p:nvPr/>
        </p:nvSpPr>
        <p:spPr>
          <a:xfrm>
            <a:off x="9299448" y="3703320"/>
            <a:ext cx="1993392" cy="566928"/>
          </a:xfrm>
          <a:prstGeom prst="roundRect">
            <a:avLst/>
          </a:prstGeom>
          <a:solidFill>
            <a:srgbClr val="11100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DF9103-FFEC-40AA-2915-D08809A767F7}"/>
              </a:ext>
            </a:extLst>
          </p:cNvPr>
          <p:cNvSpPr txBox="1"/>
          <p:nvPr/>
        </p:nvSpPr>
        <p:spPr>
          <a:xfrm>
            <a:off x="9400032" y="3913632"/>
            <a:ext cx="1810512" cy="1554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770">
                <a:solidFill>
                  <a:srgbClr val="D7EBFF"/>
                </a:solidFill>
                <a:latin typeface="Consolas" panose="020B0609020204030204" pitchFamily="49" charset="0"/>
              </a:rPr>
              <a:t>save_pretrained(adapter)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87468A0-2D7C-EC31-2A09-8D30EA29A389}"/>
              </a:ext>
            </a:extLst>
          </p:cNvPr>
          <p:cNvSpPr/>
          <p:nvPr/>
        </p:nvSpPr>
        <p:spPr>
          <a:xfrm>
            <a:off x="960120" y="5806440"/>
            <a:ext cx="10195560" cy="438912"/>
          </a:xfrm>
          <a:prstGeom prst="roundRect">
            <a:avLst/>
          </a:prstGeom>
          <a:solidFill>
            <a:srgbClr val="D7E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BEABC5-6934-F52E-ADC8-ECC73338EFBD}"/>
              </a:ext>
            </a:extLst>
          </p:cNvPr>
          <p:cNvSpPr txBox="1"/>
          <p:nvPr/>
        </p:nvSpPr>
        <p:spPr>
          <a:xfrm>
            <a:off x="1170432" y="5943600"/>
            <a:ext cx="978408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20" b="1">
                <a:solidFill>
                  <a:srgbClr val="004578"/>
                </a:solidFill>
                <a:latin typeface="Segoe UI" panose="020B0502040204020203" pitchFamily="34" charset="0"/>
              </a:rPr>
              <a:t>Plain English: we do not overwrite Gemma. We attach a small learned adapter that nudges it toward stable selectors, strict JSON, and correct workflow order.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570057-5DF9-CC33-254D-8B2AF17D7995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11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86435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0A1614-5D0F-F3E0-8811-A824A7813D3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AEF14A-7EDD-B93E-221F-40C4C280EDF0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71C3A7-D3D6-22E3-6CCA-DBCD66343546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Live serving: one endpoint, two behaviors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398702-1078-3954-63CD-9BA7E41A4740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DE7671-98D8-F361-91C4-E428CA010572}"/>
              </a:ext>
            </a:extLst>
          </p:cNvPr>
          <p:cNvSpPr txBox="1"/>
          <p:nvPr/>
        </p:nvSpPr>
        <p:spPr>
          <a:xfrm>
            <a:off x="594360" y="1143000"/>
            <a:ext cx="8412480" cy="44319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20">
                <a:solidFill>
                  <a:srgbClr val="605E5C"/>
                </a:solidFill>
                <a:latin typeface="Aptos" panose="020B0004020202020204" pitchFamily="34" charset="0"/>
              </a:rPr>
              <a:t>The Streamlit demo calls the same AzureML endpoint twice: base behavior with the adapter disabled, and fine-tuned behavior with the adapter enabled.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B15281A-DF58-433F-23C3-FB1509C22A16}"/>
              </a:ext>
            </a:extLst>
          </p:cNvPr>
          <p:cNvSpPr/>
          <p:nvPr/>
        </p:nvSpPr>
        <p:spPr>
          <a:xfrm>
            <a:off x="749808" y="1874520"/>
            <a:ext cx="3063240" cy="3520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737EC1-14D8-EAC5-F051-8FA73492DD57}"/>
              </a:ext>
            </a:extLst>
          </p:cNvPr>
          <p:cNvSpPr txBox="1"/>
          <p:nvPr/>
        </p:nvSpPr>
        <p:spPr>
          <a:xfrm>
            <a:off x="1042416" y="2167128"/>
            <a:ext cx="118872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004578"/>
                </a:solidFill>
                <a:latin typeface="Segoe UI" panose="020B0502040204020203" pitchFamily="34" charset="0"/>
              </a:rPr>
              <a:t>Base call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A2C673-1055-CAFC-6805-1428727BE6B6}"/>
              </a:ext>
            </a:extLst>
          </p:cNvPr>
          <p:cNvSpPr txBox="1"/>
          <p:nvPr/>
        </p:nvSpPr>
        <p:spPr>
          <a:xfrm>
            <a:off x="1042416" y="2615184"/>
            <a:ext cx="1737360" cy="19851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50" b="1">
                <a:solidFill>
                  <a:srgbClr val="004578"/>
                </a:solidFill>
                <a:latin typeface="Consolas" panose="020B0609020204030204" pitchFamily="49" charset="0"/>
              </a:rPr>
              <a:t>use_adapter=false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9DA9BD-F0EF-C908-20EE-8BB7E128E6D4}"/>
              </a:ext>
            </a:extLst>
          </p:cNvPr>
          <p:cNvSpPr txBox="1"/>
          <p:nvPr/>
        </p:nvSpPr>
        <p:spPr>
          <a:xfrm>
            <a:off x="1042416" y="3054096"/>
            <a:ext cx="2240280" cy="61401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50">
                <a:solidFill>
                  <a:srgbClr val="605E5C"/>
                </a:solidFill>
                <a:latin typeface="Aptos" panose="020B0004020202020204" pitchFamily="34" charset="0"/>
              </a:rPr>
              <a:t>Good general reasoning, but often brittle selectors and incomplete workflow steps.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27F1B16-C758-3F66-988A-21DBF26A1C6C}"/>
              </a:ext>
            </a:extLst>
          </p:cNvPr>
          <p:cNvSpPr/>
          <p:nvPr/>
        </p:nvSpPr>
        <p:spPr>
          <a:xfrm>
            <a:off x="4526280" y="1691640"/>
            <a:ext cx="3063240" cy="3886200"/>
          </a:xfrm>
          <a:prstGeom prst="roundRect">
            <a:avLst/>
          </a:prstGeom>
          <a:solidFill>
            <a:srgbClr val="25242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2CC3D5-6124-F59F-9B88-7FDFF669EF70}"/>
              </a:ext>
            </a:extLst>
          </p:cNvPr>
          <p:cNvSpPr txBox="1"/>
          <p:nvPr/>
        </p:nvSpPr>
        <p:spPr>
          <a:xfrm>
            <a:off x="4892040" y="2029968"/>
            <a:ext cx="2331720" cy="49859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AzureML managed online endpoint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5E90B0F-5F90-FFAF-F8EC-1DAB8E44EBF7}"/>
              </a:ext>
            </a:extLst>
          </p:cNvPr>
          <p:cNvSpPr/>
          <p:nvPr/>
        </p:nvSpPr>
        <p:spPr>
          <a:xfrm>
            <a:off x="5257800" y="2788920"/>
            <a:ext cx="713232" cy="713232"/>
          </a:xfrm>
          <a:prstGeom prst="ellipse">
            <a:avLst/>
          </a:prstGeom>
          <a:solidFill>
            <a:srgbClr val="0078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51541E2-4429-63FE-A507-021A1BE18D78}"/>
              </a:ext>
            </a:extLst>
          </p:cNvPr>
          <p:cNvSpPr/>
          <p:nvPr/>
        </p:nvSpPr>
        <p:spPr>
          <a:xfrm>
            <a:off x="6144768" y="2788920"/>
            <a:ext cx="713232" cy="713232"/>
          </a:xfrm>
          <a:prstGeom prst="ellipse">
            <a:avLst/>
          </a:prstGeom>
          <a:solidFill>
            <a:srgbClr val="5C2D9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3F6DB00-624B-068F-74FD-52E94B2194E7}"/>
              </a:ext>
            </a:extLst>
          </p:cNvPr>
          <p:cNvSpPr/>
          <p:nvPr/>
        </p:nvSpPr>
        <p:spPr>
          <a:xfrm>
            <a:off x="6565392" y="3529584"/>
            <a:ext cx="713232" cy="71323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7B5003D-8F62-7AA0-2717-88F0356DC504}"/>
              </a:ext>
            </a:extLst>
          </p:cNvPr>
          <p:cNvSpPr/>
          <p:nvPr/>
        </p:nvSpPr>
        <p:spPr>
          <a:xfrm>
            <a:off x="5669280" y="3529584"/>
            <a:ext cx="713232" cy="713232"/>
          </a:xfrm>
          <a:prstGeom prst="ellipse">
            <a:avLst/>
          </a:prstGeom>
          <a:solidFill>
            <a:srgbClr val="0383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6CF9AC-AC65-30C3-DA10-0E50095621EB}"/>
              </a:ext>
            </a:extLst>
          </p:cNvPr>
          <p:cNvSpPr txBox="1"/>
          <p:nvPr/>
        </p:nvSpPr>
        <p:spPr>
          <a:xfrm>
            <a:off x="5641848" y="3182112"/>
            <a:ext cx="1051560" cy="49859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base +</a:t>
            </a:r>
          </a:p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LoRA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E0A08A-8A2C-74BC-379A-3D58CA5D1168}"/>
              </a:ext>
            </a:extLst>
          </p:cNvPr>
          <p:cNvSpPr txBox="1"/>
          <p:nvPr/>
        </p:nvSpPr>
        <p:spPr>
          <a:xfrm>
            <a:off x="4983480" y="4498848"/>
            <a:ext cx="2240280" cy="46166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20">
                <a:solidFill>
                  <a:srgbClr val="D7EBFF"/>
                </a:solidFill>
                <a:latin typeface="Segoe UI" panose="020B0502040204020203" pitchFamily="34" charset="0"/>
              </a:rPr>
              <a:t>Deployment: ftadapter</a:t>
            </a:r>
          </a:p>
          <a:p>
            <a:pPr algn="ctr"/>
            <a:r>
              <a:rPr lang="en-US" sz="920">
                <a:solidFill>
                  <a:srgbClr val="D7EBFF"/>
                </a:solidFill>
                <a:latin typeface="Segoe UI" panose="020B0502040204020203" pitchFamily="34" charset="0"/>
              </a:rPr>
              <a:t>SKU: Standard_NC24ads_A100_v4</a:t>
            </a:r>
          </a:p>
          <a:p>
            <a:pPr algn="ctr"/>
            <a:r>
              <a:rPr lang="en-US" sz="920">
                <a:solidFill>
                  <a:srgbClr val="D7EBFF"/>
                </a:solidFill>
                <a:latin typeface="Segoe UI" panose="020B0502040204020203" pitchFamily="34" charset="0"/>
              </a:rPr>
              <a:t>Mode: catalog base + LoRA adapter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6462240-1BF4-59DD-6510-0B1175A76EA7}"/>
              </a:ext>
            </a:extLst>
          </p:cNvPr>
          <p:cNvSpPr/>
          <p:nvPr/>
        </p:nvSpPr>
        <p:spPr>
          <a:xfrm>
            <a:off x="8321040" y="1874520"/>
            <a:ext cx="3063240" cy="3520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A433C8-C87F-8F4B-75F5-079ABE009B05}"/>
              </a:ext>
            </a:extLst>
          </p:cNvPr>
          <p:cNvSpPr txBox="1"/>
          <p:nvPr/>
        </p:nvSpPr>
        <p:spPr>
          <a:xfrm>
            <a:off x="8613648" y="2167128"/>
            <a:ext cx="160020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107C10"/>
                </a:solidFill>
                <a:latin typeface="Segoe UI" panose="020B0502040204020203" pitchFamily="34" charset="0"/>
              </a:rPr>
              <a:t>Fine-tuned call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EF1964-BAA0-C322-A28B-4CA3B6A816EB}"/>
              </a:ext>
            </a:extLst>
          </p:cNvPr>
          <p:cNvSpPr txBox="1"/>
          <p:nvPr/>
        </p:nvSpPr>
        <p:spPr>
          <a:xfrm>
            <a:off x="8613648" y="2615184"/>
            <a:ext cx="1737360" cy="19851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50" b="1">
                <a:solidFill>
                  <a:srgbClr val="107C10"/>
                </a:solidFill>
                <a:latin typeface="Consolas" panose="020B0609020204030204" pitchFamily="49" charset="0"/>
              </a:rPr>
              <a:t>use_adapter=true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5506D8-40DF-79E9-8569-245E1AF91025}"/>
              </a:ext>
            </a:extLst>
          </p:cNvPr>
          <p:cNvSpPr txBox="1"/>
          <p:nvPr/>
        </p:nvSpPr>
        <p:spPr>
          <a:xfrm>
            <a:off x="8613648" y="3054096"/>
            <a:ext cx="2240280" cy="61401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50">
                <a:solidFill>
                  <a:srgbClr val="605E5C"/>
                </a:solidFill>
                <a:latin typeface="Aptos" panose="020B0004020202020204" pitchFamily="34" charset="0"/>
              </a:rPr>
              <a:t>Learns the EIM contract: stable data-eim selectors, action order, and no prose.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F499578-DB2C-076C-3B82-39A182B0B11E}"/>
              </a:ext>
            </a:extLst>
          </p:cNvPr>
          <p:cNvCxnSpPr/>
          <p:nvPr/>
        </p:nvCxnSpPr>
        <p:spPr>
          <a:xfrm>
            <a:off x="3822192" y="3529584"/>
            <a:ext cx="658368" cy="0"/>
          </a:xfrm>
          <a:prstGeom prst="line">
            <a:avLst/>
          </a:prstGeom>
          <a:ln w="381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7B93264-ECF8-85CF-6578-B5C73CEF970F}"/>
              </a:ext>
            </a:extLst>
          </p:cNvPr>
          <p:cNvCxnSpPr/>
          <p:nvPr/>
        </p:nvCxnSpPr>
        <p:spPr>
          <a:xfrm>
            <a:off x="7607808" y="3529584"/>
            <a:ext cx="667512" cy="0"/>
          </a:xfrm>
          <a:prstGeom prst="line">
            <a:avLst/>
          </a:prstGeom>
          <a:ln w="3810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E41E0D6-BA90-EBAF-9D0E-C9950BC7B924}"/>
              </a:ext>
            </a:extLst>
          </p:cNvPr>
          <p:cNvSpPr/>
          <p:nvPr/>
        </p:nvSpPr>
        <p:spPr>
          <a:xfrm>
            <a:off x="1993392" y="5998464"/>
            <a:ext cx="8211312" cy="402336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CB488D-6E33-D70A-AA81-64C6DB9E838F}"/>
              </a:ext>
            </a:extLst>
          </p:cNvPr>
          <p:cNvSpPr txBox="1"/>
          <p:nvPr/>
        </p:nvSpPr>
        <p:spPr>
          <a:xfrm>
            <a:off x="2176272" y="6126480"/>
            <a:ext cx="7845552" cy="17235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80" b="1">
                <a:solidFill>
                  <a:srgbClr val="107C10"/>
                </a:solidFill>
                <a:latin typeface="Segoe UI" panose="020B0502040204020203" pitchFamily="34" charset="0"/>
              </a:rPr>
              <a:t>Cost posture: one A100 endpoint for the demo, delete immediately afterward to stop hourly billing.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7491DB-68AC-6D37-248A-FB05F18FD78C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12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9712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542E58-9714-8D88-1292-40D6EF1039F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42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0D244DD-05F2-B2D6-F0F7-496B3C643510}"/>
              </a:ext>
            </a:extLst>
          </p:cNvPr>
          <p:cNvSpPr/>
          <p:nvPr/>
        </p:nvSpPr>
        <p:spPr>
          <a:xfrm>
            <a:off x="-640080" y="4297680"/>
            <a:ext cx="2926080" cy="2926080"/>
          </a:xfrm>
          <a:prstGeom prst="ellipse">
            <a:avLst/>
          </a:prstGeom>
          <a:solidFill>
            <a:srgbClr val="0078D4">
              <a:alpha val="8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D31F0C0-E431-178D-2FC1-8950D6B8D5DA}"/>
              </a:ext>
            </a:extLst>
          </p:cNvPr>
          <p:cNvSpPr/>
          <p:nvPr/>
        </p:nvSpPr>
        <p:spPr>
          <a:xfrm>
            <a:off x="9875520" y="-868680"/>
            <a:ext cx="2743200" cy="2743200"/>
          </a:xfrm>
          <a:prstGeom prst="ellipse">
            <a:avLst/>
          </a:prstGeom>
          <a:solidFill>
            <a:srgbClr val="00B7C3">
              <a:alpha val="7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BDE8DC-4E35-0296-EF3C-26C18A4CCA90}"/>
              </a:ext>
            </a:extLst>
          </p:cNvPr>
          <p:cNvSpPr txBox="1"/>
          <p:nvPr/>
        </p:nvSpPr>
        <p:spPr>
          <a:xfrm>
            <a:off x="658368" y="658368"/>
            <a:ext cx="6766560" cy="99104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3100" b="1">
                <a:solidFill>
                  <a:srgbClr val="FFFFFF"/>
                </a:solidFill>
                <a:latin typeface="Aptos Display" panose="020B0004020202020204" pitchFamily="34" charset="0"/>
              </a:rPr>
              <a:t>How the fine-tuned model solves the problem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CB3D66-EC94-C43A-C8B4-0BE2EA26061C}"/>
              </a:ext>
            </a:extLst>
          </p:cNvPr>
          <p:cNvSpPr txBox="1"/>
          <p:nvPr/>
        </p:nvSpPr>
        <p:spPr>
          <a:xfrm>
            <a:off x="685800" y="1444752"/>
            <a:ext cx="5852160" cy="46782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>
                <a:solidFill>
                  <a:srgbClr val="D7EBFF"/>
                </a:solidFill>
                <a:latin typeface="Aptos" panose="020B0004020202020204" pitchFamily="34" charset="0"/>
              </a:rPr>
              <a:t>It turns the ask into a dependable workflow contract instead of a plausible web-action guess.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877420-23CB-42BA-B16A-70ACEE582A62}"/>
              </a:ext>
            </a:extLst>
          </p:cNvPr>
          <p:cNvSpPr/>
          <p:nvPr/>
        </p:nvSpPr>
        <p:spPr>
          <a:xfrm>
            <a:off x="804672" y="2240280"/>
            <a:ext cx="4754880" cy="1005840"/>
          </a:xfrm>
          <a:prstGeom prst="roundRect">
            <a:avLst/>
          </a:prstGeom>
          <a:solidFill>
            <a:srgbClr val="FFFFFF">
              <a:alpha val="9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3C97BEB-54F7-1868-FB74-31CB59CBB20E}"/>
              </a:ext>
            </a:extLst>
          </p:cNvPr>
          <p:cNvSpPr/>
          <p:nvPr/>
        </p:nvSpPr>
        <p:spPr>
          <a:xfrm>
            <a:off x="1005840" y="2468880"/>
            <a:ext cx="438912" cy="438912"/>
          </a:xfrm>
          <a:prstGeom prst="ellipse">
            <a:avLst/>
          </a:prstGeom>
          <a:solidFill>
            <a:srgbClr val="0078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A720BE-81E8-8366-C3F4-25E9EF397D8F}"/>
              </a:ext>
            </a:extLst>
          </p:cNvPr>
          <p:cNvSpPr txBox="1"/>
          <p:nvPr/>
        </p:nvSpPr>
        <p:spPr>
          <a:xfrm>
            <a:off x="1019556" y="2542032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2905DC-AC3C-173B-29C8-AAEF1B4562F8}"/>
              </a:ext>
            </a:extLst>
          </p:cNvPr>
          <p:cNvSpPr txBox="1"/>
          <p:nvPr/>
        </p:nvSpPr>
        <p:spPr>
          <a:xfrm>
            <a:off x="1609344" y="2404872"/>
            <a:ext cx="3566160" cy="24468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 b="1">
                <a:solidFill>
                  <a:srgbClr val="201F1E"/>
                </a:solidFill>
                <a:latin typeface="Segoe UI" panose="020B0502040204020203" pitchFamily="34" charset="0"/>
              </a:rPr>
              <a:t>Stable selectors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3C8ECE-3A3A-A214-61A0-1FFCB63B0FE1}"/>
              </a:ext>
            </a:extLst>
          </p:cNvPr>
          <p:cNvSpPr txBox="1"/>
          <p:nvPr/>
        </p:nvSpPr>
        <p:spPr>
          <a:xfrm>
            <a:off x="1609344" y="2715768"/>
            <a:ext cx="3566160" cy="17235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Uses [data-eim-*] contract selectors instead of generated IDs.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999CFD-8774-0C16-FA36-3B46C1B2DCA5}"/>
              </a:ext>
            </a:extLst>
          </p:cNvPr>
          <p:cNvSpPr/>
          <p:nvPr/>
        </p:nvSpPr>
        <p:spPr>
          <a:xfrm>
            <a:off x="6153912" y="2240280"/>
            <a:ext cx="4754880" cy="1005840"/>
          </a:xfrm>
          <a:prstGeom prst="roundRect">
            <a:avLst/>
          </a:prstGeom>
          <a:solidFill>
            <a:srgbClr val="FFFFFF">
              <a:alpha val="9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EC3F6E4-AA23-0A76-CA8C-E632076BA046}"/>
              </a:ext>
            </a:extLst>
          </p:cNvPr>
          <p:cNvSpPr/>
          <p:nvPr/>
        </p:nvSpPr>
        <p:spPr>
          <a:xfrm>
            <a:off x="6355080" y="2468880"/>
            <a:ext cx="438912" cy="438912"/>
          </a:xfrm>
          <a:prstGeom prst="ellipse">
            <a:avLst/>
          </a:prstGeom>
          <a:solidFill>
            <a:srgbClr val="0383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F8416-AA3F-6865-32E6-4E56905C83B4}"/>
              </a:ext>
            </a:extLst>
          </p:cNvPr>
          <p:cNvSpPr txBox="1"/>
          <p:nvPr/>
        </p:nvSpPr>
        <p:spPr>
          <a:xfrm>
            <a:off x="6368796" y="2542032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6C6059-052E-7202-0A23-DA4F2B0F381B}"/>
              </a:ext>
            </a:extLst>
          </p:cNvPr>
          <p:cNvSpPr txBox="1"/>
          <p:nvPr/>
        </p:nvSpPr>
        <p:spPr>
          <a:xfrm>
            <a:off x="6958584" y="2404872"/>
            <a:ext cx="3566160" cy="24468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 b="1">
                <a:solidFill>
                  <a:srgbClr val="201F1E"/>
                </a:solidFill>
                <a:latin typeface="Segoe UI" panose="020B0502040204020203" pitchFamily="34" charset="0"/>
              </a:rPr>
              <a:t>Workflow order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E1AEAE-59DD-F817-B692-3D19B667490D}"/>
              </a:ext>
            </a:extLst>
          </p:cNvPr>
          <p:cNvSpPr txBox="1"/>
          <p:nvPr/>
        </p:nvSpPr>
        <p:spPr>
          <a:xfrm>
            <a:off x="6958584" y="2715768"/>
            <a:ext cx="3566160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Opens the right workspace, fills fields, runs checks, submits in sequence.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38AD529-8953-B2FB-9D9B-07FF5CEA5E93}"/>
              </a:ext>
            </a:extLst>
          </p:cNvPr>
          <p:cNvSpPr/>
          <p:nvPr/>
        </p:nvSpPr>
        <p:spPr>
          <a:xfrm>
            <a:off x="804672" y="3657600"/>
            <a:ext cx="4754880" cy="1005840"/>
          </a:xfrm>
          <a:prstGeom prst="roundRect">
            <a:avLst/>
          </a:prstGeom>
          <a:solidFill>
            <a:srgbClr val="FFFFFF">
              <a:alpha val="9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5E57CB7-DA16-2D2C-6CBA-4AADB9976139}"/>
              </a:ext>
            </a:extLst>
          </p:cNvPr>
          <p:cNvSpPr/>
          <p:nvPr/>
        </p:nvSpPr>
        <p:spPr>
          <a:xfrm>
            <a:off x="1005840" y="3886200"/>
            <a:ext cx="438912" cy="43891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B65849-65D2-6FFF-2967-482C64166EB5}"/>
              </a:ext>
            </a:extLst>
          </p:cNvPr>
          <p:cNvSpPr txBox="1"/>
          <p:nvPr/>
        </p:nvSpPr>
        <p:spPr>
          <a:xfrm>
            <a:off x="1019556" y="3959352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32DBD9-F20A-D0DB-76EC-B412FB22C6A3}"/>
              </a:ext>
            </a:extLst>
          </p:cNvPr>
          <p:cNvSpPr txBox="1"/>
          <p:nvPr/>
        </p:nvSpPr>
        <p:spPr>
          <a:xfrm>
            <a:off x="1609344" y="3822192"/>
            <a:ext cx="3566160" cy="24468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 b="1">
                <a:solidFill>
                  <a:srgbClr val="201F1E"/>
                </a:solidFill>
                <a:latin typeface="Segoe UI" panose="020B0502040204020203" pitchFamily="34" charset="0"/>
              </a:rPr>
              <a:t>Machine-readable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DFC526-4CB6-C454-32AC-4BFC2FBCA5E2}"/>
              </a:ext>
            </a:extLst>
          </p:cNvPr>
          <p:cNvSpPr txBox="1"/>
          <p:nvPr/>
        </p:nvSpPr>
        <p:spPr>
          <a:xfrm>
            <a:off x="1609344" y="4133088"/>
            <a:ext cx="3566160" cy="17235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Returns JSON only, so downstream automation can parse and replay.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1EF04FA-3A6F-B5AF-D21D-5C2944040DBA}"/>
              </a:ext>
            </a:extLst>
          </p:cNvPr>
          <p:cNvSpPr/>
          <p:nvPr/>
        </p:nvSpPr>
        <p:spPr>
          <a:xfrm>
            <a:off x="6153912" y="3657600"/>
            <a:ext cx="4754880" cy="1005840"/>
          </a:xfrm>
          <a:prstGeom prst="roundRect">
            <a:avLst/>
          </a:prstGeom>
          <a:solidFill>
            <a:srgbClr val="FFFFFF">
              <a:alpha val="9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11BBEDA-9A4F-70B0-7283-56F0638AA585}"/>
              </a:ext>
            </a:extLst>
          </p:cNvPr>
          <p:cNvSpPr/>
          <p:nvPr/>
        </p:nvSpPr>
        <p:spPr>
          <a:xfrm>
            <a:off x="6355080" y="3886200"/>
            <a:ext cx="438912" cy="438912"/>
          </a:xfrm>
          <a:prstGeom prst="ellipse">
            <a:avLst/>
          </a:prstGeom>
          <a:solidFill>
            <a:srgbClr val="FF8C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398394-0110-287C-1E10-C00714A1CCFD}"/>
              </a:ext>
            </a:extLst>
          </p:cNvPr>
          <p:cNvSpPr txBox="1"/>
          <p:nvPr/>
        </p:nvSpPr>
        <p:spPr>
          <a:xfrm>
            <a:off x="6368796" y="3959352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E550B4-FD3E-B0F3-1C8D-C2E9F48A33A1}"/>
              </a:ext>
            </a:extLst>
          </p:cNvPr>
          <p:cNvSpPr txBox="1"/>
          <p:nvPr/>
        </p:nvSpPr>
        <p:spPr>
          <a:xfrm>
            <a:off x="6958584" y="3822192"/>
            <a:ext cx="3566160" cy="24468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 b="1">
                <a:solidFill>
                  <a:srgbClr val="201F1E"/>
                </a:solidFill>
                <a:latin typeface="Segoe UI" panose="020B0502040204020203" pitchFamily="34" charset="0"/>
              </a:rPr>
              <a:t>Governed path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7CF46F-4961-97D1-3F5C-A3FC8D0A2762}"/>
              </a:ext>
            </a:extLst>
          </p:cNvPr>
          <p:cNvSpPr txBox="1"/>
          <p:nvPr/>
        </p:nvSpPr>
        <p:spPr>
          <a:xfrm>
            <a:off x="6958584" y="4133088"/>
            <a:ext cx="3566160" cy="17235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Synthetic data, AzureML lineage, model registration, endpoint cleanup.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CB070B4-D3F9-F4EA-E4C9-864ACAE91B13}"/>
              </a:ext>
            </a:extLst>
          </p:cNvPr>
          <p:cNvSpPr/>
          <p:nvPr/>
        </p:nvSpPr>
        <p:spPr>
          <a:xfrm>
            <a:off x="1828800" y="5650992"/>
            <a:ext cx="8549640" cy="502920"/>
          </a:xfrm>
          <a:prstGeom prst="roundRect">
            <a:avLst/>
          </a:prstGeom>
          <a:solidFill>
            <a:srgbClr val="0045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B2EF36-CF57-7F3F-CA73-4F0CB2FC9639}"/>
              </a:ext>
            </a:extLst>
          </p:cNvPr>
          <p:cNvSpPr txBox="1"/>
          <p:nvPr/>
        </p:nvSpPr>
        <p:spPr>
          <a:xfrm>
            <a:off x="2029968" y="5833872"/>
            <a:ext cx="813816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50" b="1">
                <a:solidFill>
                  <a:srgbClr val="FFFFFF"/>
                </a:solidFill>
                <a:latin typeface="Segoe UI" panose="020B0502040204020203" pitchFamily="34" charset="0"/>
              </a:rPr>
              <a:t>Recommended next step: pick one real EIM flow, define graders, curate safe examples, rerun the same baseline -&gt; fine-tune -&gt; eval loop.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FDACD1-B77E-C56F-AA9C-686E02D306A9}"/>
              </a:ext>
            </a:extLst>
          </p:cNvPr>
          <p:cNvSpPr txBox="1"/>
          <p:nvPr/>
        </p:nvSpPr>
        <p:spPr>
          <a:xfrm>
            <a:off x="713232" y="6473952"/>
            <a:ext cx="292608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it-IT" sz="850">
                <a:solidFill>
                  <a:srgbClr val="C8C6C4"/>
                </a:solidFill>
                <a:latin typeface="Segoe UI" panose="020B0502040204020203" pitchFamily="34" charset="0"/>
              </a:rPr>
              <a:t>Microsoft AI + AzureML | June 2026</a:t>
            </a:r>
            <a:endParaRPr lang="en-US" sz="850">
              <a:solidFill>
                <a:srgbClr val="C8C6C4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9502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2986</Words>
  <Application>Microsoft Office PowerPoint</Application>
  <PresentationFormat>Custom</PresentationFormat>
  <Paragraphs>402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 Padhya</dc:creator>
  <cp:lastModifiedBy>Jay Padhya</cp:lastModifiedBy>
  <cp:revision>1</cp:revision>
  <dcterms:created xsi:type="dcterms:W3CDTF">2026-06-03T14:58:18Z</dcterms:created>
  <dcterms:modified xsi:type="dcterms:W3CDTF">2026-06-03T14:58:31Z</dcterms:modified>
</cp:coreProperties>
</file>