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28C343-BC75-4F6E-A599-D965041CA488}" v="28" dt="2026-06-02T19:39:32.6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818" autoAdjust="0"/>
  </p:normalViewPr>
  <p:slideViewPr>
    <p:cSldViewPr snapToGrid="0">
      <p:cViewPr varScale="1">
        <p:scale>
          <a:sx n="95" d="100"/>
          <a:sy n="95" d="100"/>
        </p:scale>
        <p:origin x="11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 Padhya" userId="99449f0b-447f-4fbb-878a-15ec063fa8cd" providerId="ADAL" clId="{E308DACC-A42A-4B27-BCD7-E287F1684823}"/>
    <pc:docChg chg="undo custSel modSld">
      <pc:chgData name="Jay Padhya" userId="99449f0b-447f-4fbb-878a-15ec063fa8cd" providerId="ADAL" clId="{E308DACC-A42A-4B27-BCD7-E287F1684823}" dt="2026-06-02T19:39:32.602" v="42" actId="478"/>
      <pc:docMkLst>
        <pc:docMk/>
      </pc:docMkLst>
      <pc:sldChg chg="delSp modSp mod">
        <pc:chgData name="Jay Padhya" userId="99449f0b-447f-4fbb-878a-15ec063fa8cd" providerId="ADAL" clId="{E308DACC-A42A-4B27-BCD7-E287F1684823}" dt="2026-06-02T19:38:13.254" v="29" actId="1076"/>
        <pc:sldMkLst>
          <pc:docMk/>
          <pc:sldMk cId="3213371304" sldId="256"/>
        </pc:sldMkLst>
        <pc:spChg chg="mod">
          <ac:chgData name="Jay Padhya" userId="99449f0b-447f-4fbb-878a-15ec063fa8cd" providerId="ADAL" clId="{E308DACC-A42A-4B27-BCD7-E287F1684823}" dt="2026-06-02T19:38:13.254" v="29" actId="1076"/>
          <ac:spMkLst>
            <pc:docMk/>
            <pc:sldMk cId="3213371304" sldId="256"/>
            <ac:spMk id="14" creationId="{074BAF8E-5F63-0FB1-C2FB-E4830B0B83E7}"/>
          </ac:spMkLst>
        </pc:spChg>
        <pc:spChg chg="mod">
          <ac:chgData name="Jay Padhya" userId="99449f0b-447f-4fbb-878a-15ec063fa8cd" providerId="ADAL" clId="{E308DACC-A42A-4B27-BCD7-E287F1684823}" dt="2026-06-02T19:38:13.254" v="29" actId="1076"/>
          <ac:spMkLst>
            <pc:docMk/>
            <pc:sldMk cId="3213371304" sldId="256"/>
            <ac:spMk id="16" creationId="{07A1B360-1B36-4461-AC02-83B6BBB2DB40}"/>
          </ac:spMkLst>
        </pc:spChg>
        <pc:spChg chg="mod">
          <ac:chgData name="Jay Padhya" userId="99449f0b-447f-4fbb-878a-15ec063fa8cd" providerId="ADAL" clId="{E308DACC-A42A-4B27-BCD7-E287F1684823}" dt="2026-06-02T19:38:13.254" v="29" actId="1076"/>
          <ac:spMkLst>
            <pc:docMk/>
            <pc:sldMk cId="3213371304" sldId="256"/>
            <ac:spMk id="18" creationId="{3679A38A-381E-C899-4A1F-BB7CC670D808}"/>
          </ac:spMkLst>
        </pc:spChg>
        <pc:spChg chg="mod">
          <ac:chgData name="Jay Padhya" userId="99449f0b-447f-4fbb-878a-15ec063fa8cd" providerId="ADAL" clId="{E308DACC-A42A-4B27-BCD7-E287F1684823}" dt="2026-06-02T19:38:13.254" v="29" actId="1076"/>
          <ac:spMkLst>
            <pc:docMk/>
            <pc:sldMk cId="3213371304" sldId="256"/>
            <ac:spMk id="19" creationId="{0542932D-AE2E-5FB7-EF12-EEC6E8B31FEC}"/>
          </ac:spMkLst>
        </pc:spChg>
        <pc:spChg chg="mod">
          <ac:chgData name="Jay Padhya" userId="99449f0b-447f-4fbb-878a-15ec063fa8cd" providerId="ADAL" clId="{E308DACC-A42A-4B27-BCD7-E287F1684823}" dt="2026-06-02T19:38:13.254" v="29" actId="1076"/>
          <ac:spMkLst>
            <pc:docMk/>
            <pc:sldMk cId="3213371304" sldId="256"/>
            <ac:spMk id="22" creationId="{C9EED369-ECB0-1794-E95D-DAAE0B1D3F6F}"/>
          </ac:spMkLst>
        </pc:spChg>
        <pc:spChg chg="del">
          <ac:chgData name="Jay Padhya" userId="99449f0b-447f-4fbb-878a-15ec063fa8cd" providerId="ADAL" clId="{E308DACC-A42A-4B27-BCD7-E287F1684823}" dt="2026-06-02T19:37:58.939" v="25" actId="478"/>
          <ac:spMkLst>
            <pc:docMk/>
            <pc:sldMk cId="3213371304" sldId="256"/>
            <ac:spMk id="26" creationId="{EBA109C4-7A4C-754D-5E0D-D64E62412E16}"/>
          </ac:spMkLst>
        </pc:spChg>
        <pc:cxnChg chg="mod">
          <ac:chgData name="Jay Padhya" userId="99449f0b-447f-4fbb-878a-15ec063fa8cd" providerId="ADAL" clId="{E308DACC-A42A-4B27-BCD7-E287F1684823}" dt="2026-06-02T19:38:13.254" v="29" actId="1076"/>
          <ac:cxnSpMkLst>
            <pc:docMk/>
            <pc:sldMk cId="3213371304" sldId="256"/>
            <ac:cxnSpMk id="24" creationId="{90964874-B8BF-09B9-15FE-71563094BD08}"/>
          </ac:cxnSpMkLst>
        </pc:cxnChg>
        <pc:cxnChg chg="mod">
          <ac:chgData name="Jay Padhya" userId="99449f0b-447f-4fbb-878a-15ec063fa8cd" providerId="ADAL" clId="{E308DACC-A42A-4B27-BCD7-E287F1684823}" dt="2026-06-02T19:38:13.254" v="29" actId="1076"/>
          <ac:cxnSpMkLst>
            <pc:docMk/>
            <pc:sldMk cId="3213371304" sldId="256"/>
            <ac:cxnSpMk id="25" creationId="{8A8D26E7-6C24-2E3E-92DF-06D674296E93}"/>
          </ac:cxnSpMkLst>
        </pc:cxnChg>
      </pc:sldChg>
      <pc:sldChg chg="delSp modSp mod">
        <pc:chgData name="Jay Padhya" userId="99449f0b-447f-4fbb-878a-15ec063fa8cd" providerId="ADAL" clId="{E308DACC-A42A-4B27-BCD7-E287F1684823}" dt="2026-06-02T19:38:43.505" v="30" actId="478"/>
        <pc:sldMkLst>
          <pc:docMk/>
          <pc:sldMk cId="4191963947" sldId="257"/>
        </pc:sldMkLst>
        <pc:spChg chg="mod">
          <ac:chgData name="Jay Padhya" userId="99449f0b-447f-4fbb-878a-15ec063fa8cd" providerId="ADAL" clId="{E308DACC-A42A-4B27-BCD7-E287F1684823}" dt="2026-06-02T17:17:37.713" v="2" actId="14100"/>
          <ac:spMkLst>
            <pc:docMk/>
            <pc:sldMk cId="4191963947" sldId="257"/>
            <ac:spMk id="4" creationId="{00EC5D6A-BD5B-7A00-251E-69C8475037EC}"/>
          </ac:spMkLst>
        </pc:spChg>
        <pc:spChg chg="del">
          <ac:chgData name="Jay Padhya" userId="99449f0b-447f-4fbb-878a-15ec063fa8cd" providerId="ADAL" clId="{E308DACC-A42A-4B27-BCD7-E287F1684823}" dt="2026-06-02T17:17:40.706" v="3" actId="478"/>
          <ac:spMkLst>
            <pc:docMk/>
            <pc:sldMk cId="4191963947" sldId="257"/>
            <ac:spMk id="5" creationId="{60FC441A-DCDC-AB8E-1AAD-A048F9B82437}"/>
          </ac:spMkLst>
        </pc:spChg>
        <pc:spChg chg="mod">
          <ac:chgData name="Jay Padhya" userId="99449f0b-447f-4fbb-878a-15ec063fa8cd" providerId="ADAL" clId="{E308DACC-A42A-4B27-BCD7-E287F1684823}" dt="2026-06-02T17:17:57.921" v="9" actId="20577"/>
          <ac:spMkLst>
            <pc:docMk/>
            <pc:sldMk cId="4191963947" sldId="257"/>
            <ac:spMk id="6" creationId="{65B5639F-85AC-CE3F-EFB5-1C8ADAFD2CDC}"/>
          </ac:spMkLst>
        </pc:spChg>
        <pc:spChg chg="del">
          <ac:chgData name="Jay Padhya" userId="99449f0b-447f-4fbb-878a-15ec063fa8cd" providerId="ADAL" clId="{E308DACC-A42A-4B27-BCD7-E287F1684823}" dt="2026-06-02T19:38:43.505" v="30" actId="478"/>
          <ac:spMkLst>
            <pc:docMk/>
            <pc:sldMk cId="4191963947" sldId="257"/>
            <ac:spMk id="37" creationId="{0D29D071-B71D-4677-CCED-F832C085A082}"/>
          </ac:spMkLst>
        </pc:spChg>
      </pc:sldChg>
      <pc:sldChg chg="delSp mod">
        <pc:chgData name="Jay Padhya" userId="99449f0b-447f-4fbb-878a-15ec063fa8cd" providerId="ADAL" clId="{E308DACC-A42A-4B27-BCD7-E287F1684823}" dt="2026-06-02T19:38:47.419" v="31" actId="478"/>
        <pc:sldMkLst>
          <pc:docMk/>
          <pc:sldMk cId="2980989318" sldId="258"/>
        </pc:sldMkLst>
        <pc:spChg chg="del">
          <ac:chgData name="Jay Padhya" userId="99449f0b-447f-4fbb-878a-15ec063fa8cd" providerId="ADAL" clId="{E308DACC-A42A-4B27-BCD7-E287F1684823}" dt="2026-06-02T19:38:47.419" v="31" actId="478"/>
          <ac:spMkLst>
            <pc:docMk/>
            <pc:sldMk cId="2980989318" sldId="258"/>
            <ac:spMk id="37" creationId="{2EF02ACA-3A96-8539-5A9C-8D995B027EA7}"/>
          </ac:spMkLst>
        </pc:spChg>
      </pc:sldChg>
      <pc:sldChg chg="delSp modSp mod">
        <pc:chgData name="Jay Padhya" userId="99449f0b-447f-4fbb-878a-15ec063fa8cd" providerId="ADAL" clId="{E308DACC-A42A-4B27-BCD7-E287F1684823}" dt="2026-06-02T19:38:49.793" v="32" actId="478"/>
        <pc:sldMkLst>
          <pc:docMk/>
          <pc:sldMk cId="1478307375" sldId="259"/>
        </pc:sldMkLst>
        <pc:spChg chg="mod">
          <ac:chgData name="Jay Padhya" userId="99449f0b-447f-4fbb-878a-15ec063fa8cd" providerId="ADAL" clId="{E308DACC-A42A-4B27-BCD7-E287F1684823}" dt="2026-06-02T17:18:19.773" v="11" actId="33524"/>
          <ac:spMkLst>
            <pc:docMk/>
            <pc:sldMk cId="1478307375" sldId="259"/>
            <ac:spMk id="6" creationId="{45EBE288-D07B-E819-BD35-956CBDA026BC}"/>
          </ac:spMkLst>
        </pc:spChg>
        <pc:spChg chg="mod">
          <ac:chgData name="Jay Padhya" userId="99449f0b-447f-4fbb-878a-15ec063fa8cd" providerId="ADAL" clId="{E308DACC-A42A-4B27-BCD7-E287F1684823}" dt="2026-06-02T17:18:24.768" v="12" actId="33524"/>
          <ac:spMkLst>
            <pc:docMk/>
            <pc:sldMk cId="1478307375" sldId="259"/>
            <ac:spMk id="11" creationId="{D6DFDA47-6F29-FE88-AC4C-266DC8382034}"/>
          </ac:spMkLst>
        </pc:spChg>
        <pc:spChg chg="del">
          <ac:chgData name="Jay Padhya" userId="99449f0b-447f-4fbb-878a-15ec063fa8cd" providerId="ADAL" clId="{E308DACC-A42A-4B27-BCD7-E287F1684823}" dt="2026-06-02T19:38:49.793" v="32" actId="478"/>
          <ac:spMkLst>
            <pc:docMk/>
            <pc:sldMk cId="1478307375" sldId="259"/>
            <ac:spMk id="61" creationId="{9A5B2EAC-0A86-B634-E76F-779A18524C4A}"/>
          </ac:spMkLst>
        </pc:spChg>
      </pc:sldChg>
      <pc:sldChg chg="delSp modSp mod">
        <pc:chgData name="Jay Padhya" userId="99449f0b-447f-4fbb-878a-15ec063fa8cd" providerId="ADAL" clId="{E308DACC-A42A-4B27-BCD7-E287F1684823}" dt="2026-06-02T19:38:55.689" v="34" actId="1076"/>
        <pc:sldMkLst>
          <pc:docMk/>
          <pc:sldMk cId="1105497129" sldId="260"/>
        </pc:sldMkLst>
        <pc:spChg chg="mod">
          <ac:chgData name="Jay Padhya" userId="99449f0b-447f-4fbb-878a-15ec063fa8cd" providerId="ADAL" clId="{E308DACC-A42A-4B27-BCD7-E287F1684823}" dt="2026-06-02T19:38:55.689" v="34" actId="1076"/>
          <ac:spMkLst>
            <pc:docMk/>
            <pc:sldMk cId="1105497129" sldId="260"/>
            <ac:spMk id="35" creationId="{00134BC3-701B-4D4D-DE9B-85B6D3ED58E2}"/>
          </ac:spMkLst>
        </pc:spChg>
        <pc:spChg chg="del">
          <ac:chgData name="Jay Padhya" userId="99449f0b-447f-4fbb-878a-15ec063fa8cd" providerId="ADAL" clId="{E308DACC-A42A-4B27-BCD7-E287F1684823}" dt="2026-06-02T19:38:53.388" v="33" actId="478"/>
          <ac:spMkLst>
            <pc:docMk/>
            <pc:sldMk cId="1105497129" sldId="260"/>
            <ac:spMk id="36" creationId="{ECC87C25-CEDF-5062-18AC-7419AB4081E7}"/>
          </ac:spMkLst>
        </pc:spChg>
      </pc:sldChg>
      <pc:sldChg chg="delSp modSp mod">
        <pc:chgData name="Jay Padhya" userId="99449f0b-447f-4fbb-878a-15ec063fa8cd" providerId="ADAL" clId="{E308DACC-A42A-4B27-BCD7-E287F1684823}" dt="2026-06-02T19:39:11.737" v="36" actId="478"/>
        <pc:sldMkLst>
          <pc:docMk/>
          <pc:sldMk cId="2712118673" sldId="261"/>
        </pc:sldMkLst>
        <pc:spChg chg="del">
          <ac:chgData name="Jay Padhya" userId="99449f0b-447f-4fbb-878a-15ec063fa8cd" providerId="ADAL" clId="{E308DACC-A42A-4B27-BCD7-E287F1684823}" dt="2026-06-02T19:39:11.737" v="36" actId="478"/>
          <ac:spMkLst>
            <pc:docMk/>
            <pc:sldMk cId="2712118673" sldId="261"/>
            <ac:spMk id="5" creationId="{01CCA4B6-E2A0-8228-FB6C-63849E40F643}"/>
          </ac:spMkLst>
        </pc:spChg>
        <pc:spChg chg="mod">
          <ac:chgData name="Jay Padhya" userId="99449f0b-447f-4fbb-878a-15ec063fa8cd" providerId="ADAL" clId="{E308DACC-A42A-4B27-BCD7-E287F1684823}" dt="2026-06-02T17:18:48.075" v="14" actId="14100"/>
          <ac:spMkLst>
            <pc:docMk/>
            <pc:sldMk cId="2712118673" sldId="261"/>
            <ac:spMk id="6" creationId="{D7E7196A-05EA-13DA-8B14-A160289E9A16}"/>
          </ac:spMkLst>
        </pc:spChg>
        <pc:spChg chg="mod">
          <ac:chgData name="Jay Padhya" userId="99449f0b-447f-4fbb-878a-15ec063fa8cd" providerId="ADAL" clId="{E308DACC-A42A-4B27-BCD7-E287F1684823}" dt="2026-06-02T17:18:36.643" v="13" actId="14100"/>
          <ac:spMkLst>
            <pc:docMk/>
            <pc:sldMk cId="2712118673" sldId="261"/>
            <ac:spMk id="10" creationId="{017BB6CA-4293-A235-5A86-1AF79DAD2C59}"/>
          </ac:spMkLst>
        </pc:spChg>
        <pc:spChg chg="del">
          <ac:chgData name="Jay Padhya" userId="99449f0b-447f-4fbb-878a-15ec063fa8cd" providerId="ADAL" clId="{E308DACC-A42A-4B27-BCD7-E287F1684823}" dt="2026-06-02T19:39:08.564" v="35" actId="478"/>
          <ac:spMkLst>
            <pc:docMk/>
            <pc:sldMk cId="2712118673" sldId="261"/>
            <ac:spMk id="39" creationId="{D5AB3981-5C0D-1556-125F-272D4C94FAAC}"/>
          </ac:spMkLst>
        </pc:spChg>
      </pc:sldChg>
      <pc:sldChg chg="delSp modSp mod">
        <pc:chgData name="Jay Padhya" userId="99449f0b-447f-4fbb-878a-15ec063fa8cd" providerId="ADAL" clId="{E308DACC-A42A-4B27-BCD7-E287F1684823}" dt="2026-06-02T19:39:15.463" v="37" actId="478"/>
        <pc:sldMkLst>
          <pc:docMk/>
          <pc:sldMk cId="2273145114" sldId="262"/>
        </pc:sldMkLst>
        <pc:spChg chg="del">
          <ac:chgData name="Jay Padhya" userId="99449f0b-447f-4fbb-878a-15ec063fa8cd" providerId="ADAL" clId="{E308DACC-A42A-4B27-BCD7-E287F1684823}" dt="2026-06-02T19:39:15.463" v="37" actId="478"/>
          <ac:spMkLst>
            <pc:docMk/>
            <pc:sldMk cId="2273145114" sldId="262"/>
            <ac:spMk id="44" creationId="{736C1753-03D7-CD42-210E-D143FE84C40F}"/>
          </ac:spMkLst>
        </pc:spChg>
        <pc:cxnChg chg="mod">
          <ac:chgData name="Jay Padhya" userId="99449f0b-447f-4fbb-878a-15ec063fa8cd" providerId="ADAL" clId="{E308DACC-A42A-4B27-BCD7-E287F1684823}" dt="2026-06-02T17:18:57.280" v="15" actId="1076"/>
          <ac:cxnSpMkLst>
            <pc:docMk/>
            <pc:sldMk cId="2273145114" sldId="262"/>
            <ac:cxnSpMk id="12" creationId="{8561FAA2-8034-19D6-F92A-498B9D08F403}"/>
          </ac:cxnSpMkLst>
        </pc:cxnChg>
        <pc:cxnChg chg="mod">
          <ac:chgData name="Jay Padhya" userId="99449f0b-447f-4fbb-878a-15ec063fa8cd" providerId="ADAL" clId="{E308DACC-A42A-4B27-BCD7-E287F1684823}" dt="2026-06-02T17:19:00.210" v="16" actId="1076"/>
          <ac:cxnSpMkLst>
            <pc:docMk/>
            <pc:sldMk cId="2273145114" sldId="262"/>
            <ac:cxnSpMk id="18" creationId="{D4E370B4-8FE7-FE2B-DA71-962CD3030A2D}"/>
          </ac:cxnSpMkLst>
        </pc:cxnChg>
        <pc:cxnChg chg="mod">
          <ac:chgData name="Jay Padhya" userId="99449f0b-447f-4fbb-878a-15ec063fa8cd" providerId="ADAL" clId="{E308DACC-A42A-4B27-BCD7-E287F1684823}" dt="2026-06-02T17:19:02.154" v="17" actId="1076"/>
          <ac:cxnSpMkLst>
            <pc:docMk/>
            <pc:sldMk cId="2273145114" sldId="262"/>
            <ac:cxnSpMk id="24" creationId="{48E854BA-7C84-4D18-5DB1-50C559EC9627}"/>
          </ac:cxnSpMkLst>
        </pc:cxnChg>
        <pc:cxnChg chg="mod">
          <ac:chgData name="Jay Padhya" userId="99449f0b-447f-4fbb-878a-15ec063fa8cd" providerId="ADAL" clId="{E308DACC-A42A-4B27-BCD7-E287F1684823}" dt="2026-06-02T17:19:05.300" v="18" actId="1076"/>
          <ac:cxnSpMkLst>
            <pc:docMk/>
            <pc:sldMk cId="2273145114" sldId="262"/>
            <ac:cxnSpMk id="35" creationId="{7DCC78E2-344B-E20F-6F92-4271BFB22033}"/>
          </ac:cxnSpMkLst>
        </pc:cxnChg>
        <pc:cxnChg chg="mod">
          <ac:chgData name="Jay Padhya" userId="99449f0b-447f-4fbb-878a-15ec063fa8cd" providerId="ADAL" clId="{E308DACC-A42A-4B27-BCD7-E287F1684823}" dt="2026-06-02T17:19:08.197" v="19" actId="1076"/>
          <ac:cxnSpMkLst>
            <pc:docMk/>
            <pc:sldMk cId="2273145114" sldId="262"/>
            <ac:cxnSpMk id="41" creationId="{63818CBC-CF3A-EC36-BB26-211D47C22B2E}"/>
          </ac:cxnSpMkLst>
        </pc:cxnChg>
      </pc:sldChg>
      <pc:sldChg chg="delSp mod">
        <pc:chgData name="Jay Padhya" userId="99449f0b-447f-4fbb-878a-15ec063fa8cd" providerId="ADAL" clId="{E308DACC-A42A-4B27-BCD7-E287F1684823}" dt="2026-06-02T19:39:18.618" v="38" actId="478"/>
        <pc:sldMkLst>
          <pc:docMk/>
          <pc:sldMk cId="1588241042" sldId="263"/>
        </pc:sldMkLst>
        <pc:spChg chg="del">
          <ac:chgData name="Jay Padhya" userId="99449f0b-447f-4fbb-878a-15ec063fa8cd" providerId="ADAL" clId="{E308DACC-A42A-4B27-BCD7-E287F1684823}" dt="2026-06-02T19:39:18.618" v="38" actId="478"/>
          <ac:spMkLst>
            <pc:docMk/>
            <pc:sldMk cId="1588241042" sldId="263"/>
            <ac:spMk id="27" creationId="{8D705E3E-7E8F-9F70-AA70-7C93E0BDA8E4}"/>
          </ac:spMkLst>
        </pc:spChg>
      </pc:sldChg>
      <pc:sldChg chg="delSp mod">
        <pc:chgData name="Jay Padhya" userId="99449f0b-447f-4fbb-878a-15ec063fa8cd" providerId="ADAL" clId="{E308DACC-A42A-4B27-BCD7-E287F1684823}" dt="2026-06-02T19:39:21.274" v="39" actId="478"/>
        <pc:sldMkLst>
          <pc:docMk/>
          <pc:sldMk cId="4293682231" sldId="264"/>
        </pc:sldMkLst>
        <pc:spChg chg="del">
          <ac:chgData name="Jay Padhya" userId="99449f0b-447f-4fbb-878a-15ec063fa8cd" providerId="ADAL" clId="{E308DACC-A42A-4B27-BCD7-E287F1684823}" dt="2026-06-02T19:39:21.274" v="39" actId="478"/>
          <ac:spMkLst>
            <pc:docMk/>
            <pc:sldMk cId="4293682231" sldId="264"/>
            <ac:spMk id="30" creationId="{AD5BC1F9-277F-68C3-F733-534DDA4C8908}"/>
          </ac:spMkLst>
        </pc:spChg>
      </pc:sldChg>
      <pc:sldChg chg="delSp mod">
        <pc:chgData name="Jay Padhya" userId="99449f0b-447f-4fbb-878a-15ec063fa8cd" providerId="ADAL" clId="{E308DACC-A42A-4B27-BCD7-E287F1684823}" dt="2026-06-02T19:39:24.664" v="40" actId="478"/>
        <pc:sldMkLst>
          <pc:docMk/>
          <pc:sldMk cId="2679890112" sldId="265"/>
        </pc:sldMkLst>
        <pc:spChg chg="del">
          <ac:chgData name="Jay Padhya" userId="99449f0b-447f-4fbb-878a-15ec063fa8cd" providerId="ADAL" clId="{E308DACC-A42A-4B27-BCD7-E287F1684823}" dt="2026-06-02T19:39:24.664" v="40" actId="478"/>
          <ac:spMkLst>
            <pc:docMk/>
            <pc:sldMk cId="2679890112" sldId="265"/>
            <ac:spMk id="24" creationId="{A8B3C47C-BEF5-C2AB-0E51-26529C030ECB}"/>
          </ac:spMkLst>
        </pc:spChg>
      </pc:sldChg>
      <pc:sldChg chg="delSp mod">
        <pc:chgData name="Jay Padhya" userId="99449f0b-447f-4fbb-878a-15ec063fa8cd" providerId="ADAL" clId="{E308DACC-A42A-4B27-BCD7-E287F1684823}" dt="2026-06-02T19:39:29.816" v="41" actId="478"/>
        <pc:sldMkLst>
          <pc:docMk/>
          <pc:sldMk cId="1001487370" sldId="266"/>
        </pc:sldMkLst>
        <pc:spChg chg="del">
          <ac:chgData name="Jay Padhya" userId="99449f0b-447f-4fbb-878a-15ec063fa8cd" providerId="ADAL" clId="{E308DACC-A42A-4B27-BCD7-E287F1684823}" dt="2026-06-02T19:39:29.816" v="41" actId="478"/>
          <ac:spMkLst>
            <pc:docMk/>
            <pc:sldMk cId="1001487370" sldId="266"/>
            <ac:spMk id="27" creationId="{181B820C-05BB-0AA9-51B5-C4D3113C271B}"/>
          </ac:spMkLst>
        </pc:spChg>
      </pc:sldChg>
      <pc:sldChg chg="delSp modSp mod">
        <pc:chgData name="Jay Padhya" userId="99449f0b-447f-4fbb-878a-15ec063fa8cd" providerId="ADAL" clId="{E308DACC-A42A-4B27-BCD7-E287F1684823}" dt="2026-06-02T19:39:32.602" v="42" actId="478"/>
        <pc:sldMkLst>
          <pc:docMk/>
          <pc:sldMk cId="1024807437" sldId="267"/>
        </pc:sldMkLst>
        <pc:spChg chg="del">
          <ac:chgData name="Jay Padhya" userId="99449f0b-447f-4fbb-878a-15ec063fa8cd" providerId="ADAL" clId="{E308DACC-A42A-4B27-BCD7-E287F1684823}" dt="2026-06-02T19:39:32.602" v="42" actId="478"/>
          <ac:spMkLst>
            <pc:docMk/>
            <pc:sldMk cId="1024807437" sldId="267"/>
            <ac:spMk id="3" creationId="{62C60101-AEFC-9651-DF96-060330A237FC}"/>
          </ac:spMkLst>
        </pc:spChg>
        <pc:spChg chg="mod">
          <ac:chgData name="Jay Padhya" userId="99449f0b-447f-4fbb-878a-15ec063fa8cd" providerId="ADAL" clId="{E308DACC-A42A-4B27-BCD7-E287F1684823}" dt="2026-06-02T17:19:37.578" v="22" actId="14100"/>
          <ac:spMkLst>
            <pc:docMk/>
            <pc:sldMk cId="1024807437" sldId="267"/>
            <ac:spMk id="5" creationId="{1BA3E3AA-679B-1C38-E7D3-CA60023A3D87}"/>
          </ac:spMkLst>
        </pc:spChg>
        <pc:spChg chg="mod">
          <ac:chgData name="Jay Padhya" userId="99449f0b-447f-4fbb-878a-15ec063fa8cd" providerId="ADAL" clId="{E308DACC-A42A-4B27-BCD7-E287F1684823}" dt="2026-06-02T17:19:46.462" v="24" actId="1076"/>
          <ac:spMkLst>
            <pc:docMk/>
            <pc:sldMk cId="1024807437" sldId="267"/>
            <ac:spMk id="6" creationId="{0B4636E1-D974-114B-910A-178F8E28C8AC}"/>
          </ac:spMkLst>
        </pc:spChg>
        <pc:spChg chg="del">
          <ac:chgData name="Jay Padhya" userId="99449f0b-447f-4fbb-878a-15ec063fa8cd" providerId="ADAL" clId="{E308DACC-A42A-4B27-BCD7-E287F1684823}" dt="2026-06-02T17:19:29.961" v="20" actId="478"/>
          <ac:spMkLst>
            <pc:docMk/>
            <pc:sldMk cId="1024807437" sldId="267"/>
            <ac:spMk id="29" creationId="{0CF1C518-E099-0F92-2E55-DBCE463676C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9A1FA-2752-4764-AD56-EC7A9C3EA46B}"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074BA-C3FB-406C-A519-80D27E7380F7}" type="slidenum">
              <a:rPr lang="en-US" smtClean="0"/>
              <a:t>‹#›</a:t>
            </a:fld>
            <a:endParaRPr lang="en-US"/>
          </a:p>
        </p:txBody>
      </p:sp>
    </p:spTree>
    <p:extLst>
      <p:ext uri="{BB962C8B-B14F-4D97-AF65-F5344CB8AC3E}">
        <p14:creationId xmlns:p14="http://schemas.microsoft.com/office/powerpoint/2010/main" val="3185541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Last call, Chirag asked whether we could use a small open model for a browsing or computer-use style agent, and whether we could fine-tune it using the A100 capacity already available. This deck is the meeting narrative for that answer. I am going to show the problem, what base Gemma can and cannot do natively, why fine-tuning is the right lever for this behavior, exactly what we trained, the AzureML and Foundry-adjacent resources we used, and how the fine-tuned model changes the result.</a:t>
            </a:r>
          </a:p>
        </p:txBody>
      </p:sp>
      <p:sp>
        <p:nvSpPr>
          <p:cNvPr id="4" name="Slide Number Placeholder 3"/>
          <p:cNvSpPr>
            <a:spLocks noGrp="1"/>
          </p:cNvSpPr>
          <p:nvPr>
            <p:ph type="sldNum" sz="quarter" idx="5"/>
          </p:nvPr>
        </p:nvSpPr>
        <p:spPr/>
        <p:txBody>
          <a:bodyPr/>
          <a:lstStyle/>
          <a:p>
            <a:fld id="{F9A074BA-C3FB-406C-A519-80D27E7380F7}" type="slidenum">
              <a:rPr lang="en-US" smtClean="0"/>
              <a:t>1</a:t>
            </a:fld>
            <a:endParaRPr lang="en-US"/>
          </a:p>
        </p:txBody>
      </p:sp>
    </p:spTree>
    <p:extLst>
      <p:ext uri="{BB962C8B-B14F-4D97-AF65-F5344CB8AC3E}">
        <p14:creationId xmlns:p14="http://schemas.microsoft.com/office/powerpoint/2010/main" val="4150018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business problem is not simply that we need a model to answer questions. A browsing agent has to turn a human instruction into a deterministic sequence of actions. It needs to know which workspace to open, which field to type into, which button to press, and which value to extract. If it returns a nice paragraph, that is not useful to an automation layer. The demo focuses on the parts that matter for this ask: a compact DOM, a user instruction, and a strict JSON action plan with stable selectors.</a:t>
            </a:r>
          </a:p>
        </p:txBody>
      </p:sp>
      <p:sp>
        <p:nvSpPr>
          <p:cNvPr id="4" name="Slide Number Placeholder 3"/>
          <p:cNvSpPr>
            <a:spLocks noGrp="1"/>
          </p:cNvSpPr>
          <p:nvPr>
            <p:ph type="sldNum" sz="quarter" idx="5"/>
          </p:nvPr>
        </p:nvSpPr>
        <p:spPr/>
        <p:txBody>
          <a:bodyPr/>
          <a:lstStyle/>
          <a:p>
            <a:fld id="{F9A074BA-C3FB-406C-A519-80D27E7380F7}" type="slidenum">
              <a:rPr lang="en-US" smtClean="0"/>
              <a:t>2</a:t>
            </a:fld>
            <a:endParaRPr lang="en-US"/>
          </a:p>
        </p:txBody>
      </p:sp>
    </p:spTree>
    <p:extLst>
      <p:ext uri="{BB962C8B-B14F-4D97-AF65-F5344CB8AC3E}">
        <p14:creationId xmlns:p14="http://schemas.microsoft.com/office/powerpoint/2010/main" val="2731313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the scoping slide. I would make clear that we are not claiming to have built a universal healthcare assistant. We are testing the behavior Chirag asked about: can a small model be taught to operate in a browser-like workflow with a strict output contract? That is why the demo includes a baseline, synthetic but realistic page states, explicit pass-fail checks, AzureML job lineage, and cost controls.</a:t>
            </a:r>
          </a:p>
        </p:txBody>
      </p:sp>
      <p:sp>
        <p:nvSpPr>
          <p:cNvPr id="4" name="Slide Number Placeholder 3"/>
          <p:cNvSpPr>
            <a:spLocks noGrp="1"/>
          </p:cNvSpPr>
          <p:nvPr>
            <p:ph type="sldNum" sz="quarter" idx="5"/>
          </p:nvPr>
        </p:nvSpPr>
        <p:spPr/>
        <p:txBody>
          <a:bodyPr/>
          <a:lstStyle/>
          <a:p>
            <a:fld id="{F9A074BA-C3FB-406C-A519-80D27E7380F7}" type="slidenum">
              <a:rPr lang="en-US" smtClean="0"/>
              <a:t>3</a:t>
            </a:fld>
            <a:endParaRPr lang="en-US"/>
          </a:p>
        </p:txBody>
      </p:sp>
    </p:spTree>
    <p:extLst>
      <p:ext uri="{BB962C8B-B14F-4D97-AF65-F5344CB8AC3E}">
        <p14:creationId xmlns:p14="http://schemas.microsoft.com/office/powerpoint/2010/main" val="1305697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baseline story. Base Gemma is not useless. It can often return JSON and it understands that the task is about clicking, typing, and extracting. But the failures are exactly the failures that matter for a browsing agent. It uses brittle IDs like member-search-3430, it can skip the workflow navigation step, and it may not preserve the required order. That is why this is a good fine-tuning candidate: the model already has general capability, but it needs to learn a precise behavior contract.</a:t>
            </a:r>
          </a:p>
        </p:txBody>
      </p:sp>
      <p:sp>
        <p:nvSpPr>
          <p:cNvPr id="4" name="Slide Number Placeholder 3"/>
          <p:cNvSpPr>
            <a:spLocks noGrp="1"/>
          </p:cNvSpPr>
          <p:nvPr>
            <p:ph type="sldNum" sz="quarter" idx="5"/>
          </p:nvPr>
        </p:nvSpPr>
        <p:spPr/>
        <p:txBody>
          <a:bodyPr/>
          <a:lstStyle/>
          <a:p>
            <a:fld id="{F9A074BA-C3FB-406C-A519-80D27E7380F7}" type="slidenum">
              <a:rPr lang="en-US" smtClean="0"/>
              <a:t>4</a:t>
            </a:fld>
            <a:endParaRPr lang="en-US"/>
          </a:p>
        </p:txBody>
      </p:sp>
    </p:spTree>
    <p:extLst>
      <p:ext uri="{BB962C8B-B14F-4D97-AF65-F5344CB8AC3E}">
        <p14:creationId xmlns:p14="http://schemas.microsoft.com/office/powerpoint/2010/main" val="729837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would frame this carefully. A small SLM is attractive because it is cheaper to train, cheaper to deploy, and easier to specialize. The base model already understands the general shape of the problem, which is good. But for browser automation, near-misses still fail. A selector that looks valid but is unstable is not good enough. A response that has the right idea but adds prose is not good enough. The gap is behavior consistency, not raw knowledge.</a:t>
            </a:r>
          </a:p>
        </p:txBody>
      </p:sp>
      <p:sp>
        <p:nvSpPr>
          <p:cNvPr id="4" name="Slide Number Placeholder 3"/>
          <p:cNvSpPr>
            <a:spLocks noGrp="1"/>
          </p:cNvSpPr>
          <p:nvPr>
            <p:ph type="sldNum" sz="quarter" idx="5"/>
          </p:nvPr>
        </p:nvSpPr>
        <p:spPr/>
        <p:txBody>
          <a:bodyPr/>
          <a:lstStyle/>
          <a:p>
            <a:fld id="{F9A074BA-C3FB-406C-A519-80D27E7380F7}" type="slidenum">
              <a:rPr lang="en-US" smtClean="0"/>
              <a:t>5</a:t>
            </a:fld>
            <a:endParaRPr lang="en-US"/>
          </a:p>
        </p:txBody>
      </p:sp>
    </p:spTree>
    <p:extLst>
      <p:ext uri="{BB962C8B-B14F-4D97-AF65-F5344CB8AC3E}">
        <p14:creationId xmlns:p14="http://schemas.microsoft.com/office/powerpoint/2010/main" val="4160985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important message is that fine-tuning here is behavioral. We are not asking Gemma to memorize Molina policy. We are teaching it how to respond when it sees a page state and an instruction. LoRA is a good fit because the base weights stay frozen and we only train a small adapter. That keeps the experiment cheap, makes it fit on one A100, and gives us a production-friendly pattern where different EIM workflows can eventually have different adapters.</a:t>
            </a:r>
          </a:p>
        </p:txBody>
      </p:sp>
      <p:sp>
        <p:nvSpPr>
          <p:cNvPr id="4" name="Slide Number Placeholder 3"/>
          <p:cNvSpPr>
            <a:spLocks noGrp="1"/>
          </p:cNvSpPr>
          <p:nvPr>
            <p:ph type="sldNum" sz="quarter" idx="5"/>
          </p:nvPr>
        </p:nvSpPr>
        <p:spPr/>
        <p:txBody>
          <a:bodyPr/>
          <a:lstStyle/>
          <a:p>
            <a:fld id="{F9A074BA-C3FB-406C-A519-80D27E7380F7}" type="slidenum">
              <a:rPr lang="en-US" smtClean="0"/>
              <a:t>6</a:t>
            </a:fld>
            <a:endParaRPr lang="en-US"/>
          </a:p>
        </p:txBody>
      </p:sp>
    </p:spTree>
    <p:extLst>
      <p:ext uri="{BB962C8B-B14F-4D97-AF65-F5344CB8AC3E}">
        <p14:creationId xmlns:p14="http://schemas.microsoft.com/office/powerpoint/2010/main" val="1824921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build flow I would walk through in the meeting. We start with deterministic synthetic examples. We prepare the training and validation data. The AzureML SDK submits a command job to the A100 cluster. The training script loads Gemma, applies LoRA adapters to attention and MLP projections, and trains with TRL SFTTrainer. The resulting adapter is registered as an AzureML model, deployed to a managed online endpoint, and tested in the Streamlit app. After the demo, the endpoint should be deleted to stop A100 billing.</a:t>
            </a:r>
          </a:p>
        </p:txBody>
      </p:sp>
      <p:sp>
        <p:nvSpPr>
          <p:cNvPr id="4" name="Slide Number Placeholder 3"/>
          <p:cNvSpPr>
            <a:spLocks noGrp="1"/>
          </p:cNvSpPr>
          <p:nvPr>
            <p:ph type="sldNum" sz="quarter" idx="5"/>
          </p:nvPr>
        </p:nvSpPr>
        <p:spPr/>
        <p:txBody>
          <a:bodyPr/>
          <a:lstStyle/>
          <a:p>
            <a:fld id="{F9A074BA-C3FB-406C-A519-80D27E7380F7}" type="slidenum">
              <a:rPr lang="en-US" smtClean="0"/>
              <a:t>7</a:t>
            </a:fld>
            <a:endParaRPr lang="en-US"/>
          </a:p>
        </p:txBody>
      </p:sp>
    </p:spTree>
    <p:extLst>
      <p:ext uri="{BB962C8B-B14F-4D97-AF65-F5344CB8AC3E}">
        <p14:creationId xmlns:p14="http://schemas.microsoft.com/office/powerpoint/2010/main" val="2032182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data discipline slide. The data is intentionally synthetic. We used fake member IDs, fake authorization IDs, fake claims, and deterministic generators. That keeps us out of PHI and lets us focus on the behavior. Each example is a system, user, assistant turn. The user message contains the DOM and instruction. The assistant message is the exact JSON action plan we want the model to learn. The point is not to teach Molina policy; it is to teach the browser-action pattern.</a:t>
            </a:r>
          </a:p>
        </p:txBody>
      </p:sp>
      <p:sp>
        <p:nvSpPr>
          <p:cNvPr id="4" name="Slide Number Placeholder 3"/>
          <p:cNvSpPr>
            <a:spLocks noGrp="1"/>
          </p:cNvSpPr>
          <p:nvPr>
            <p:ph type="sldNum" sz="quarter" idx="5"/>
          </p:nvPr>
        </p:nvSpPr>
        <p:spPr/>
        <p:txBody>
          <a:bodyPr/>
          <a:lstStyle/>
          <a:p>
            <a:fld id="{F9A074BA-C3FB-406C-A519-80D27E7380F7}" type="slidenum">
              <a:rPr lang="en-US" smtClean="0"/>
              <a:t>8</a:t>
            </a:fld>
            <a:endParaRPr lang="en-US"/>
          </a:p>
        </p:txBody>
      </p:sp>
    </p:spTree>
    <p:extLst>
      <p:ext uri="{BB962C8B-B14F-4D97-AF65-F5344CB8AC3E}">
        <p14:creationId xmlns:p14="http://schemas.microsoft.com/office/powerpoint/2010/main" val="3218853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the technical path. The reason we use AzureML is practical: Gemma is available as a catalog/base model path, but not as a Foundry serverless fine-tuning base for this demo. AzureML gives us the pieces we need: a governed workspace, data assets, command jobs, A100 managed compute, environments, model registration, and managed online endpoints. The SDK scripts are small control-plane wrappers around those resources.</a:t>
            </a:r>
          </a:p>
        </p:txBody>
      </p:sp>
      <p:sp>
        <p:nvSpPr>
          <p:cNvPr id="4" name="Slide Number Placeholder 3"/>
          <p:cNvSpPr>
            <a:spLocks noGrp="1"/>
          </p:cNvSpPr>
          <p:nvPr>
            <p:ph type="sldNum" sz="quarter" idx="5"/>
          </p:nvPr>
        </p:nvSpPr>
        <p:spPr/>
        <p:txBody>
          <a:bodyPr/>
          <a:lstStyle/>
          <a:p>
            <a:fld id="{F9A074BA-C3FB-406C-A519-80D27E7380F7}" type="slidenum">
              <a:rPr lang="en-US" smtClean="0"/>
              <a:t>9</a:t>
            </a:fld>
            <a:endParaRPr lang="en-US"/>
          </a:p>
        </p:txBody>
      </p:sp>
    </p:spTree>
    <p:extLst>
      <p:ext uri="{BB962C8B-B14F-4D97-AF65-F5344CB8AC3E}">
        <p14:creationId xmlns:p14="http://schemas.microsoft.com/office/powerpoint/2010/main" val="801794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 would go one layer deeper for the technical audience. The training job loads the base model and tokenizer, enables gradient checkpointing, and applies LoRA to the attention and MLP projection layers. The current winner profile uses a higher rank and alpha than the original simple demo: rank 32 and alpha 64, with eight epochs on a small synthetic dataset. TRL SFTTrainer applies the chat template and trains against the assistant JSON. The output is not a whole new full model first; it is a small adapter plus metadata, which we can register and deploy.</a:t>
            </a:r>
          </a:p>
        </p:txBody>
      </p:sp>
      <p:sp>
        <p:nvSpPr>
          <p:cNvPr id="4" name="Slide Number Placeholder 3"/>
          <p:cNvSpPr>
            <a:spLocks noGrp="1"/>
          </p:cNvSpPr>
          <p:nvPr>
            <p:ph type="sldNum" sz="quarter" idx="5"/>
          </p:nvPr>
        </p:nvSpPr>
        <p:spPr/>
        <p:txBody>
          <a:bodyPr/>
          <a:lstStyle/>
          <a:p>
            <a:fld id="{F9A074BA-C3FB-406C-A519-80D27E7380F7}" type="slidenum">
              <a:rPr lang="en-US" smtClean="0"/>
              <a:t>10</a:t>
            </a:fld>
            <a:endParaRPr lang="en-US"/>
          </a:p>
        </p:txBody>
      </p:sp>
    </p:spTree>
    <p:extLst>
      <p:ext uri="{BB962C8B-B14F-4D97-AF65-F5344CB8AC3E}">
        <p14:creationId xmlns:p14="http://schemas.microsoft.com/office/powerpoint/2010/main" val="1314873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serving story. The demo intentionally avoids paying for two GPU endpoints. The endpoint loads the base model and the adapter. The Streamlit app calls it once with the adapter disabled and once with the adapter enabled. That gives a clean side-by-side comparison. It also makes the cost conversation simple: the endpoint is the expensive part, so we run it for the meeting and then delete it.</a:t>
            </a:r>
          </a:p>
        </p:txBody>
      </p:sp>
      <p:sp>
        <p:nvSpPr>
          <p:cNvPr id="4" name="Slide Number Placeholder 3"/>
          <p:cNvSpPr>
            <a:spLocks noGrp="1"/>
          </p:cNvSpPr>
          <p:nvPr>
            <p:ph type="sldNum" sz="quarter" idx="5"/>
          </p:nvPr>
        </p:nvSpPr>
        <p:spPr/>
        <p:txBody>
          <a:bodyPr/>
          <a:lstStyle/>
          <a:p>
            <a:fld id="{F9A074BA-C3FB-406C-A519-80D27E7380F7}" type="slidenum">
              <a:rPr lang="en-US" smtClean="0"/>
              <a:t>11</a:t>
            </a:fld>
            <a:endParaRPr lang="en-US"/>
          </a:p>
        </p:txBody>
      </p:sp>
    </p:spTree>
    <p:extLst>
      <p:ext uri="{BB962C8B-B14F-4D97-AF65-F5344CB8AC3E}">
        <p14:creationId xmlns:p14="http://schemas.microsoft.com/office/powerpoint/2010/main" val="2648657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would close by saying: the fine-tuned model solves the problem by learning the contract. It does not make the system production-ready by itself, and it does not replace retrieval, policy governance, or human review. But it shows that a small model can be specialized for browser-action behavior. The next step is not to broaden the assistant. The next step is to select one high-value EIM workflow, define graders up front, use safe training data, and run the same evaluation loop with a clear pass threshold and cost ceiling.</a:t>
            </a:r>
          </a:p>
        </p:txBody>
      </p:sp>
      <p:sp>
        <p:nvSpPr>
          <p:cNvPr id="4" name="Slide Number Placeholder 3"/>
          <p:cNvSpPr>
            <a:spLocks noGrp="1"/>
          </p:cNvSpPr>
          <p:nvPr>
            <p:ph type="sldNum" sz="quarter" idx="5"/>
          </p:nvPr>
        </p:nvSpPr>
        <p:spPr/>
        <p:txBody>
          <a:bodyPr/>
          <a:lstStyle/>
          <a:p>
            <a:fld id="{F9A074BA-C3FB-406C-A519-80D27E7380F7}" type="slidenum">
              <a:rPr lang="en-US" smtClean="0"/>
              <a:t>12</a:t>
            </a:fld>
            <a:endParaRPr lang="en-US"/>
          </a:p>
        </p:txBody>
      </p:sp>
    </p:spTree>
    <p:extLst>
      <p:ext uri="{BB962C8B-B14F-4D97-AF65-F5344CB8AC3E}">
        <p14:creationId xmlns:p14="http://schemas.microsoft.com/office/powerpoint/2010/main" val="2168069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45949-24F5-3C05-0F79-30326A2CD7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438848-ECA5-6F7C-D397-3DD21760D6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04A763-50C7-FDE9-65A7-DF18B1A5C269}"/>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5" name="Footer Placeholder 4">
            <a:extLst>
              <a:ext uri="{FF2B5EF4-FFF2-40B4-BE49-F238E27FC236}">
                <a16:creationId xmlns:a16="http://schemas.microsoft.com/office/drawing/2014/main" id="{F91E7C8C-D33D-DCF7-0957-C959924388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6BA6B3-FCC7-62C0-160C-64C9EB1B7FCF}"/>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4021615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C5103-FF4D-6D69-36D2-433683FC75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1E5613-56F7-BDA7-8BEB-CFDFECAF61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EDC61-9585-EA8D-8616-2CC9795AB3F5}"/>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5" name="Footer Placeholder 4">
            <a:extLst>
              <a:ext uri="{FF2B5EF4-FFF2-40B4-BE49-F238E27FC236}">
                <a16:creationId xmlns:a16="http://schemas.microsoft.com/office/drawing/2014/main" id="{3872E3BE-FFFD-D1D9-D40A-04C6A46B81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36BB8-4AAF-34D1-9420-5FACA5D26854}"/>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198530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D6702-5252-4910-ADE9-A9F679E09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A85F88-74F6-9338-DED7-A75F9A07AB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D4EBAE-4103-4E50-22F6-47FCAD231B14}"/>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5" name="Footer Placeholder 4">
            <a:extLst>
              <a:ext uri="{FF2B5EF4-FFF2-40B4-BE49-F238E27FC236}">
                <a16:creationId xmlns:a16="http://schemas.microsoft.com/office/drawing/2014/main" id="{1776CC44-9656-5A3B-0622-78E6E4B58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09013-C73A-2AF4-F156-B34B64FD4A85}"/>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2616397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D86B2-CB5B-53E8-3A1D-774B47DF41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0377D7-5695-59A5-8E61-BAA4A0275C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115C3F-C41D-B4BC-5736-C62A355EBB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11E9D8-2610-7637-4AAF-892A557E00B1}"/>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6" name="Footer Placeholder 5">
            <a:extLst>
              <a:ext uri="{FF2B5EF4-FFF2-40B4-BE49-F238E27FC236}">
                <a16:creationId xmlns:a16="http://schemas.microsoft.com/office/drawing/2014/main" id="{A9122620-DA05-9A19-DE84-ECB1945AD8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83901-E9F9-9F9A-92B4-1D30B8FDAAFF}"/>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2803439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B79B-7194-D146-9F02-22BC56C630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A6B6E4-68F7-BBC2-AE89-8B37939503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201553-E874-821C-4254-C8E733733C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D304BE-DD9D-C301-7FE4-D0C7FAA8E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714920-5433-BB7D-4976-BF59B6CB93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A65869-065B-FB86-5600-2A17A9B3EC04}"/>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8" name="Footer Placeholder 7">
            <a:extLst>
              <a:ext uri="{FF2B5EF4-FFF2-40B4-BE49-F238E27FC236}">
                <a16:creationId xmlns:a16="http://schemas.microsoft.com/office/drawing/2014/main" id="{9755ECF0-47E5-88C4-0CC7-1B9A09960F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F04687-2A99-74C1-4CBB-584666F7A740}"/>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2912954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A7FBF-DFED-DBB6-DD78-D80736ADF4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011A5F-BD3A-6B72-C6BC-9A28331487C7}"/>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4" name="Footer Placeholder 3">
            <a:extLst>
              <a:ext uri="{FF2B5EF4-FFF2-40B4-BE49-F238E27FC236}">
                <a16:creationId xmlns:a16="http://schemas.microsoft.com/office/drawing/2014/main" id="{7367676F-C991-6CE4-BEE6-66909D9BA4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B811D1-81E2-B7FC-60BE-F99F0C9B47A6}"/>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3797247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CEB4E0-A31A-DFFB-B07C-F37F2EAF152F}"/>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3" name="Footer Placeholder 2">
            <a:extLst>
              <a:ext uri="{FF2B5EF4-FFF2-40B4-BE49-F238E27FC236}">
                <a16:creationId xmlns:a16="http://schemas.microsoft.com/office/drawing/2014/main" id="{362A539C-575A-4031-C70B-C4D1B52A47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152B20-8FD1-C901-5D95-EC2173E0AADF}"/>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207363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81DF6-BEAF-FDF3-74BF-BC1D6B5585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AC8EB9-2F7D-D070-0879-D2B2F6EACD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2873A9-E1BB-7E07-5D2B-A6F941872C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D910FC-7B68-C6D5-778E-EB278C89C503}"/>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6" name="Footer Placeholder 5">
            <a:extLst>
              <a:ext uri="{FF2B5EF4-FFF2-40B4-BE49-F238E27FC236}">
                <a16:creationId xmlns:a16="http://schemas.microsoft.com/office/drawing/2014/main" id="{F96BA178-2517-6404-4DE1-FC48CC7293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D2CF15-37E0-2BAD-B33C-3E196292821B}"/>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110333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A1B26-762E-3D28-A7C7-1C0E075AA1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6EFB73-E6CF-B93C-7E16-4BC897134A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9DA967-2B03-B14C-F0A2-902A735D3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94B706-28EA-97D1-FF52-F96D9C1A2D5E}"/>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6" name="Footer Placeholder 5">
            <a:extLst>
              <a:ext uri="{FF2B5EF4-FFF2-40B4-BE49-F238E27FC236}">
                <a16:creationId xmlns:a16="http://schemas.microsoft.com/office/drawing/2014/main" id="{4AC46714-7ACF-4C58-3A1F-1C2C531EF6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BE22A-2B2A-17A2-C36C-10C7A1B5DA7B}"/>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1382713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94FA9-8BD6-2093-03D6-BB296B4F0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2C5DD8-E1A7-4ABC-2026-51D9CCC2B4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3171F0-8D3F-BC65-4F13-41F393B944C5}"/>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5" name="Footer Placeholder 4">
            <a:extLst>
              <a:ext uri="{FF2B5EF4-FFF2-40B4-BE49-F238E27FC236}">
                <a16:creationId xmlns:a16="http://schemas.microsoft.com/office/drawing/2014/main" id="{3C5312BD-25BC-BD65-BDB3-D76BBAB6A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AB082-3FFB-B02F-261C-99321158EF12}"/>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1493209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C0D447-C168-62C4-B12A-F81BBF7831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662149-1D97-AA11-2D92-4DB2F28A41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27A46-6168-8031-1D2D-934807C2EC64}"/>
              </a:ext>
            </a:extLst>
          </p:cNvPr>
          <p:cNvSpPr>
            <a:spLocks noGrp="1"/>
          </p:cNvSpPr>
          <p:nvPr>
            <p:ph type="dt" sz="half" idx="10"/>
          </p:nvPr>
        </p:nvSpPr>
        <p:spPr/>
        <p:txBody>
          <a:bodyPr/>
          <a:lstStyle/>
          <a:p>
            <a:fld id="{3E77E078-294F-485B-94A9-936C65A883C8}" type="datetimeFigureOut">
              <a:rPr lang="en-US" smtClean="0"/>
              <a:t>6/2/2026</a:t>
            </a:fld>
            <a:endParaRPr lang="en-US"/>
          </a:p>
        </p:txBody>
      </p:sp>
      <p:sp>
        <p:nvSpPr>
          <p:cNvPr id="5" name="Footer Placeholder 4">
            <a:extLst>
              <a:ext uri="{FF2B5EF4-FFF2-40B4-BE49-F238E27FC236}">
                <a16:creationId xmlns:a16="http://schemas.microsoft.com/office/drawing/2014/main" id="{1C98C727-162C-D524-F99C-774DD07DE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81C03D-6252-980F-8E66-AEB9E4CC1F68}"/>
              </a:ext>
            </a:extLst>
          </p:cNvPr>
          <p:cNvSpPr>
            <a:spLocks noGrp="1"/>
          </p:cNvSpPr>
          <p:nvPr>
            <p:ph type="sldNum" sz="quarter" idx="12"/>
          </p:nvPr>
        </p:nvSpPr>
        <p:spPr/>
        <p:txBody>
          <a:bodyPr/>
          <a:lstStyle/>
          <a:p>
            <a:fld id="{82D166BE-6BB7-4B07-846D-D2E331B7E500}" type="slidenum">
              <a:rPr lang="en-US" smtClean="0"/>
              <a:t>‹#›</a:t>
            </a:fld>
            <a:endParaRPr lang="en-US"/>
          </a:p>
        </p:txBody>
      </p:sp>
    </p:spTree>
    <p:extLst>
      <p:ext uri="{BB962C8B-B14F-4D97-AF65-F5344CB8AC3E}">
        <p14:creationId xmlns:p14="http://schemas.microsoft.com/office/powerpoint/2010/main" val="2758611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261149-E9DA-62E4-CF72-8F007F2FB6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CC6D35-0522-86EB-FB73-CF775E1034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8EEC54-4727-0F08-11B5-59207DC02A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77E078-294F-485B-94A9-936C65A883C8}" type="datetimeFigureOut">
              <a:rPr lang="en-US" smtClean="0"/>
              <a:t>6/2/2026</a:t>
            </a:fld>
            <a:endParaRPr lang="en-US"/>
          </a:p>
        </p:txBody>
      </p:sp>
      <p:sp>
        <p:nvSpPr>
          <p:cNvPr id="5" name="Footer Placeholder 4">
            <a:extLst>
              <a:ext uri="{FF2B5EF4-FFF2-40B4-BE49-F238E27FC236}">
                <a16:creationId xmlns:a16="http://schemas.microsoft.com/office/drawing/2014/main" id="{CF43841B-F676-1F0A-9A27-3738744A81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8C9769-6C32-FBB2-E0E0-183F347F51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D166BE-6BB7-4B07-846D-D2E331B7E500}" type="slidenum">
              <a:rPr lang="en-US" smtClean="0"/>
              <a:t>‹#›</a:t>
            </a:fld>
            <a:endParaRPr lang="en-US"/>
          </a:p>
        </p:txBody>
      </p:sp>
    </p:spTree>
    <p:extLst>
      <p:ext uri="{BB962C8B-B14F-4D97-AF65-F5344CB8AC3E}">
        <p14:creationId xmlns:p14="http://schemas.microsoft.com/office/powerpoint/2010/main" val="3041271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3CC963-6E7F-0CB3-EA47-2B3FE19CF798}"/>
              </a:ext>
            </a:extLst>
          </p:cNvPr>
          <p:cNvSpPr/>
          <p:nvPr/>
        </p:nvSpPr>
        <p:spPr>
          <a:xfrm>
            <a:off x="0" y="0"/>
            <a:ext cx="12191695" cy="6858000"/>
          </a:xfrm>
          <a:prstGeom prst="rect">
            <a:avLst/>
          </a:prstGeom>
          <a:solidFill>
            <a:srgbClr val="2524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D9BB160-E74B-59A9-864D-734A63A591B1}"/>
              </a:ext>
            </a:extLst>
          </p:cNvPr>
          <p:cNvSpPr/>
          <p:nvPr/>
        </p:nvSpPr>
        <p:spPr>
          <a:xfrm>
            <a:off x="8549640" y="-1005840"/>
            <a:ext cx="3749040" cy="3749040"/>
          </a:xfrm>
          <a:prstGeom prst="ellipse">
            <a:avLst/>
          </a:prstGeom>
          <a:solidFill>
            <a:srgbClr val="0078D4">
              <a:alpha val="8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40A30F9-C433-C724-7BB9-65D47962B807}"/>
              </a:ext>
            </a:extLst>
          </p:cNvPr>
          <p:cNvSpPr/>
          <p:nvPr/>
        </p:nvSpPr>
        <p:spPr>
          <a:xfrm>
            <a:off x="9921240" y="4069080"/>
            <a:ext cx="2377440" cy="2377440"/>
          </a:xfrm>
          <a:prstGeom prst="ellipse">
            <a:avLst/>
          </a:prstGeom>
          <a:solidFill>
            <a:srgbClr val="00B7C3">
              <a:alpha val="7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DCAF562-D47D-4101-0069-E03807ABE88D}"/>
              </a:ext>
            </a:extLst>
          </p:cNvPr>
          <p:cNvSpPr txBox="1"/>
          <p:nvPr/>
        </p:nvSpPr>
        <p:spPr>
          <a:xfrm>
            <a:off x="594360" y="502920"/>
            <a:ext cx="2011680" cy="190821"/>
          </a:xfrm>
          <a:prstGeom prst="rect">
            <a:avLst/>
          </a:prstGeom>
          <a:noFill/>
        </p:spPr>
        <p:txBody>
          <a:bodyPr vert="horz" wrap="square" lIns="36576" tIns="18288" rIns="36576" bIns="18288" rtlCol="0">
            <a:spAutoFit/>
          </a:bodyPr>
          <a:lstStyle/>
          <a:p>
            <a:r>
              <a:rPr lang="en-US" sz="1000" b="1">
                <a:solidFill>
                  <a:srgbClr val="00B7C3"/>
                </a:solidFill>
                <a:latin typeface="Segoe UI" panose="020B0502040204020203" pitchFamily="34" charset="0"/>
              </a:rPr>
              <a:t>Molina EIM</a:t>
            </a:r>
          </a:p>
        </p:txBody>
      </p:sp>
      <p:sp>
        <p:nvSpPr>
          <p:cNvPr id="6" name="TextBox 5">
            <a:extLst>
              <a:ext uri="{FF2B5EF4-FFF2-40B4-BE49-F238E27FC236}">
                <a16:creationId xmlns:a16="http://schemas.microsoft.com/office/drawing/2014/main" id="{869CCE4B-FFB7-5348-3E96-FFFBE663DB15}"/>
              </a:ext>
            </a:extLst>
          </p:cNvPr>
          <p:cNvSpPr txBox="1"/>
          <p:nvPr/>
        </p:nvSpPr>
        <p:spPr>
          <a:xfrm>
            <a:off x="594360" y="1051560"/>
            <a:ext cx="6858000" cy="1083374"/>
          </a:xfrm>
          <a:prstGeom prst="rect">
            <a:avLst/>
          </a:prstGeom>
          <a:noFill/>
        </p:spPr>
        <p:txBody>
          <a:bodyPr vert="horz" wrap="square" lIns="36576" tIns="18288" rIns="36576" bIns="18288" rtlCol="0">
            <a:spAutoFit/>
          </a:bodyPr>
          <a:lstStyle/>
          <a:p>
            <a:r>
              <a:rPr lang="en-US" sz="3400" b="1">
                <a:solidFill>
                  <a:srgbClr val="FFFFFF"/>
                </a:solidFill>
                <a:latin typeface="Aptos Display" panose="020B0004020202020204" pitchFamily="34" charset="0"/>
              </a:rPr>
              <a:t>Gemma 4B-class fine-tuning for a browser-action agent</a:t>
            </a:r>
          </a:p>
        </p:txBody>
      </p:sp>
      <p:sp>
        <p:nvSpPr>
          <p:cNvPr id="7" name="TextBox 6">
            <a:extLst>
              <a:ext uri="{FF2B5EF4-FFF2-40B4-BE49-F238E27FC236}">
                <a16:creationId xmlns:a16="http://schemas.microsoft.com/office/drawing/2014/main" id="{D4E51D22-2B8B-25F8-8991-05870D00BBF7}"/>
              </a:ext>
            </a:extLst>
          </p:cNvPr>
          <p:cNvSpPr txBox="1"/>
          <p:nvPr/>
        </p:nvSpPr>
        <p:spPr>
          <a:xfrm>
            <a:off x="621792" y="2395728"/>
            <a:ext cx="6035040" cy="729430"/>
          </a:xfrm>
          <a:prstGeom prst="rect">
            <a:avLst/>
          </a:prstGeom>
          <a:noFill/>
        </p:spPr>
        <p:txBody>
          <a:bodyPr vert="horz" wrap="square" lIns="36576" tIns="18288" rIns="36576" bIns="18288" rtlCol="0">
            <a:spAutoFit/>
          </a:bodyPr>
          <a:lstStyle/>
          <a:p>
            <a:r>
              <a:rPr lang="en-US" sz="1500">
                <a:solidFill>
                  <a:srgbClr val="D7EBFF"/>
                </a:solidFill>
                <a:latin typeface="Aptos" panose="020B0004020202020204" pitchFamily="34" charset="0"/>
              </a:rPr>
              <a:t>A customer-ready walkthrough: problem framing, base-model gap, LoRA fine-tuning, synthetic data, AzureML resources, and the before/after demo result.</a:t>
            </a:r>
          </a:p>
        </p:txBody>
      </p:sp>
      <p:sp>
        <p:nvSpPr>
          <p:cNvPr id="8" name="Rectangle: Rounded Corners 7">
            <a:extLst>
              <a:ext uri="{FF2B5EF4-FFF2-40B4-BE49-F238E27FC236}">
                <a16:creationId xmlns:a16="http://schemas.microsoft.com/office/drawing/2014/main" id="{0EDEEBF4-A9A3-5BBB-EAC8-3A3A6F577027}"/>
              </a:ext>
            </a:extLst>
          </p:cNvPr>
          <p:cNvSpPr/>
          <p:nvPr/>
        </p:nvSpPr>
        <p:spPr>
          <a:xfrm>
            <a:off x="621792" y="3383280"/>
            <a:ext cx="1920240" cy="310896"/>
          </a:xfrm>
          <a:prstGeom prst="round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0934D16-6B66-91FC-ABA3-7E29A8FB4804}"/>
              </a:ext>
            </a:extLst>
          </p:cNvPr>
          <p:cNvSpPr txBox="1"/>
          <p:nvPr/>
        </p:nvSpPr>
        <p:spPr>
          <a:xfrm>
            <a:off x="713232" y="3442716"/>
            <a:ext cx="1737360" cy="167738"/>
          </a:xfrm>
          <a:prstGeom prst="rect">
            <a:avLst/>
          </a:prstGeom>
          <a:noFill/>
        </p:spPr>
        <p:txBody>
          <a:bodyPr vert="horz" wrap="square" lIns="36576" tIns="18288" rIns="36576" bIns="18288" rtlCol="0">
            <a:spAutoFit/>
          </a:bodyPr>
          <a:lstStyle/>
          <a:p>
            <a:pPr algn="ctr"/>
            <a:r>
              <a:rPr lang="en-US" sz="850" b="1">
                <a:solidFill>
                  <a:srgbClr val="FFFFFF"/>
                </a:solidFill>
                <a:latin typeface="Segoe UI" panose="020B0502040204020203" pitchFamily="34" charset="0"/>
              </a:rPr>
              <a:t>AzureML managed compute</a:t>
            </a:r>
          </a:p>
        </p:txBody>
      </p:sp>
      <p:sp>
        <p:nvSpPr>
          <p:cNvPr id="10" name="Rectangle: Rounded Corners 9">
            <a:extLst>
              <a:ext uri="{FF2B5EF4-FFF2-40B4-BE49-F238E27FC236}">
                <a16:creationId xmlns:a16="http://schemas.microsoft.com/office/drawing/2014/main" id="{0B6B859C-D13F-5B44-98B1-042C283DE196}"/>
              </a:ext>
            </a:extLst>
          </p:cNvPr>
          <p:cNvSpPr/>
          <p:nvPr/>
        </p:nvSpPr>
        <p:spPr>
          <a:xfrm>
            <a:off x="2697480" y="3383280"/>
            <a:ext cx="1600200" cy="310896"/>
          </a:xfrm>
          <a:prstGeom prst="roundRect">
            <a:avLst/>
          </a:prstGeom>
          <a:solidFill>
            <a:srgbClr val="0383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4F14B86-ABAA-0FDE-602A-2C16B8F8B006}"/>
              </a:ext>
            </a:extLst>
          </p:cNvPr>
          <p:cNvSpPr txBox="1"/>
          <p:nvPr/>
        </p:nvSpPr>
        <p:spPr>
          <a:xfrm>
            <a:off x="2788920" y="3442716"/>
            <a:ext cx="1417320" cy="167738"/>
          </a:xfrm>
          <a:prstGeom prst="rect">
            <a:avLst/>
          </a:prstGeom>
          <a:noFill/>
        </p:spPr>
        <p:txBody>
          <a:bodyPr vert="horz" wrap="square" lIns="36576" tIns="18288" rIns="36576" bIns="18288" rtlCol="0">
            <a:spAutoFit/>
          </a:bodyPr>
          <a:lstStyle/>
          <a:p>
            <a:pPr algn="ctr"/>
            <a:r>
              <a:rPr lang="en-US" sz="850" b="1">
                <a:solidFill>
                  <a:srgbClr val="FFFFFF"/>
                </a:solidFill>
                <a:latin typeface="Segoe UI" panose="020B0502040204020203" pitchFamily="34" charset="0"/>
              </a:rPr>
              <a:t>Synthetic data only</a:t>
            </a:r>
          </a:p>
        </p:txBody>
      </p:sp>
      <p:sp>
        <p:nvSpPr>
          <p:cNvPr id="12" name="Rectangle: Rounded Corners 11">
            <a:extLst>
              <a:ext uri="{FF2B5EF4-FFF2-40B4-BE49-F238E27FC236}">
                <a16:creationId xmlns:a16="http://schemas.microsoft.com/office/drawing/2014/main" id="{10CA1163-8139-5FC6-E3F7-0CE84AC2DCB5}"/>
              </a:ext>
            </a:extLst>
          </p:cNvPr>
          <p:cNvSpPr/>
          <p:nvPr/>
        </p:nvSpPr>
        <p:spPr>
          <a:xfrm>
            <a:off x="4443984" y="3383280"/>
            <a:ext cx="1234440" cy="310896"/>
          </a:xfrm>
          <a:prstGeom prst="roundRect">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E1CA02F-2C14-63F6-68CE-EC2F83D9F6E4}"/>
              </a:ext>
            </a:extLst>
          </p:cNvPr>
          <p:cNvSpPr txBox="1"/>
          <p:nvPr/>
        </p:nvSpPr>
        <p:spPr>
          <a:xfrm>
            <a:off x="4535424" y="3442716"/>
            <a:ext cx="1051560" cy="167738"/>
          </a:xfrm>
          <a:prstGeom prst="rect">
            <a:avLst/>
          </a:prstGeom>
          <a:noFill/>
        </p:spPr>
        <p:txBody>
          <a:bodyPr vert="horz" wrap="square" lIns="36576" tIns="18288" rIns="36576" bIns="18288" rtlCol="0">
            <a:spAutoFit/>
          </a:bodyPr>
          <a:lstStyle/>
          <a:p>
            <a:pPr algn="ctr"/>
            <a:r>
              <a:rPr lang="en-US" sz="850" b="1">
                <a:solidFill>
                  <a:srgbClr val="FFFFFF"/>
                </a:solidFill>
                <a:latin typeface="Segoe UI" panose="020B0502040204020203" pitchFamily="34" charset="0"/>
              </a:rPr>
              <a:t>LoRA adapter</a:t>
            </a:r>
          </a:p>
        </p:txBody>
      </p:sp>
      <p:sp>
        <p:nvSpPr>
          <p:cNvPr id="14" name="Rectangle: Rounded Corners 13">
            <a:extLst>
              <a:ext uri="{FF2B5EF4-FFF2-40B4-BE49-F238E27FC236}">
                <a16:creationId xmlns:a16="http://schemas.microsoft.com/office/drawing/2014/main" id="{074BAF8E-5F63-0FB1-C2FB-E4830B0B83E7}"/>
              </a:ext>
            </a:extLst>
          </p:cNvPr>
          <p:cNvSpPr/>
          <p:nvPr/>
        </p:nvSpPr>
        <p:spPr>
          <a:xfrm>
            <a:off x="7406640" y="1261872"/>
            <a:ext cx="3566160" cy="3429000"/>
          </a:xfrm>
          <a:prstGeom prst="roundRect">
            <a:avLst/>
          </a:prstGeom>
          <a:solidFill>
            <a:srgbClr val="11100F"/>
          </a:solidFill>
          <a:ln w="6350">
            <a:solidFill>
              <a:srgbClr val="605E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5CF826E0-A40D-015E-4516-056FE3F87F6C}"/>
              </a:ext>
            </a:extLst>
          </p:cNvPr>
          <p:cNvSpPr/>
          <p:nvPr/>
        </p:nvSpPr>
        <p:spPr>
          <a:xfrm>
            <a:off x="7726680" y="1627632"/>
            <a:ext cx="2926081" cy="384048"/>
          </a:xfrm>
          <a:prstGeom prst="roundRect">
            <a:avLst/>
          </a:prstGeom>
          <a:solidFill>
            <a:srgbClr val="0045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7A1B360-1B36-4461-AC02-83B6BBB2DB40}"/>
              </a:ext>
            </a:extLst>
          </p:cNvPr>
          <p:cNvSpPr txBox="1"/>
          <p:nvPr/>
        </p:nvSpPr>
        <p:spPr>
          <a:xfrm>
            <a:off x="7900416" y="1709928"/>
            <a:ext cx="2468880" cy="178510"/>
          </a:xfrm>
          <a:prstGeom prst="rect">
            <a:avLst/>
          </a:prstGeom>
          <a:noFill/>
        </p:spPr>
        <p:txBody>
          <a:bodyPr vert="horz" wrap="square" lIns="36576" tIns="18288" rIns="36576" bIns="18288" rtlCol="0">
            <a:spAutoFit/>
          </a:bodyPr>
          <a:lstStyle/>
          <a:p>
            <a:pPr algn="ctr"/>
            <a:r>
              <a:rPr lang="en-US" sz="920" b="1">
                <a:solidFill>
                  <a:srgbClr val="FFFFFF"/>
                </a:solidFill>
                <a:latin typeface="Segoe UI" panose="020B0502040204020203" pitchFamily="34" charset="0"/>
              </a:rPr>
              <a:t>Browser Agent</a:t>
            </a:r>
          </a:p>
        </p:txBody>
      </p:sp>
      <p:sp>
        <p:nvSpPr>
          <p:cNvPr id="17" name="Rectangle: Rounded Corners 16">
            <a:extLst>
              <a:ext uri="{FF2B5EF4-FFF2-40B4-BE49-F238E27FC236}">
                <a16:creationId xmlns:a16="http://schemas.microsoft.com/office/drawing/2014/main" id="{8DDEBE1F-0114-BDF9-E312-7331302250A2}"/>
              </a:ext>
            </a:extLst>
          </p:cNvPr>
          <p:cNvSpPr/>
          <p:nvPr/>
        </p:nvSpPr>
        <p:spPr>
          <a:xfrm>
            <a:off x="7726680" y="2240280"/>
            <a:ext cx="1234440" cy="475488"/>
          </a:xfrm>
          <a:prstGeom prst="roundRect">
            <a:avLst/>
          </a:prstGeom>
          <a:solidFill>
            <a:srgbClr val="D7EB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679A38A-381E-C899-4A1F-BB7CC670D808}"/>
              </a:ext>
            </a:extLst>
          </p:cNvPr>
          <p:cNvSpPr txBox="1"/>
          <p:nvPr/>
        </p:nvSpPr>
        <p:spPr>
          <a:xfrm>
            <a:off x="8046720" y="2395728"/>
            <a:ext cx="594360" cy="175433"/>
          </a:xfrm>
          <a:prstGeom prst="rect">
            <a:avLst/>
          </a:prstGeom>
          <a:noFill/>
        </p:spPr>
        <p:txBody>
          <a:bodyPr vert="horz" wrap="square" lIns="36576" tIns="18288" rIns="36576" bIns="18288" rtlCol="0">
            <a:spAutoFit/>
          </a:bodyPr>
          <a:lstStyle/>
          <a:p>
            <a:pPr algn="ctr"/>
            <a:r>
              <a:rPr lang="en-US" sz="900" b="1">
                <a:solidFill>
                  <a:srgbClr val="004578"/>
                </a:solidFill>
                <a:latin typeface="Segoe UI" panose="020B0502040204020203" pitchFamily="34" charset="0"/>
              </a:rPr>
              <a:t>DOM</a:t>
            </a:r>
          </a:p>
        </p:txBody>
      </p:sp>
      <p:sp>
        <p:nvSpPr>
          <p:cNvPr id="19" name="Rectangle: Rounded Corners 18">
            <a:extLst>
              <a:ext uri="{FF2B5EF4-FFF2-40B4-BE49-F238E27FC236}">
                <a16:creationId xmlns:a16="http://schemas.microsoft.com/office/drawing/2014/main" id="{0542932D-AE2E-5FB7-EF12-EEC6E8B31FEC}"/>
              </a:ext>
            </a:extLst>
          </p:cNvPr>
          <p:cNvSpPr/>
          <p:nvPr/>
        </p:nvSpPr>
        <p:spPr>
          <a:xfrm>
            <a:off x="9189720" y="2240280"/>
            <a:ext cx="1234440" cy="475488"/>
          </a:xfrm>
          <a:prstGeom prst="roundRect">
            <a:avLst/>
          </a:prstGeom>
          <a:solidFill>
            <a:srgbClr val="EDE7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780CB81-EE65-6232-7E5A-AC12FA02460E}"/>
              </a:ext>
            </a:extLst>
          </p:cNvPr>
          <p:cNvSpPr txBox="1"/>
          <p:nvPr/>
        </p:nvSpPr>
        <p:spPr>
          <a:xfrm>
            <a:off x="9464040" y="2395728"/>
            <a:ext cx="685800" cy="175433"/>
          </a:xfrm>
          <a:prstGeom prst="rect">
            <a:avLst/>
          </a:prstGeom>
          <a:noFill/>
        </p:spPr>
        <p:txBody>
          <a:bodyPr vert="horz" wrap="square" lIns="36576" tIns="18288" rIns="36576" bIns="18288" rtlCol="0">
            <a:spAutoFit/>
          </a:bodyPr>
          <a:lstStyle/>
          <a:p>
            <a:pPr algn="ctr"/>
            <a:r>
              <a:rPr lang="en-US" sz="900" b="1">
                <a:solidFill>
                  <a:srgbClr val="5C2D91"/>
                </a:solidFill>
                <a:latin typeface="Segoe UI" panose="020B0502040204020203" pitchFamily="34" charset="0"/>
              </a:rPr>
              <a:t>Intent</a:t>
            </a:r>
          </a:p>
        </p:txBody>
      </p:sp>
      <p:cxnSp>
        <p:nvCxnSpPr>
          <p:cNvPr id="21" name="Straight Connector 20">
            <a:extLst>
              <a:ext uri="{FF2B5EF4-FFF2-40B4-BE49-F238E27FC236}">
                <a16:creationId xmlns:a16="http://schemas.microsoft.com/office/drawing/2014/main" id="{54B02110-4E3D-2BA5-6C10-924F22ADD6B9}"/>
              </a:ext>
            </a:extLst>
          </p:cNvPr>
          <p:cNvCxnSpPr/>
          <p:nvPr/>
        </p:nvCxnSpPr>
        <p:spPr>
          <a:xfrm>
            <a:off x="8979408" y="2468880"/>
            <a:ext cx="192024" cy="0"/>
          </a:xfrm>
          <a:prstGeom prst="line">
            <a:avLst/>
          </a:prstGeom>
          <a:ln w="20320">
            <a:solidFill>
              <a:srgbClr val="8A8886"/>
            </a:solidFill>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C9EED369-ECB0-1794-E95D-DAAE0B1D3F6F}"/>
              </a:ext>
            </a:extLst>
          </p:cNvPr>
          <p:cNvSpPr/>
          <p:nvPr/>
        </p:nvSpPr>
        <p:spPr>
          <a:xfrm>
            <a:off x="8275320" y="3246120"/>
            <a:ext cx="1627632" cy="585216"/>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3377B47-B821-A819-FA97-830A8D16C18C}"/>
              </a:ext>
            </a:extLst>
          </p:cNvPr>
          <p:cNvSpPr txBox="1"/>
          <p:nvPr/>
        </p:nvSpPr>
        <p:spPr>
          <a:xfrm>
            <a:off x="8449056" y="3456432"/>
            <a:ext cx="1280160" cy="175433"/>
          </a:xfrm>
          <a:prstGeom prst="rect">
            <a:avLst/>
          </a:prstGeom>
          <a:noFill/>
        </p:spPr>
        <p:txBody>
          <a:bodyPr vert="horz" wrap="square" lIns="36576" tIns="18288" rIns="36576" bIns="18288" rtlCol="0">
            <a:spAutoFit/>
          </a:bodyPr>
          <a:lstStyle/>
          <a:p>
            <a:pPr algn="ctr"/>
            <a:r>
              <a:rPr lang="en-US" sz="900" b="1">
                <a:solidFill>
                  <a:srgbClr val="107C10"/>
                </a:solidFill>
                <a:latin typeface="Segoe UI" panose="020B0502040204020203" pitchFamily="34" charset="0"/>
              </a:rPr>
              <a:t>JSON actions</a:t>
            </a:r>
          </a:p>
        </p:txBody>
      </p:sp>
      <p:cxnSp>
        <p:nvCxnSpPr>
          <p:cNvPr id="24" name="Straight Connector 23">
            <a:extLst>
              <a:ext uri="{FF2B5EF4-FFF2-40B4-BE49-F238E27FC236}">
                <a16:creationId xmlns:a16="http://schemas.microsoft.com/office/drawing/2014/main" id="{90964874-B8BF-09B9-15FE-71563094BD08}"/>
              </a:ext>
            </a:extLst>
          </p:cNvPr>
          <p:cNvCxnSpPr/>
          <p:nvPr/>
        </p:nvCxnSpPr>
        <p:spPr>
          <a:xfrm>
            <a:off x="8339328" y="2761488"/>
            <a:ext cx="466344" cy="457200"/>
          </a:xfrm>
          <a:prstGeom prst="line">
            <a:avLst/>
          </a:prstGeom>
          <a:ln w="27940">
            <a:solidFill>
              <a:srgbClr val="00B7C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A8D26E7-6C24-2E3E-92DF-06D674296E93}"/>
              </a:ext>
            </a:extLst>
          </p:cNvPr>
          <p:cNvCxnSpPr/>
          <p:nvPr/>
        </p:nvCxnSpPr>
        <p:spPr>
          <a:xfrm flipH="1">
            <a:off x="9326880" y="2761488"/>
            <a:ext cx="484632" cy="457200"/>
          </a:xfrm>
          <a:prstGeom prst="line">
            <a:avLst/>
          </a:prstGeom>
          <a:ln w="27940">
            <a:solidFill>
              <a:srgbClr val="00B7C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3371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C02493-4CB4-C81E-CF8B-CEC655BC928B}"/>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AAD64EB-B641-95FF-5570-BE1C51F71C68}"/>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00EC5D6A-BD5B-7A00-251E-69C8475037EC}"/>
              </a:ext>
            </a:extLst>
          </p:cNvPr>
          <p:cNvSpPr txBox="1"/>
          <p:nvPr/>
        </p:nvSpPr>
        <p:spPr>
          <a:xfrm>
            <a:off x="502919" y="502920"/>
            <a:ext cx="9513645"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The problem: browsing agents need repeatable actions</a:t>
            </a:r>
          </a:p>
        </p:txBody>
      </p:sp>
      <p:sp>
        <p:nvSpPr>
          <p:cNvPr id="6" name="TextBox 5">
            <a:extLst>
              <a:ext uri="{FF2B5EF4-FFF2-40B4-BE49-F238E27FC236}">
                <a16:creationId xmlns:a16="http://schemas.microsoft.com/office/drawing/2014/main" id="{65B5639F-85AC-CE3F-EFB5-1C8ADAFD2CDC}"/>
              </a:ext>
            </a:extLst>
          </p:cNvPr>
          <p:cNvSpPr txBox="1"/>
          <p:nvPr/>
        </p:nvSpPr>
        <p:spPr>
          <a:xfrm>
            <a:off x="569229" y="1362860"/>
            <a:ext cx="10474422" cy="252377"/>
          </a:xfrm>
          <a:prstGeom prst="rect">
            <a:avLst/>
          </a:prstGeom>
          <a:noFill/>
        </p:spPr>
        <p:txBody>
          <a:bodyPr vert="horz" wrap="square" lIns="36576" tIns="18288" rIns="36576" bIns="18288" rtlCol="0">
            <a:spAutoFit/>
          </a:bodyPr>
          <a:lstStyle/>
          <a:p>
            <a:r>
              <a:rPr lang="en-US" sz="1400">
                <a:solidFill>
                  <a:srgbClr val="605E5C"/>
                </a:solidFill>
                <a:latin typeface="Aptos" panose="020B0004020202020204" pitchFamily="34" charset="0"/>
              </a:rPr>
              <a:t>Map to a browser-control agent: read a page state, understand the user's intent, and return a precise machine-executable action plan.</a:t>
            </a:r>
          </a:p>
        </p:txBody>
      </p:sp>
      <p:sp>
        <p:nvSpPr>
          <p:cNvPr id="7" name="Rectangle: Rounded Corners 6">
            <a:extLst>
              <a:ext uri="{FF2B5EF4-FFF2-40B4-BE49-F238E27FC236}">
                <a16:creationId xmlns:a16="http://schemas.microsoft.com/office/drawing/2014/main" id="{5D3A78D2-41E5-3E79-594F-0EB61743F179}"/>
              </a:ext>
            </a:extLst>
          </p:cNvPr>
          <p:cNvSpPr/>
          <p:nvPr/>
        </p:nvSpPr>
        <p:spPr>
          <a:xfrm>
            <a:off x="685800" y="2011680"/>
            <a:ext cx="2331720" cy="228600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ACCABDC-0340-FF75-7350-6B749AAFA782}"/>
              </a:ext>
            </a:extLst>
          </p:cNvPr>
          <p:cNvSpPr txBox="1"/>
          <p:nvPr/>
        </p:nvSpPr>
        <p:spPr>
          <a:xfrm>
            <a:off x="914400" y="2249424"/>
            <a:ext cx="256032" cy="236988"/>
          </a:xfrm>
          <a:prstGeom prst="rect">
            <a:avLst/>
          </a:prstGeom>
          <a:noFill/>
        </p:spPr>
        <p:txBody>
          <a:bodyPr vert="horz" wrap="square" lIns="36576" tIns="18288" rIns="36576" bIns="18288" rtlCol="0">
            <a:spAutoFit/>
          </a:bodyPr>
          <a:lstStyle/>
          <a:p>
            <a:r>
              <a:rPr lang="en-US" sz="1300" b="1">
                <a:solidFill>
                  <a:srgbClr val="0078D4"/>
                </a:solidFill>
                <a:latin typeface="Segoe UI" panose="020B0502040204020203" pitchFamily="34" charset="0"/>
              </a:rPr>
              <a:t>1</a:t>
            </a:r>
          </a:p>
        </p:txBody>
      </p:sp>
      <p:sp>
        <p:nvSpPr>
          <p:cNvPr id="9" name="TextBox 8">
            <a:extLst>
              <a:ext uri="{FF2B5EF4-FFF2-40B4-BE49-F238E27FC236}">
                <a16:creationId xmlns:a16="http://schemas.microsoft.com/office/drawing/2014/main" id="{F7350C07-2714-9560-4224-E9CF4A029AB4}"/>
              </a:ext>
            </a:extLst>
          </p:cNvPr>
          <p:cNvSpPr txBox="1"/>
          <p:nvPr/>
        </p:nvSpPr>
        <p:spPr>
          <a:xfrm>
            <a:off x="1234440" y="2212848"/>
            <a:ext cx="1371600" cy="252377"/>
          </a:xfrm>
          <a:prstGeom prst="rect">
            <a:avLst/>
          </a:prstGeom>
          <a:noFill/>
        </p:spPr>
        <p:txBody>
          <a:bodyPr vert="horz" wrap="square" lIns="36576" tIns="18288" rIns="36576" bIns="18288" rtlCol="0">
            <a:spAutoFit/>
          </a:bodyPr>
          <a:lstStyle/>
          <a:p>
            <a:r>
              <a:rPr lang="en-US" sz="1400" b="1">
                <a:solidFill>
                  <a:srgbClr val="201F1E"/>
                </a:solidFill>
                <a:latin typeface="Segoe UI" panose="020B0502040204020203" pitchFamily="34" charset="0"/>
              </a:rPr>
              <a:t>User goal</a:t>
            </a:r>
          </a:p>
        </p:txBody>
      </p:sp>
      <p:sp>
        <p:nvSpPr>
          <p:cNvPr id="10" name="TextBox 9">
            <a:extLst>
              <a:ext uri="{FF2B5EF4-FFF2-40B4-BE49-F238E27FC236}">
                <a16:creationId xmlns:a16="http://schemas.microsoft.com/office/drawing/2014/main" id="{9DF8AC4A-E5D1-20E1-A655-E25594EE7EC2}"/>
              </a:ext>
            </a:extLst>
          </p:cNvPr>
          <p:cNvSpPr txBox="1"/>
          <p:nvPr/>
        </p:nvSpPr>
        <p:spPr>
          <a:xfrm>
            <a:off x="914400" y="2770632"/>
            <a:ext cx="1783080" cy="1268039"/>
          </a:xfrm>
          <a:prstGeom prst="rect">
            <a:avLst/>
          </a:prstGeom>
          <a:noFill/>
        </p:spPr>
        <p:txBody>
          <a:bodyPr vert="horz" wrap="square" lIns="36576" tIns="18288" rIns="36576" bIns="18288" rtlCol="0">
            <a:spAutoFit/>
          </a:bodyPr>
          <a:lstStyle/>
          <a:p>
            <a:r>
              <a:rPr lang="en-US" sz="1600" b="1">
                <a:solidFill>
                  <a:srgbClr val="004578"/>
                </a:solidFill>
                <a:latin typeface="Aptos" panose="020B0004020202020204" pitchFamily="34" charset="0"/>
              </a:rPr>
              <a:t>Open a prior authorization, run policy check, submit in the right order.</a:t>
            </a:r>
          </a:p>
        </p:txBody>
      </p:sp>
      <p:sp>
        <p:nvSpPr>
          <p:cNvPr id="11" name="Rectangle: Rounded Corners 10">
            <a:extLst>
              <a:ext uri="{FF2B5EF4-FFF2-40B4-BE49-F238E27FC236}">
                <a16:creationId xmlns:a16="http://schemas.microsoft.com/office/drawing/2014/main" id="{901650EC-0296-053C-738B-CEC34BFF61E7}"/>
              </a:ext>
            </a:extLst>
          </p:cNvPr>
          <p:cNvSpPr/>
          <p:nvPr/>
        </p:nvSpPr>
        <p:spPr>
          <a:xfrm>
            <a:off x="3657600" y="2011680"/>
            <a:ext cx="2331720" cy="228600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7FB08A2-2292-5194-3CD0-05D409CEB74A}"/>
              </a:ext>
            </a:extLst>
          </p:cNvPr>
          <p:cNvSpPr txBox="1"/>
          <p:nvPr/>
        </p:nvSpPr>
        <p:spPr>
          <a:xfrm>
            <a:off x="3886200" y="2249424"/>
            <a:ext cx="256032" cy="236988"/>
          </a:xfrm>
          <a:prstGeom prst="rect">
            <a:avLst/>
          </a:prstGeom>
          <a:noFill/>
        </p:spPr>
        <p:txBody>
          <a:bodyPr vert="horz" wrap="square" lIns="36576" tIns="18288" rIns="36576" bIns="18288" rtlCol="0">
            <a:spAutoFit/>
          </a:bodyPr>
          <a:lstStyle/>
          <a:p>
            <a:r>
              <a:rPr lang="en-US" sz="1300" b="1">
                <a:solidFill>
                  <a:srgbClr val="038387"/>
                </a:solidFill>
                <a:latin typeface="Segoe UI" panose="020B0502040204020203" pitchFamily="34" charset="0"/>
              </a:rPr>
              <a:t>2</a:t>
            </a:r>
          </a:p>
        </p:txBody>
      </p:sp>
      <p:sp>
        <p:nvSpPr>
          <p:cNvPr id="13" name="TextBox 12">
            <a:extLst>
              <a:ext uri="{FF2B5EF4-FFF2-40B4-BE49-F238E27FC236}">
                <a16:creationId xmlns:a16="http://schemas.microsoft.com/office/drawing/2014/main" id="{1B3416CB-834E-5A7C-489A-E2C8BFC9A6F7}"/>
              </a:ext>
            </a:extLst>
          </p:cNvPr>
          <p:cNvSpPr txBox="1"/>
          <p:nvPr/>
        </p:nvSpPr>
        <p:spPr>
          <a:xfrm>
            <a:off x="4206240" y="2212848"/>
            <a:ext cx="1371600" cy="252377"/>
          </a:xfrm>
          <a:prstGeom prst="rect">
            <a:avLst/>
          </a:prstGeom>
          <a:noFill/>
        </p:spPr>
        <p:txBody>
          <a:bodyPr vert="horz" wrap="square" lIns="36576" tIns="18288" rIns="36576" bIns="18288" rtlCol="0">
            <a:spAutoFit/>
          </a:bodyPr>
          <a:lstStyle/>
          <a:p>
            <a:r>
              <a:rPr lang="en-US" sz="1400" b="1">
                <a:solidFill>
                  <a:srgbClr val="201F1E"/>
                </a:solidFill>
                <a:latin typeface="Segoe UI" panose="020B0502040204020203" pitchFamily="34" charset="0"/>
              </a:rPr>
              <a:t>Page state</a:t>
            </a:r>
          </a:p>
        </p:txBody>
      </p:sp>
      <p:sp>
        <p:nvSpPr>
          <p:cNvPr id="14" name="TextBox 13">
            <a:extLst>
              <a:ext uri="{FF2B5EF4-FFF2-40B4-BE49-F238E27FC236}">
                <a16:creationId xmlns:a16="http://schemas.microsoft.com/office/drawing/2014/main" id="{5014366F-CE89-3CCC-FB9C-AD0640A0721A}"/>
              </a:ext>
            </a:extLst>
          </p:cNvPr>
          <p:cNvSpPr txBox="1"/>
          <p:nvPr/>
        </p:nvSpPr>
        <p:spPr>
          <a:xfrm>
            <a:off x="3931920" y="2779776"/>
            <a:ext cx="1737360" cy="960263"/>
          </a:xfrm>
          <a:prstGeom prst="rect">
            <a:avLst/>
          </a:prstGeom>
          <a:noFill/>
        </p:spPr>
        <p:txBody>
          <a:bodyPr vert="horz" wrap="square" lIns="36576" tIns="18288" rIns="36576" bIns="18288" rtlCol="0">
            <a:spAutoFit/>
          </a:bodyPr>
          <a:lstStyle/>
          <a:p>
            <a:r>
              <a:rPr lang="en-US" sz="1500" b="1">
                <a:solidFill>
                  <a:srgbClr val="038387"/>
                </a:solidFill>
                <a:latin typeface="Aptos" panose="020B0004020202020204" pitchFamily="34" charset="0"/>
              </a:rPr>
              <a:t>DOM snippet with noisy IDs plus stable data-eim attributes.</a:t>
            </a:r>
          </a:p>
        </p:txBody>
      </p:sp>
      <p:sp>
        <p:nvSpPr>
          <p:cNvPr id="15" name="Rectangle: Rounded Corners 14">
            <a:extLst>
              <a:ext uri="{FF2B5EF4-FFF2-40B4-BE49-F238E27FC236}">
                <a16:creationId xmlns:a16="http://schemas.microsoft.com/office/drawing/2014/main" id="{8380C86F-DEA8-6CFD-F831-F048984129BA}"/>
              </a:ext>
            </a:extLst>
          </p:cNvPr>
          <p:cNvSpPr/>
          <p:nvPr/>
        </p:nvSpPr>
        <p:spPr>
          <a:xfrm>
            <a:off x="6629400" y="2011680"/>
            <a:ext cx="2331720" cy="228600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8E2B5BE-CCE1-395D-AC50-8148DD923D14}"/>
              </a:ext>
            </a:extLst>
          </p:cNvPr>
          <p:cNvSpPr txBox="1"/>
          <p:nvPr/>
        </p:nvSpPr>
        <p:spPr>
          <a:xfrm>
            <a:off x="6858000" y="2249424"/>
            <a:ext cx="256032" cy="236988"/>
          </a:xfrm>
          <a:prstGeom prst="rect">
            <a:avLst/>
          </a:prstGeom>
          <a:noFill/>
        </p:spPr>
        <p:txBody>
          <a:bodyPr vert="horz" wrap="square" lIns="36576" tIns="18288" rIns="36576" bIns="18288" rtlCol="0">
            <a:spAutoFit/>
          </a:bodyPr>
          <a:lstStyle/>
          <a:p>
            <a:r>
              <a:rPr lang="en-US" sz="1300" b="1">
                <a:solidFill>
                  <a:srgbClr val="107C10"/>
                </a:solidFill>
                <a:latin typeface="Segoe UI" panose="020B0502040204020203" pitchFamily="34" charset="0"/>
              </a:rPr>
              <a:t>3</a:t>
            </a:r>
          </a:p>
        </p:txBody>
      </p:sp>
      <p:sp>
        <p:nvSpPr>
          <p:cNvPr id="17" name="TextBox 16">
            <a:extLst>
              <a:ext uri="{FF2B5EF4-FFF2-40B4-BE49-F238E27FC236}">
                <a16:creationId xmlns:a16="http://schemas.microsoft.com/office/drawing/2014/main" id="{A6759B29-6D70-A21F-37E8-A1FA06F6CC0A}"/>
              </a:ext>
            </a:extLst>
          </p:cNvPr>
          <p:cNvSpPr txBox="1"/>
          <p:nvPr/>
        </p:nvSpPr>
        <p:spPr>
          <a:xfrm>
            <a:off x="7178040" y="2212848"/>
            <a:ext cx="1554480" cy="252377"/>
          </a:xfrm>
          <a:prstGeom prst="rect">
            <a:avLst/>
          </a:prstGeom>
          <a:noFill/>
        </p:spPr>
        <p:txBody>
          <a:bodyPr vert="horz" wrap="square" lIns="36576" tIns="18288" rIns="36576" bIns="18288" rtlCol="0">
            <a:spAutoFit/>
          </a:bodyPr>
          <a:lstStyle/>
          <a:p>
            <a:r>
              <a:rPr lang="en-US" sz="1400" b="1">
                <a:solidFill>
                  <a:srgbClr val="201F1E"/>
                </a:solidFill>
                <a:latin typeface="Segoe UI" panose="020B0502040204020203" pitchFamily="34" charset="0"/>
              </a:rPr>
              <a:t>Action contract</a:t>
            </a:r>
          </a:p>
        </p:txBody>
      </p:sp>
      <p:sp>
        <p:nvSpPr>
          <p:cNvPr id="18" name="TextBox 17">
            <a:extLst>
              <a:ext uri="{FF2B5EF4-FFF2-40B4-BE49-F238E27FC236}">
                <a16:creationId xmlns:a16="http://schemas.microsoft.com/office/drawing/2014/main" id="{9470E34A-00F6-BF6B-A598-13B1B319CA57}"/>
              </a:ext>
            </a:extLst>
          </p:cNvPr>
          <p:cNvSpPr txBox="1"/>
          <p:nvPr/>
        </p:nvSpPr>
        <p:spPr>
          <a:xfrm>
            <a:off x="6903720" y="2770632"/>
            <a:ext cx="1783080" cy="960263"/>
          </a:xfrm>
          <a:prstGeom prst="rect">
            <a:avLst/>
          </a:prstGeom>
          <a:noFill/>
        </p:spPr>
        <p:txBody>
          <a:bodyPr vert="horz" wrap="square" lIns="36576" tIns="18288" rIns="36576" bIns="18288" rtlCol="0">
            <a:spAutoFit/>
          </a:bodyPr>
          <a:lstStyle/>
          <a:p>
            <a:r>
              <a:rPr lang="en-US" sz="1500" b="1">
                <a:solidFill>
                  <a:srgbClr val="107C10"/>
                </a:solidFill>
                <a:latin typeface="Aptos" panose="020B0004020202020204" pitchFamily="34" charset="0"/>
              </a:rPr>
              <a:t>Return only JSON: click, type, extract - no prose, no markdown.</a:t>
            </a:r>
          </a:p>
        </p:txBody>
      </p:sp>
      <p:sp>
        <p:nvSpPr>
          <p:cNvPr id="19" name="Rectangle: Rounded Corners 18">
            <a:extLst>
              <a:ext uri="{FF2B5EF4-FFF2-40B4-BE49-F238E27FC236}">
                <a16:creationId xmlns:a16="http://schemas.microsoft.com/office/drawing/2014/main" id="{A2D04F47-C023-6735-6575-5D108AA5FF04}"/>
              </a:ext>
            </a:extLst>
          </p:cNvPr>
          <p:cNvSpPr/>
          <p:nvPr/>
        </p:nvSpPr>
        <p:spPr>
          <a:xfrm>
            <a:off x="9601200" y="2011680"/>
            <a:ext cx="1874520" cy="2286000"/>
          </a:xfrm>
          <a:prstGeom prst="roundRect">
            <a:avLst/>
          </a:prstGeom>
          <a:solidFill>
            <a:srgbClr val="2524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72CB94C-D075-FFD8-C020-E2424CB5F1BE}"/>
              </a:ext>
            </a:extLst>
          </p:cNvPr>
          <p:cNvSpPr txBox="1"/>
          <p:nvPr/>
        </p:nvSpPr>
        <p:spPr>
          <a:xfrm>
            <a:off x="9829800" y="2267712"/>
            <a:ext cx="1417320" cy="236988"/>
          </a:xfrm>
          <a:prstGeom prst="rect">
            <a:avLst/>
          </a:prstGeom>
          <a:noFill/>
        </p:spPr>
        <p:txBody>
          <a:bodyPr vert="horz" wrap="square" lIns="36576" tIns="18288" rIns="36576" bIns="18288" rtlCol="0">
            <a:spAutoFit/>
          </a:bodyPr>
          <a:lstStyle/>
          <a:p>
            <a:r>
              <a:rPr lang="en-US" sz="1300" b="1">
                <a:solidFill>
                  <a:srgbClr val="FFFFFF"/>
                </a:solidFill>
                <a:latin typeface="Segoe UI" panose="020B0502040204020203" pitchFamily="34" charset="0"/>
              </a:rPr>
              <a:t>Why it matters</a:t>
            </a:r>
          </a:p>
        </p:txBody>
      </p:sp>
      <p:sp>
        <p:nvSpPr>
          <p:cNvPr id="21" name="TextBox 20">
            <a:extLst>
              <a:ext uri="{FF2B5EF4-FFF2-40B4-BE49-F238E27FC236}">
                <a16:creationId xmlns:a16="http://schemas.microsoft.com/office/drawing/2014/main" id="{25AFB3D1-C609-77B6-9CD9-25F54288240C}"/>
              </a:ext>
            </a:extLst>
          </p:cNvPr>
          <p:cNvSpPr txBox="1"/>
          <p:nvPr/>
        </p:nvSpPr>
        <p:spPr>
          <a:xfrm>
            <a:off x="9893808" y="2770632"/>
            <a:ext cx="1234440" cy="1191095"/>
          </a:xfrm>
          <a:prstGeom prst="rect">
            <a:avLst/>
          </a:prstGeom>
          <a:noFill/>
        </p:spPr>
        <p:txBody>
          <a:bodyPr vert="horz" wrap="square" lIns="36576" tIns="18288" rIns="36576" bIns="18288" rtlCol="0">
            <a:spAutoFit/>
          </a:bodyPr>
          <a:lstStyle/>
          <a:p>
            <a:pPr algn="ctr"/>
            <a:r>
              <a:rPr lang="en-US" sz="1500" b="1">
                <a:solidFill>
                  <a:srgbClr val="D7EBFF"/>
                </a:solidFill>
                <a:latin typeface="Aptos" panose="020B0004020202020204" pitchFamily="34" charset="0"/>
              </a:rPr>
              <a:t>Repeatable</a:t>
            </a:r>
          </a:p>
          <a:p>
            <a:pPr algn="ctr"/>
            <a:r>
              <a:rPr lang="en-US" sz="1500" b="1">
                <a:solidFill>
                  <a:srgbClr val="D7EBFF"/>
                </a:solidFill>
                <a:latin typeface="Aptos" panose="020B0004020202020204" pitchFamily="34" charset="0"/>
              </a:rPr>
              <a:t>Auditable</a:t>
            </a:r>
          </a:p>
          <a:p>
            <a:pPr algn="ctr"/>
            <a:r>
              <a:rPr lang="en-US" sz="1500" b="1">
                <a:solidFill>
                  <a:srgbClr val="D7EBFF"/>
                </a:solidFill>
                <a:latin typeface="Aptos" panose="020B0004020202020204" pitchFamily="34" charset="0"/>
              </a:rPr>
              <a:t>Low variance</a:t>
            </a:r>
          </a:p>
          <a:p>
            <a:pPr algn="ctr"/>
            <a:r>
              <a:rPr lang="en-US" sz="1500" b="1">
                <a:solidFill>
                  <a:srgbClr val="D7EBFF"/>
                </a:solidFill>
                <a:latin typeface="Aptos" panose="020B0004020202020204" pitchFamily="34" charset="0"/>
              </a:rPr>
              <a:t>Workflow-safe</a:t>
            </a:r>
          </a:p>
        </p:txBody>
      </p:sp>
      <p:cxnSp>
        <p:nvCxnSpPr>
          <p:cNvPr id="22" name="Straight Connector 21">
            <a:extLst>
              <a:ext uri="{FF2B5EF4-FFF2-40B4-BE49-F238E27FC236}">
                <a16:creationId xmlns:a16="http://schemas.microsoft.com/office/drawing/2014/main" id="{6CDB7ABB-7752-49DC-123E-1890CB560B74}"/>
              </a:ext>
            </a:extLst>
          </p:cNvPr>
          <p:cNvCxnSpPr/>
          <p:nvPr/>
        </p:nvCxnSpPr>
        <p:spPr>
          <a:xfrm>
            <a:off x="3035808" y="3154680"/>
            <a:ext cx="576072" cy="0"/>
          </a:xfrm>
          <a:prstGeom prst="line">
            <a:avLst/>
          </a:prstGeom>
          <a:ln w="3175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E250C42-8E13-8068-A871-B67D72E166BE}"/>
              </a:ext>
            </a:extLst>
          </p:cNvPr>
          <p:cNvCxnSpPr/>
          <p:nvPr/>
        </p:nvCxnSpPr>
        <p:spPr>
          <a:xfrm>
            <a:off x="6007608" y="3154680"/>
            <a:ext cx="576072" cy="0"/>
          </a:xfrm>
          <a:prstGeom prst="line">
            <a:avLst/>
          </a:prstGeom>
          <a:ln w="31750">
            <a:solidFill>
              <a:srgbClr val="00B7C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902D23E-22DB-6D80-77FD-9CE53B3CA309}"/>
              </a:ext>
            </a:extLst>
          </p:cNvPr>
          <p:cNvCxnSpPr/>
          <p:nvPr/>
        </p:nvCxnSpPr>
        <p:spPr>
          <a:xfrm>
            <a:off x="8979408" y="3154680"/>
            <a:ext cx="576072" cy="0"/>
          </a:xfrm>
          <a:prstGeom prst="line">
            <a:avLst/>
          </a:prstGeom>
          <a:ln w="31750">
            <a:solidFill>
              <a:srgbClr val="107C10"/>
            </a:solidFill>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23847C76-A790-3A4F-9141-CF42C3466FDE}"/>
              </a:ext>
            </a:extLst>
          </p:cNvPr>
          <p:cNvSpPr/>
          <p:nvPr/>
        </p:nvSpPr>
        <p:spPr>
          <a:xfrm>
            <a:off x="685800" y="4956048"/>
            <a:ext cx="219456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CE90C15-98E0-4018-9932-5BBF6DC3690C}"/>
              </a:ext>
            </a:extLst>
          </p:cNvPr>
          <p:cNvSpPr txBox="1"/>
          <p:nvPr/>
        </p:nvSpPr>
        <p:spPr>
          <a:xfrm>
            <a:off x="850392" y="5084064"/>
            <a:ext cx="1865376" cy="421654"/>
          </a:xfrm>
          <a:prstGeom prst="rect">
            <a:avLst/>
          </a:prstGeom>
          <a:noFill/>
        </p:spPr>
        <p:txBody>
          <a:bodyPr vert="horz" wrap="square" lIns="36576" tIns="18288" rIns="36576" bIns="18288" rtlCol="0">
            <a:spAutoFit/>
          </a:bodyPr>
          <a:lstStyle/>
          <a:p>
            <a:r>
              <a:rPr lang="en-US" sz="2500" b="1">
                <a:solidFill>
                  <a:srgbClr val="0078D4"/>
                </a:solidFill>
                <a:latin typeface="Aptos Display" panose="020B0004020202020204" pitchFamily="34" charset="0"/>
              </a:rPr>
              <a:t>JSON</a:t>
            </a:r>
          </a:p>
        </p:txBody>
      </p:sp>
      <p:sp>
        <p:nvSpPr>
          <p:cNvPr id="27" name="TextBox 26">
            <a:extLst>
              <a:ext uri="{FF2B5EF4-FFF2-40B4-BE49-F238E27FC236}">
                <a16:creationId xmlns:a16="http://schemas.microsoft.com/office/drawing/2014/main" id="{E4B5E624-3B65-870E-49D0-E2237546CB88}"/>
              </a:ext>
            </a:extLst>
          </p:cNvPr>
          <p:cNvSpPr txBox="1"/>
          <p:nvPr/>
        </p:nvSpPr>
        <p:spPr>
          <a:xfrm>
            <a:off x="850392" y="5522976"/>
            <a:ext cx="1865376" cy="329321"/>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Output is executable, not just plausible</a:t>
            </a:r>
          </a:p>
        </p:txBody>
      </p:sp>
      <p:sp>
        <p:nvSpPr>
          <p:cNvPr id="28" name="Rectangle: Rounded Corners 27">
            <a:extLst>
              <a:ext uri="{FF2B5EF4-FFF2-40B4-BE49-F238E27FC236}">
                <a16:creationId xmlns:a16="http://schemas.microsoft.com/office/drawing/2014/main" id="{74CF35AC-EC80-8BBE-77DF-FBDD516200AC}"/>
              </a:ext>
            </a:extLst>
          </p:cNvPr>
          <p:cNvSpPr/>
          <p:nvPr/>
        </p:nvSpPr>
        <p:spPr>
          <a:xfrm>
            <a:off x="3246120" y="4956048"/>
            <a:ext cx="219456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6C6ACD6-6A47-F515-C988-5378551B03FB}"/>
              </a:ext>
            </a:extLst>
          </p:cNvPr>
          <p:cNvSpPr txBox="1"/>
          <p:nvPr/>
        </p:nvSpPr>
        <p:spPr>
          <a:xfrm>
            <a:off x="3410712" y="5084064"/>
            <a:ext cx="1865376" cy="421654"/>
          </a:xfrm>
          <a:prstGeom prst="rect">
            <a:avLst/>
          </a:prstGeom>
          <a:noFill/>
        </p:spPr>
        <p:txBody>
          <a:bodyPr vert="horz" wrap="square" lIns="36576" tIns="18288" rIns="36576" bIns="18288" rtlCol="0">
            <a:spAutoFit/>
          </a:bodyPr>
          <a:lstStyle/>
          <a:p>
            <a:r>
              <a:rPr lang="en-US" sz="2500" b="1">
                <a:solidFill>
                  <a:srgbClr val="038387"/>
                </a:solidFill>
                <a:latin typeface="Aptos Display" panose="020B0004020202020204" pitchFamily="34" charset="0"/>
              </a:rPr>
              <a:t>data-eim</a:t>
            </a:r>
          </a:p>
        </p:txBody>
      </p:sp>
      <p:sp>
        <p:nvSpPr>
          <p:cNvPr id="30" name="TextBox 29">
            <a:extLst>
              <a:ext uri="{FF2B5EF4-FFF2-40B4-BE49-F238E27FC236}">
                <a16:creationId xmlns:a16="http://schemas.microsoft.com/office/drawing/2014/main" id="{6C7E403F-F8FF-E357-7764-6957CFB1F608}"/>
              </a:ext>
            </a:extLst>
          </p:cNvPr>
          <p:cNvSpPr txBox="1"/>
          <p:nvPr/>
        </p:nvSpPr>
        <p:spPr>
          <a:xfrm>
            <a:off x="3410712" y="5522976"/>
            <a:ext cx="1865376" cy="329321"/>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Stable selectors survive UI-generated IDs</a:t>
            </a:r>
          </a:p>
        </p:txBody>
      </p:sp>
      <p:sp>
        <p:nvSpPr>
          <p:cNvPr id="31" name="Rectangle: Rounded Corners 30">
            <a:extLst>
              <a:ext uri="{FF2B5EF4-FFF2-40B4-BE49-F238E27FC236}">
                <a16:creationId xmlns:a16="http://schemas.microsoft.com/office/drawing/2014/main" id="{27454508-2AF5-E566-DA8D-ED7ABFDEF9D0}"/>
              </a:ext>
            </a:extLst>
          </p:cNvPr>
          <p:cNvSpPr/>
          <p:nvPr/>
        </p:nvSpPr>
        <p:spPr>
          <a:xfrm>
            <a:off x="5806440" y="4956048"/>
            <a:ext cx="219456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8AFDFDA-AA1F-0E52-3D28-1C3C60633A18}"/>
              </a:ext>
            </a:extLst>
          </p:cNvPr>
          <p:cNvSpPr txBox="1"/>
          <p:nvPr/>
        </p:nvSpPr>
        <p:spPr>
          <a:xfrm>
            <a:off x="5971032" y="5084064"/>
            <a:ext cx="1865376" cy="421654"/>
          </a:xfrm>
          <a:prstGeom prst="rect">
            <a:avLst/>
          </a:prstGeom>
          <a:noFill/>
        </p:spPr>
        <p:txBody>
          <a:bodyPr vert="horz" wrap="square" lIns="36576" tIns="18288" rIns="36576" bIns="18288" rtlCol="0">
            <a:spAutoFit/>
          </a:bodyPr>
          <a:lstStyle/>
          <a:p>
            <a:r>
              <a:rPr lang="en-US" sz="2500" b="1">
                <a:solidFill>
                  <a:srgbClr val="107C10"/>
                </a:solidFill>
                <a:latin typeface="Aptos Display" panose="020B0004020202020204" pitchFamily="34" charset="0"/>
              </a:rPr>
              <a:t>0 PHI</a:t>
            </a:r>
          </a:p>
        </p:txBody>
      </p:sp>
      <p:sp>
        <p:nvSpPr>
          <p:cNvPr id="33" name="TextBox 32">
            <a:extLst>
              <a:ext uri="{FF2B5EF4-FFF2-40B4-BE49-F238E27FC236}">
                <a16:creationId xmlns:a16="http://schemas.microsoft.com/office/drawing/2014/main" id="{50E2CCFF-030B-04CF-49CC-4CCD6FAD787C}"/>
              </a:ext>
            </a:extLst>
          </p:cNvPr>
          <p:cNvSpPr txBox="1"/>
          <p:nvPr/>
        </p:nvSpPr>
        <p:spPr>
          <a:xfrm>
            <a:off x="5971032" y="5522976"/>
            <a:ext cx="186537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Healthcare-safe demo data</a:t>
            </a:r>
          </a:p>
        </p:txBody>
      </p:sp>
      <p:sp>
        <p:nvSpPr>
          <p:cNvPr id="34" name="Rectangle: Rounded Corners 33">
            <a:extLst>
              <a:ext uri="{FF2B5EF4-FFF2-40B4-BE49-F238E27FC236}">
                <a16:creationId xmlns:a16="http://schemas.microsoft.com/office/drawing/2014/main" id="{B426E457-6B61-B5DB-6B27-1C157D994CD6}"/>
              </a:ext>
            </a:extLst>
          </p:cNvPr>
          <p:cNvSpPr/>
          <p:nvPr/>
        </p:nvSpPr>
        <p:spPr>
          <a:xfrm>
            <a:off x="8366760" y="4956048"/>
            <a:ext cx="219456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B9D12F3-45D1-611B-5A00-3BD383CBB37D}"/>
              </a:ext>
            </a:extLst>
          </p:cNvPr>
          <p:cNvSpPr txBox="1"/>
          <p:nvPr/>
        </p:nvSpPr>
        <p:spPr>
          <a:xfrm>
            <a:off x="8531352" y="5084064"/>
            <a:ext cx="1865376" cy="421654"/>
          </a:xfrm>
          <a:prstGeom prst="rect">
            <a:avLst/>
          </a:prstGeom>
          <a:noFill/>
        </p:spPr>
        <p:txBody>
          <a:bodyPr vert="horz" wrap="square" lIns="36576" tIns="18288" rIns="36576" bIns="18288" rtlCol="0">
            <a:spAutoFit/>
          </a:bodyPr>
          <a:lstStyle/>
          <a:p>
            <a:r>
              <a:rPr lang="en-US" sz="2500" b="1">
                <a:solidFill>
                  <a:srgbClr val="5C2D91"/>
                </a:solidFill>
                <a:latin typeface="Aptos Display" panose="020B0004020202020204" pitchFamily="34" charset="0"/>
              </a:rPr>
              <a:t>Pilot</a:t>
            </a:r>
          </a:p>
        </p:txBody>
      </p:sp>
      <p:sp>
        <p:nvSpPr>
          <p:cNvPr id="36" name="TextBox 35">
            <a:extLst>
              <a:ext uri="{FF2B5EF4-FFF2-40B4-BE49-F238E27FC236}">
                <a16:creationId xmlns:a16="http://schemas.microsoft.com/office/drawing/2014/main" id="{7680410A-7CD3-E7F1-AA11-79CE7DB5A050}"/>
              </a:ext>
            </a:extLst>
          </p:cNvPr>
          <p:cNvSpPr txBox="1"/>
          <p:nvPr/>
        </p:nvSpPr>
        <p:spPr>
          <a:xfrm>
            <a:off x="8531352" y="5522976"/>
            <a:ext cx="186537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One narrow workflow first</a:t>
            </a:r>
          </a:p>
        </p:txBody>
      </p:sp>
    </p:spTree>
    <p:extLst>
      <p:ext uri="{BB962C8B-B14F-4D97-AF65-F5344CB8AC3E}">
        <p14:creationId xmlns:p14="http://schemas.microsoft.com/office/powerpoint/2010/main" val="4191963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2102C4-14BC-7A0E-B1BF-40D42A5FFBEC}"/>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C61D226-4EE3-597F-833A-CAD1D3E26A43}"/>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B47AD166-FA0F-1328-881D-A26FE7315752}"/>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What this demo considers - and why</a:t>
            </a:r>
          </a:p>
        </p:txBody>
      </p:sp>
      <p:sp>
        <p:nvSpPr>
          <p:cNvPr id="5" name="TextBox 4">
            <a:extLst>
              <a:ext uri="{FF2B5EF4-FFF2-40B4-BE49-F238E27FC236}">
                <a16:creationId xmlns:a16="http://schemas.microsoft.com/office/drawing/2014/main" id="{E5FDB6EE-D568-4C88-CF30-371D6CF220B3}"/>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TextBox 5">
            <a:extLst>
              <a:ext uri="{FF2B5EF4-FFF2-40B4-BE49-F238E27FC236}">
                <a16:creationId xmlns:a16="http://schemas.microsoft.com/office/drawing/2014/main" id="{FE9CA260-10CD-BE86-4162-578205F6B84C}"/>
              </a:ext>
            </a:extLst>
          </p:cNvPr>
          <p:cNvSpPr txBox="1"/>
          <p:nvPr/>
        </p:nvSpPr>
        <p:spPr>
          <a:xfrm>
            <a:off x="594360" y="1207008"/>
            <a:ext cx="8138160" cy="452432"/>
          </a:xfrm>
          <a:prstGeom prst="rect">
            <a:avLst/>
          </a:prstGeom>
          <a:noFill/>
        </p:spPr>
        <p:txBody>
          <a:bodyPr vert="horz" wrap="square" lIns="36576" tIns="18288" rIns="36576" bIns="18288" rtlCol="0">
            <a:spAutoFit/>
          </a:bodyPr>
          <a:lstStyle/>
          <a:p>
            <a:r>
              <a:rPr lang="en-US" sz="1350">
                <a:solidFill>
                  <a:srgbClr val="605E5C"/>
                </a:solidFill>
                <a:latin typeface="Aptos" panose="020B0004020202020204" pitchFamily="34" charset="0"/>
              </a:rPr>
              <a:t>The goal is a disciplined answer to a narrow question: can a small SLM learn Molina/EIM browser-action behavior well enough to justify a pilot?</a:t>
            </a:r>
          </a:p>
        </p:txBody>
      </p:sp>
      <p:sp>
        <p:nvSpPr>
          <p:cNvPr id="7" name="Rectangle: Rounded Corners 6">
            <a:extLst>
              <a:ext uri="{FF2B5EF4-FFF2-40B4-BE49-F238E27FC236}">
                <a16:creationId xmlns:a16="http://schemas.microsoft.com/office/drawing/2014/main" id="{A4945818-DDC6-E163-EB3A-74D9B36395B6}"/>
              </a:ext>
            </a:extLst>
          </p:cNvPr>
          <p:cNvSpPr/>
          <p:nvPr/>
        </p:nvSpPr>
        <p:spPr>
          <a:xfrm>
            <a:off x="685800" y="1874520"/>
            <a:ext cx="3246120" cy="1353312"/>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32232D1-BFA6-6979-B1D0-9321A6A39F4C}"/>
              </a:ext>
            </a:extLst>
          </p:cNvPr>
          <p:cNvSpPr/>
          <p:nvPr/>
        </p:nvSpPr>
        <p:spPr>
          <a:xfrm>
            <a:off x="868680" y="2093976"/>
            <a:ext cx="384048" cy="384048"/>
          </a:xfrm>
          <a:prstGeom prst="ellipse">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F761F9A-D61E-D0B4-F8E4-711560923C11}"/>
              </a:ext>
            </a:extLst>
          </p:cNvPr>
          <p:cNvSpPr txBox="1"/>
          <p:nvPr/>
        </p:nvSpPr>
        <p:spPr>
          <a:xfrm>
            <a:off x="877824" y="2157984"/>
            <a:ext cx="36576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1</a:t>
            </a:r>
          </a:p>
        </p:txBody>
      </p:sp>
      <p:sp>
        <p:nvSpPr>
          <p:cNvPr id="10" name="TextBox 9">
            <a:extLst>
              <a:ext uri="{FF2B5EF4-FFF2-40B4-BE49-F238E27FC236}">
                <a16:creationId xmlns:a16="http://schemas.microsoft.com/office/drawing/2014/main" id="{CAF8703A-3E60-479A-CA58-8563BDBFE987}"/>
              </a:ext>
            </a:extLst>
          </p:cNvPr>
          <p:cNvSpPr txBox="1"/>
          <p:nvPr/>
        </p:nvSpPr>
        <p:spPr>
          <a:xfrm>
            <a:off x="1399032" y="2075688"/>
            <a:ext cx="2240280" cy="236988"/>
          </a:xfrm>
          <a:prstGeom prst="rect">
            <a:avLst/>
          </a:prstGeom>
          <a:noFill/>
        </p:spPr>
        <p:txBody>
          <a:bodyPr vert="horz" wrap="square" lIns="36576" tIns="18288" rIns="36576" bIns="18288" rtlCol="0">
            <a:spAutoFit/>
          </a:bodyPr>
          <a:lstStyle/>
          <a:p>
            <a:r>
              <a:rPr lang="en-US" sz="1300" b="1">
                <a:solidFill>
                  <a:srgbClr val="201F1E"/>
                </a:solidFill>
                <a:latin typeface="Segoe UI" panose="020B0502040204020203" pitchFamily="34" charset="0"/>
              </a:rPr>
              <a:t>Workflow contract</a:t>
            </a:r>
          </a:p>
        </p:txBody>
      </p:sp>
      <p:sp>
        <p:nvSpPr>
          <p:cNvPr id="11" name="TextBox 10">
            <a:extLst>
              <a:ext uri="{FF2B5EF4-FFF2-40B4-BE49-F238E27FC236}">
                <a16:creationId xmlns:a16="http://schemas.microsoft.com/office/drawing/2014/main" id="{B1DB45C5-5F02-9ED9-9DAB-88C6B9A51DFD}"/>
              </a:ext>
            </a:extLst>
          </p:cNvPr>
          <p:cNvSpPr txBox="1"/>
          <p:nvPr/>
        </p:nvSpPr>
        <p:spPr>
          <a:xfrm>
            <a:off x="1399032" y="2377440"/>
            <a:ext cx="2267712" cy="307777"/>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DOM + instruction in, JSON action plan out. This is the core browser-agent interface.</a:t>
            </a:r>
          </a:p>
        </p:txBody>
      </p:sp>
      <p:sp>
        <p:nvSpPr>
          <p:cNvPr id="12" name="Rectangle: Rounded Corners 11">
            <a:extLst>
              <a:ext uri="{FF2B5EF4-FFF2-40B4-BE49-F238E27FC236}">
                <a16:creationId xmlns:a16="http://schemas.microsoft.com/office/drawing/2014/main" id="{1C4522FB-A539-51B2-66D2-18AFA720B5D3}"/>
              </a:ext>
            </a:extLst>
          </p:cNvPr>
          <p:cNvSpPr/>
          <p:nvPr/>
        </p:nvSpPr>
        <p:spPr>
          <a:xfrm>
            <a:off x="4434840" y="1874520"/>
            <a:ext cx="3246121" cy="1353312"/>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3AECA88-5C15-14BD-C9E1-1C34C806BF50}"/>
              </a:ext>
            </a:extLst>
          </p:cNvPr>
          <p:cNvSpPr/>
          <p:nvPr/>
        </p:nvSpPr>
        <p:spPr>
          <a:xfrm>
            <a:off x="4617720" y="2093976"/>
            <a:ext cx="384048" cy="384048"/>
          </a:xfrm>
          <a:prstGeom prst="ellipse">
            <a:avLst/>
          </a:prstGeom>
          <a:solidFill>
            <a:srgbClr val="5C2D9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097D071-74C8-A6F7-05AC-D464D0CD78B6}"/>
              </a:ext>
            </a:extLst>
          </p:cNvPr>
          <p:cNvSpPr txBox="1"/>
          <p:nvPr/>
        </p:nvSpPr>
        <p:spPr>
          <a:xfrm>
            <a:off x="4626864" y="2157984"/>
            <a:ext cx="36576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2</a:t>
            </a:r>
          </a:p>
        </p:txBody>
      </p:sp>
      <p:sp>
        <p:nvSpPr>
          <p:cNvPr id="15" name="TextBox 14">
            <a:extLst>
              <a:ext uri="{FF2B5EF4-FFF2-40B4-BE49-F238E27FC236}">
                <a16:creationId xmlns:a16="http://schemas.microsoft.com/office/drawing/2014/main" id="{52EF56E8-BAEB-CA5A-C7ED-77A00B27726C}"/>
              </a:ext>
            </a:extLst>
          </p:cNvPr>
          <p:cNvSpPr txBox="1"/>
          <p:nvPr/>
        </p:nvSpPr>
        <p:spPr>
          <a:xfrm>
            <a:off x="5148072" y="2075688"/>
            <a:ext cx="2240280" cy="236988"/>
          </a:xfrm>
          <a:prstGeom prst="rect">
            <a:avLst/>
          </a:prstGeom>
          <a:noFill/>
        </p:spPr>
        <p:txBody>
          <a:bodyPr vert="horz" wrap="square" lIns="36576" tIns="18288" rIns="36576" bIns="18288" rtlCol="0">
            <a:spAutoFit/>
          </a:bodyPr>
          <a:lstStyle/>
          <a:p>
            <a:r>
              <a:rPr lang="en-US" sz="1300" b="1">
                <a:solidFill>
                  <a:srgbClr val="201F1E"/>
                </a:solidFill>
                <a:latin typeface="Segoe UI" panose="020B0502040204020203" pitchFamily="34" charset="0"/>
              </a:rPr>
              <a:t>Small model baseline</a:t>
            </a:r>
          </a:p>
        </p:txBody>
      </p:sp>
      <p:sp>
        <p:nvSpPr>
          <p:cNvPr id="16" name="TextBox 15">
            <a:extLst>
              <a:ext uri="{FF2B5EF4-FFF2-40B4-BE49-F238E27FC236}">
                <a16:creationId xmlns:a16="http://schemas.microsoft.com/office/drawing/2014/main" id="{FE24538E-5D50-2D1A-2B04-2E9EB840C3E0}"/>
              </a:ext>
            </a:extLst>
          </p:cNvPr>
          <p:cNvSpPr txBox="1"/>
          <p:nvPr/>
        </p:nvSpPr>
        <p:spPr>
          <a:xfrm>
            <a:off x="5148072" y="2377440"/>
            <a:ext cx="2267712" cy="307777"/>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Gemma 4B-class SLM can often parse the task, but generic behavior is inconsistent.</a:t>
            </a:r>
          </a:p>
        </p:txBody>
      </p:sp>
      <p:sp>
        <p:nvSpPr>
          <p:cNvPr id="17" name="Rectangle: Rounded Corners 16">
            <a:extLst>
              <a:ext uri="{FF2B5EF4-FFF2-40B4-BE49-F238E27FC236}">
                <a16:creationId xmlns:a16="http://schemas.microsoft.com/office/drawing/2014/main" id="{CDAE71EE-AF73-E5EC-369D-529EBB1FA511}"/>
              </a:ext>
            </a:extLst>
          </p:cNvPr>
          <p:cNvSpPr/>
          <p:nvPr/>
        </p:nvSpPr>
        <p:spPr>
          <a:xfrm>
            <a:off x="8183880" y="1874520"/>
            <a:ext cx="3246120" cy="1353312"/>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1A0E798-67C1-00E4-F150-62446E770771}"/>
              </a:ext>
            </a:extLst>
          </p:cNvPr>
          <p:cNvSpPr/>
          <p:nvPr/>
        </p:nvSpPr>
        <p:spPr>
          <a:xfrm>
            <a:off x="8366760" y="2093976"/>
            <a:ext cx="384048" cy="384048"/>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399F7B2-79DF-87C4-FB54-114D6B41F6D9}"/>
              </a:ext>
            </a:extLst>
          </p:cNvPr>
          <p:cNvSpPr txBox="1"/>
          <p:nvPr/>
        </p:nvSpPr>
        <p:spPr>
          <a:xfrm>
            <a:off x="8375904" y="2157984"/>
            <a:ext cx="36576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3</a:t>
            </a:r>
          </a:p>
        </p:txBody>
      </p:sp>
      <p:sp>
        <p:nvSpPr>
          <p:cNvPr id="20" name="TextBox 19">
            <a:extLst>
              <a:ext uri="{FF2B5EF4-FFF2-40B4-BE49-F238E27FC236}">
                <a16:creationId xmlns:a16="http://schemas.microsoft.com/office/drawing/2014/main" id="{C7A05C42-C1CE-E085-44A8-4F3B50B4B17E}"/>
              </a:ext>
            </a:extLst>
          </p:cNvPr>
          <p:cNvSpPr txBox="1"/>
          <p:nvPr/>
        </p:nvSpPr>
        <p:spPr>
          <a:xfrm>
            <a:off x="8897112" y="2075688"/>
            <a:ext cx="2240280" cy="236988"/>
          </a:xfrm>
          <a:prstGeom prst="rect">
            <a:avLst/>
          </a:prstGeom>
          <a:noFill/>
        </p:spPr>
        <p:txBody>
          <a:bodyPr vert="horz" wrap="square" lIns="36576" tIns="18288" rIns="36576" bIns="18288" rtlCol="0">
            <a:spAutoFit/>
          </a:bodyPr>
          <a:lstStyle/>
          <a:p>
            <a:r>
              <a:rPr lang="en-US" sz="1300" b="1">
                <a:solidFill>
                  <a:srgbClr val="201F1E"/>
                </a:solidFill>
                <a:latin typeface="Segoe UI" panose="020B0502040204020203" pitchFamily="34" charset="0"/>
              </a:rPr>
              <a:t>Synthetic training data</a:t>
            </a:r>
          </a:p>
        </p:txBody>
      </p:sp>
      <p:sp>
        <p:nvSpPr>
          <p:cNvPr id="21" name="TextBox 20">
            <a:extLst>
              <a:ext uri="{FF2B5EF4-FFF2-40B4-BE49-F238E27FC236}">
                <a16:creationId xmlns:a16="http://schemas.microsoft.com/office/drawing/2014/main" id="{53A67DE7-00D0-5400-C1A7-DD221E8580E2}"/>
              </a:ext>
            </a:extLst>
          </p:cNvPr>
          <p:cNvSpPr txBox="1"/>
          <p:nvPr/>
        </p:nvSpPr>
        <p:spPr>
          <a:xfrm>
            <a:off x="8897112" y="2377440"/>
            <a:ext cx="2267712" cy="307777"/>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Healthcare-shaped, deterministic, fake members and claims. No Molina PHI.</a:t>
            </a:r>
          </a:p>
        </p:txBody>
      </p:sp>
      <p:sp>
        <p:nvSpPr>
          <p:cNvPr id="22" name="Rectangle: Rounded Corners 21">
            <a:extLst>
              <a:ext uri="{FF2B5EF4-FFF2-40B4-BE49-F238E27FC236}">
                <a16:creationId xmlns:a16="http://schemas.microsoft.com/office/drawing/2014/main" id="{A9EB9090-773A-F329-E1BB-3070E3126889}"/>
              </a:ext>
            </a:extLst>
          </p:cNvPr>
          <p:cNvSpPr/>
          <p:nvPr/>
        </p:nvSpPr>
        <p:spPr>
          <a:xfrm>
            <a:off x="685800" y="3703320"/>
            <a:ext cx="3246120" cy="1353312"/>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B7AF00B-3C2E-92B0-0777-D87A44202BB8}"/>
              </a:ext>
            </a:extLst>
          </p:cNvPr>
          <p:cNvSpPr/>
          <p:nvPr/>
        </p:nvSpPr>
        <p:spPr>
          <a:xfrm>
            <a:off x="868680" y="3922776"/>
            <a:ext cx="384048" cy="384048"/>
          </a:xfrm>
          <a:prstGeom prst="ellipse">
            <a:avLst/>
          </a:prstGeom>
          <a:solidFill>
            <a:srgbClr val="FF8C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E4D4B88-C5E8-4976-3F12-15A22B4DE74B}"/>
              </a:ext>
            </a:extLst>
          </p:cNvPr>
          <p:cNvSpPr txBox="1"/>
          <p:nvPr/>
        </p:nvSpPr>
        <p:spPr>
          <a:xfrm>
            <a:off x="877824" y="3986784"/>
            <a:ext cx="36576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4</a:t>
            </a:r>
          </a:p>
        </p:txBody>
      </p:sp>
      <p:sp>
        <p:nvSpPr>
          <p:cNvPr id="25" name="TextBox 24">
            <a:extLst>
              <a:ext uri="{FF2B5EF4-FFF2-40B4-BE49-F238E27FC236}">
                <a16:creationId xmlns:a16="http://schemas.microsoft.com/office/drawing/2014/main" id="{ECA9CDD1-9F9C-7BBF-622B-4688FB23C352}"/>
              </a:ext>
            </a:extLst>
          </p:cNvPr>
          <p:cNvSpPr txBox="1"/>
          <p:nvPr/>
        </p:nvSpPr>
        <p:spPr>
          <a:xfrm>
            <a:off x="1399032" y="3904488"/>
            <a:ext cx="2240280" cy="236988"/>
          </a:xfrm>
          <a:prstGeom prst="rect">
            <a:avLst/>
          </a:prstGeom>
          <a:noFill/>
        </p:spPr>
        <p:txBody>
          <a:bodyPr vert="horz" wrap="square" lIns="36576" tIns="18288" rIns="36576" bIns="18288" rtlCol="0">
            <a:spAutoFit/>
          </a:bodyPr>
          <a:lstStyle/>
          <a:p>
            <a:r>
              <a:rPr lang="en-US" sz="1300" b="1">
                <a:solidFill>
                  <a:srgbClr val="201F1E"/>
                </a:solidFill>
                <a:latin typeface="Segoe UI" panose="020B0502040204020203" pitchFamily="34" charset="0"/>
              </a:rPr>
              <a:t>Objective checks</a:t>
            </a:r>
          </a:p>
        </p:txBody>
      </p:sp>
      <p:sp>
        <p:nvSpPr>
          <p:cNvPr id="26" name="TextBox 25">
            <a:extLst>
              <a:ext uri="{FF2B5EF4-FFF2-40B4-BE49-F238E27FC236}">
                <a16:creationId xmlns:a16="http://schemas.microsoft.com/office/drawing/2014/main" id="{D639ED4C-492F-EAAA-7836-36A9D44B159A}"/>
              </a:ext>
            </a:extLst>
          </p:cNvPr>
          <p:cNvSpPr txBox="1"/>
          <p:nvPr/>
        </p:nvSpPr>
        <p:spPr>
          <a:xfrm>
            <a:off x="1399032" y="4206240"/>
            <a:ext cx="2267712" cy="307777"/>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Valid JSON, action schema, stable selectors, workflow navigation, required actions, order.</a:t>
            </a:r>
          </a:p>
        </p:txBody>
      </p:sp>
      <p:sp>
        <p:nvSpPr>
          <p:cNvPr id="27" name="Rectangle: Rounded Corners 26">
            <a:extLst>
              <a:ext uri="{FF2B5EF4-FFF2-40B4-BE49-F238E27FC236}">
                <a16:creationId xmlns:a16="http://schemas.microsoft.com/office/drawing/2014/main" id="{F25E79B4-3062-2294-E74B-85F05EA9AB70}"/>
              </a:ext>
            </a:extLst>
          </p:cNvPr>
          <p:cNvSpPr/>
          <p:nvPr/>
        </p:nvSpPr>
        <p:spPr>
          <a:xfrm>
            <a:off x="4434840" y="3703320"/>
            <a:ext cx="3246121" cy="1353312"/>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41D89D9-45D2-4BBF-1973-08C961F94DB0}"/>
              </a:ext>
            </a:extLst>
          </p:cNvPr>
          <p:cNvSpPr/>
          <p:nvPr/>
        </p:nvSpPr>
        <p:spPr>
          <a:xfrm>
            <a:off x="4617720" y="3922776"/>
            <a:ext cx="384048" cy="384048"/>
          </a:xfrm>
          <a:prstGeom prst="ellipse">
            <a:avLst/>
          </a:prstGeom>
          <a:solidFill>
            <a:srgbClr val="0383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35F1C10-A531-0BE9-2D62-BDA9F3A58186}"/>
              </a:ext>
            </a:extLst>
          </p:cNvPr>
          <p:cNvSpPr txBox="1"/>
          <p:nvPr/>
        </p:nvSpPr>
        <p:spPr>
          <a:xfrm>
            <a:off x="4626864" y="3986784"/>
            <a:ext cx="36576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5</a:t>
            </a:r>
          </a:p>
        </p:txBody>
      </p:sp>
      <p:sp>
        <p:nvSpPr>
          <p:cNvPr id="30" name="TextBox 29">
            <a:extLst>
              <a:ext uri="{FF2B5EF4-FFF2-40B4-BE49-F238E27FC236}">
                <a16:creationId xmlns:a16="http://schemas.microsoft.com/office/drawing/2014/main" id="{A109BB3C-C3DF-6B90-E64B-1A72A8A6172A}"/>
              </a:ext>
            </a:extLst>
          </p:cNvPr>
          <p:cNvSpPr txBox="1"/>
          <p:nvPr/>
        </p:nvSpPr>
        <p:spPr>
          <a:xfrm>
            <a:off x="5148072" y="3904488"/>
            <a:ext cx="2240280" cy="236988"/>
          </a:xfrm>
          <a:prstGeom prst="rect">
            <a:avLst/>
          </a:prstGeom>
          <a:noFill/>
        </p:spPr>
        <p:txBody>
          <a:bodyPr vert="horz" wrap="square" lIns="36576" tIns="18288" rIns="36576" bIns="18288" rtlCol="0">
            <a:spAutoFit/>
          </a:bodyPr>
          <a:lstStyle/>
          <a:p>
            <a:r>
              <a:rPr lang="en-US" sz="1300" b="1">
                <a:solidFill>
                  <a:srgbClr val="201F1E"/>
                </a:solidFill>
                <a:latin typeface="Segoe UI" panose="020B0502040204020203" pitchFamily="34" charset="0"/>
              </a:rPr>
              <a:t>Azure execution path</a:t>
            </a:r>
          </a:p>
        </p:txBody>
      </p:sp>
      <p:sp>
        <p:nvSpPr>
          <p:cNvPr id="31" name="TextBox 30">
            <a:extLst>
              <a:ext uri="{FF2B5EF4-FFF2-40B4-BE49-F238E27FC236}">
                <a16:creationId xmlns:a16="http://schemas.microsoft.com/office/drawing/2014/main" id="{AD8FCF9F-5CA7-5C97-6324-94992F719F52}"/>
              </a:ext>
            </a:extLst>
          </p:cNvPr>
          <p:cNvSpPr txBox="1"/>
          <p:nvPr/>
        </p:nvSpPr>
        <p:spPr>
          <a:xfrm>
            <a:off x="5148072" y="4206240"/>
            <a:ext cx="2267712" cy="307777"/>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A100 managed compute, AzureML job lineage, model registration, online endpoint.</a:t>
            </a:r>
          </a:p>
        </p:txBody>
      </p:sp>
      <p:sp>
        <p:nvSpPr>
          <p:cNvPr id="32" name="Rectangle: Rounded Corners 31">
            <a:extLst>
              <a:ext uri="{FF2B5EF4-FFF2-40B4-BE49-F238E27FC236}">
                <a16:creationId xmlns:a16="http://schemas.microsoft.com/office/drawing/2014/main" id="{1B1BF879-FE50-F14F-20AC-2C272FE4A514}"/>
              </a:ext>
            </a:extLst>
          </p:cNvPr>
          <p:cNvSpPr/>
          <p:nvPr/>
        </p:nvSpPr>
        <p:spPr>
          <a:xfrm>
            <a:off x="8183880" y="3703320"/>
            <a:ext cx="3246120" cy="1353312"/>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FB4FB32-8851-F9CA-9217-EFBF39369ED8}"/>
              </a:ext>
            </a:extLst>
          </p:cNvPr>
          <p:cNvSpPr/>
          <p:nvPr/>
        </p:nvSpPr>
        <p:spPr>
          <a:xfrm>
            <a:off x="8366760" y="3922776"/>
            <a:ext cx="384048" cy="384048"/>
          </a:xfrm>
          <a:prstGeom prst="ellipse">
            <a:avLst/>
          </a:prstGeom>
          <a:solidFill>
            <a:srgbClr val="D1343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1C3950C-1E3E-8984-93A1-374626486CE3}"/>
              </a:ext>
            </a:extLst>
          </p:cNvPr>
          <p:cNvSpPr txBox="1"/>
          <p:nvPr/>
        </p:nvSpPr>
        <p:spPr>
          <a:xfrm>
            <a:off x="8375904" y="3986784"/>
            <a:ext cx="36576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6</a:t>
            </a:r>
          </a:p>
        </p:txBody>
      </p:sp>
      <p:sp>
        <p:nvSpPr>
          <p:cNvPr id="35" name="TextBox 34">
            <a:extLst>
              <a:ext uri="{FF2B5EF4-FFF2-40B4-BE49-F238E27FC236}">
                <a16:creationId xmlns:a16="http://schemas.microsoft.com/office/drawing/2014/main" id="{743CCDA0-E6BB-8FB0-D2D9-D29C8176D8BF}"/>
              </a:ext>
            </a:extLst>
          </p:cNvPr>
          <p:cNvSpPr txBox="1"/>
          <p:nvPr/>
        </p:nvSpPr>
        <p:spPr>
          <a:xfrm>
            <a:off x="8897112" y="3904488"/>
            <a:ext cx="2240280" cy="236988"/>
          </a:xfrm>
          <a:prstGeom prst="rect">
            <a:avLst/>
          </a:prstGeom>
          <a:noFill/>
        </p:spPr>
        <p:txBody>
          <a:bodyPr vert="horz" wrap="square" lIns="36576" tIns="18288" rIns="36576" bIns="18288" rtlCol="0">
            <a:spAutoFit/>
          </a:bodyPr>
          <a:lstStyle/>
          <a:p>
            <a:r>
              <a:rPr lang="en-US" sz="1300" b="1">
                <a:solidFill>
                  <a:srgbClr val="201F1E"/>
                </a:solidFill>
                <a:latin typeface="Segoe UI" panose="020B0502040204020203" pitchFamily="34" charset="0"/>
              </a:rPr>
              <a:t>Cost and cleanup</a:t>
            </a:r>
          </a:p>
        </p:txBody>
      </p:sp>
      <p:sp>
        <p:nvSpPr>
          <p:cNvPr id="36" name="TextBox 35">
            <a:extLst>
              <a:ext uri="{FF2B5EF4-FFF2-40B4-BE49-F238E27FC236}">
                <a16:creationId xmlns:a16="http://schemas.microsoft.com/office/drawing/2014/main" id="{E5291B2D-0A85-476F-E982-2752E30EEACB}"/>
              </a:ext>
            </a:extLst>
          </p:cNvPr>
          <p:cNvSpPr txBox="1"/>
          <p:nvPr/>
        </p:nvSpPr>
        <p:spPr>
          <a:xfrm>
            <a:off x="8897112" y="4206240"/>
            <a:ext cx="2267712" cy="307777"/>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LoRA keeps training small; endpoint is deleted after demo to stop A100 billing.</a:t>
            </a:r>
          </a:p>
        </p:txBody>
      </p:sp>
    </p:spTree>
    <p:extLst>
      <p:ext uri="{BB962C8B-B14F-4D97-AF65-F5344CB8AC3E}">
        <p14:creationId xmlns:p14="http://schemas.microsoft.com/office/powerpoint/2010/main" val="2980989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683AC-157E-9FB3-D9C3-6932B137B727}"/>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A9B575B-7F33-09D9-B46E-D325BCA39505}"/>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EEFD338B-21F1-FB4B-16A5-81E41B1BC5B2}"/>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Base Gemma misses the EIM contract</a:t>
            </a:r>
          </a:p>
        </p:txBody>
      </p:sp>
      <p:sp>
        <p:nvSpPr>
          <p:cNvPr id="5" name="TextBox 4">
            <a:extLst>
              <a:ext uri="{FF2B5EF4-FFF2-40B4-BE49-F238E27FC236}">
                <a16:creationId xmlns:a16="http://schemas.microsoft.com/office/drawing/2014/main" id="{11ED1850-57BE-13C0-7C93-37922914CA6F}"/>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TextBox 5">
            <a:extLst>
              <a:ext uri="{FF2B5EF4-FFF2-40B4-BE49-F238E27FC236}">
                <a16:creationId xmlns:a16="http://schemas.microsoft.com/office/drawing/2014/main" id="{45EBE288-D07B-E819-BD35-956CBDA026BC}"/>
              </a:ext>
            </a:extLst>
          </p:cNvPr>
          <p:cNvSpPr txBox="1"/>
          <p:nvPr/>
        </p:nvSpPr>
        <p:spPr>
          <a:xfrm>
            <a:off x="594360" y="1188720"/>
            <a:ext cx="9230958" cy="244682"/>
          </a:xfrm>
          <a:prstGeom prst="rect">
            <a:avLst/>
          </a:prstGeom>
          <a:noFill/>
        </p:spPr>
        <p:txBody>
          <a:bodyPr vert="horz" wrap="square" lIns="36576" tIns="18288" rIns="36576" bIns="18288" rtlCol="0">
            <a:spAutoFit/>
          </a:bodyPr>
          <a:lstStyle/>
          <a:p>
            <a:r>
              <a:rPr lang="en-US" sz="1350">
                <a:solidFill>
                  <a:srgbClr val="605E5C"/>
                </a:solidFill>
                <a:latin typeface="Aptos" panose="020B0004020202020204" pitchFamily="34" charset="0"/>
              </a:rPr>
              <a:t>In the live demo, the base model often gets surface structure right but misses the stable EIM automation contract.</a:t>
            </a:r>
          </a:p>
        </p:txBody>
      </p:sp>
      <p:sp>
        <p:nvSpPr>
          <p:cNvPr id="7" name="Rectangle: Rounded Corners 6">
            <a:extLst>
              <a:ext uri="{FF2B5EF4-FFF2-40B4-BE49-F238E27FC236}">
                <a16:creationId xmlns:a16="http://schemas.microsoft.com/office/drawing/2014/main" id="{00CABF67-5AA6-0F76-D3B4-5F16172A3065}"/>
              </a:ext>
            </a:extLst>
          </p:cNvPr>
          <p:cNvSpPr/>
          <p:nvPr/>
        </p:nvSpPr>
        <p:spPr>
          <a:xfrm>
            <a:off x="685800" y="1755648"/>
            <a:ext cx="5212080" cy="397764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F61536B-E784-F202-A2C0-3C192EB5434D}"/>
              </a:ext>
            </a:extLst>
          </p:cNvPr>
          <p:cNvSpPr txBox="1"/>
          <p:nvPr/>
        </p:nvSpPr>
        <p:spPr>
          <a:xfrm>
            <a:off x="960120" y="1993392"/>
            <a:ext cx="3840480" cy="252377"/>
          </a:xfrm>
          <a:prstGeom prst="rect">
            <a:avLst/>
          </a:prstGeom>
          <a:noFill/>
        </p:spPr>
        <p:txBody>
          <a:bodyPr vert="horz" wrap="square" lIns="36576" tIns="18288" rIns="36576" bIns="18288" rtlCol="0">
            <a:spAutoFit/>
          </a:bodyPr>
          <a:lstStyle/>
          <a:p>
            <a:r>
              <a:rPr lang="en-US" sz="1400" b="1">
                <a:solidFill>
                  <a:srgbClr val="004578"/>
                </a:solidFill>
                <a:latin typeface="Segoe UI" panose="020B0502040204020203" pitchFamily="34" charset="0"/>
              </a:rPr>
              <a:t>Base Gemma response pattern</a:t>
            </a:r>
          </a:p>
        </p:txBody>
      </p:sp>
      <p:sp>
        <p:nvSpPr>
          <p:cNvPr id="9" name="TextBox 8">
            <a:extLst>
              <a:ext uri="{FF2B5EF4-FFF2-40B4-BE49-F238E27FC236}">
                <a16:creationId xmlns:a16="http://schemas.microsoft.com/office/drawing/2014/main" id="{7164000B-6B94-444D-31DE-07BDD27CE9BA}"/>
              </a:ext>
            </a:extLst>
          </p:cNvPr>
          <p:cNvSpPr txBox="1"/>
          <p:nvPr/>
        </p:nvSpPr>
        <p:spPr>
          <a:xfrm>
            <a:off x="960120" y="2432304"/>
            <a:ext cx="2377440" cy="198516"/>
          </a:xfrm>
          <a:prstGeom prst="rect">
            <a:avLst/>
          </a:prstGeom>
          <a:noFill/>
        </p:spPr>
        <p:txBody>
          <a:bodyPr vert="horz" wrap="square" lIns="36576" tIns="18288" rIns="36576" bIns="18288" rtlCol="0">
            <a:spAutoFit/>
          </a:bodyPr>
          <a:lstStyle/>
          <a:p>
            <a:r>
              <a:rPr lang="en-US" sz="1050" b="1">
                <a:solidFill>
                  <a:srgbClr val="107C10"/>
                </a:solidFill>
                <a:latin typeface="Segoe UI" panose="020B0502040204020203" pitchFamily="34" charset="0"/>
              </a:rPr>
              <a:t>Passes low-level format checks</a:t>
            </a:r>
          </a:p>
        </p:txBody>
      </p:sp>
      <p:sp>
        <p:nvSpPr>
          <p:cNvPr id="10" name="TextBox 9">
            <a:extLst>
              <a:ext uri="{FF2B5EF4-FFF2-40B4-BE49-F238E27FC236}">
                <a16:creationId xmlns:a16="http://schemas.microsoft.com/office/drawing/2014/main" id="{D5A4DD4E-7DD6-456F-372B-B15DCDB0A4DE}"/>
              </a:ext>
            </a:extLst>
          </p:cNvPr>
          <p:cNvSpPr txBox="1"/>
          <p:nvPr/>
        </p:nvSpPr>
        <p:spPr>
          <a:xfrm>
            <a:off x="960120" y="2724912"/>
            <a:ext cx="2011680" cy="637097"/>
          </a:xfrm>
          <a:prstGeom prst="rect">
            <a:avLst/>
          </a:prstGeom>
          <a:noFill/>
        </p:spPr>
        <p:txBody>
          <a:bodyPr vert="horz" wrap="square" lIns="36576" tIns="18288" rIns="36576" bIns="18288" rtlCol="0">
            <a:spAutoFit/>
          </a:bodyPr>
          <a:lstStyle/>
          <a:p>
            <a:r>
              <a:rPr lang="en-US" sz="1300">
                <a:solidFill>
                  <a:srgbClr val="201F1E"/>
                </a:solidFill>
                <a:latin typeface="Aptos" panose="020B0004020202020204" pitchFamily="34" charset="0"/>
              </a:rPr>
              <a:t>Valid JSON</a:t>
            </a:r>
          </a:p>
          <a:p>
            <a:r>
              <a:rPr lang="en-US" sz="1300">
                <a:solidFill>
                  <a:srgbClr val="201F1E"/>
                </a:solidFill>
                <a:latin typeface="Aptos" panose="020B0004020202020204" pitchFamily="34" charset="0"/>
              </a:rPr>
              <a:t>Action schema</a:t>
            </a:r>
          </a:p>
          <a:p>
            <a:r>
              <a:rPr lang="en-US" sz="1300">
                <a:solidFill>
                  <a:srgbClr val="201F1E"/>
                </a:solidFill>
                <a:latin typeface="Aptos" panose="020B0004020202020204" pitchFamily="34" charset="0"/>
              </a:rPr>
              <a:t>Selector syntax</a:t>
            </a:r>
          </a:p>
        </p:txBody>
      </p:sp>
      <p:sp>
        <p:nvSpPr>
          <p:cNvPr id="11" name="TextBox 10">
            <a:extLst>
              <a:ext uri="{FF2B5EF4-FFF2-40B4-BE49-F238E27FC236}">
                <a16:creationId xmlns:a16="http://schemas.microsoft.com/office/drawing/2014/main" id="{D6DFDA47-6F29-FE88-AC4C-266DC8382034}"/>
              </a:ext>
            </a:extLst>
          </p:cNvPr>
          <p:cNvSpPr txBox="1"/>
          <p:nvPr/>
        </p:nvSpPr>
        <p:spPr>
          <a:xfrm>
            <a:off x="3246120" y="2432304"/>
            <a:ext cx="2148840" cy="198516"/>
          </a:xfrm>
          <a:prstGeom prst="rect">
            <a:avLst/>
          </a:prstGeom>
          <a:noFill/>
        </p:spPr>
        <p:txBody>
          <a:bodyPr vert="horz" wrap="square" lIns="36576" tIns="18288" rIns="36576" bIns="18288" rtlCol="0">
            <a:spAutoFit/>
          </a:bodyPr>
          <a:lstStyle/>
          <a:p>
            <a:r>
              <a:rPr lang="en-US" sz="1050" b="1">
                <a:solidFill>
                  <a:srgbClr val="D13438"/>
                </a:solidFill>
                <a:latin typeface="Segoe UI" panose="020B0502040204020203" pitchFamily="34" charset="0"/>
              </a:rPr>
              <a:t>Misses' workflow checks</a:t>
            </a:r>
          </a:p>
        </p:txBody>
      </p:sp>
      <p:sp>
        <p:nvSpPr>
          <p:cNvPr id="12" name="TextBox 11">
            <a:extLst>
              <a:ext uri="{FF2B5EF4-FFF2-40B4-BE49-F238E27FC236}">
                <a16:creationId xmlns:a16="http://schemas.microsoft.com/office/drawing/2014/main" id="{AFF4173E-8144-BDD6-F9B2-1A23448A2B02}"/>
              </a:ext>
            </a:extLst>
          </p:cNvPr>
          <p:cNvSpPr txBox="1"/>
          <p:nvPr/>
        </p:nvSpPr>
        <p:spPr>
          <a:xfrm>
            <a:off x="3246120" y="2724912"/>
            <a:ext cx="2194560" cy="1037207"/>
          </a:xfrm>
          <a:prstGeom prst="rect">
            <a:avLst/>
          </a:prstGeom>
          <a:noFill/>
        </p:spPr>
        <p:txBody>
          <a:bodyPr vert="horz" wrap="square" lIns="36576" tIns="18288" rIns="36576" bIns="18288" rtlCol="0">
            <a:spAutoFit/>
          </a:bodyPr>
          <a:lstStyle/>
          <a:p>
            <a:r>
              <a:rPr lang="en-US" sz="1300">
                <a:solidFill>
                  <a:srgbClr val="201F1E"/>
                </a:solidFill>
                <a:latin typeface="Aptos" panose="020B0004020202020204" pitchFamily="34" charset="0"/>
              </a:rPr>
              <a:t>Stable EIM selectors</a:t>
            </a:r>
          </a:p>
          <a:p>
            <a:r>
              <a:rPr lang="en-US" sz="1300">
                <a:solidFill>
                  <a:srgbClr val="201F1E"/>
                </a:solidFill>
                <a:latin typeface="Aptos" panose="020B0004020202020204" pitchFamily="34" charset="0"/>
              </a:rPr>
              <a:t>Workflow navigation</a:t>
            </a:r>
          </a:p>
          <a:p>
            <a:r>
              <a:rPr lang="en-US" sz="1300">
                <a:solidFill>
                  <a:srgbClr val="201F1E"/>
                </a:solidFill>
                <a:latin typeface="Aptos" panose="020B0004020202020204" pitchFamily="34" charset="0"/>
              </a:rPr>
              <a:t>Required actions</a:t>
            </a:r>
          </a:p>
          <a:p>
            <a:r>
              <a:rPr lang="en-US" sz="1300">
                <a:solidFill>
                  <a:srgbClr val="201F1E"/>
                </a:solidFill>
                <a:latin typeface="Aptos" panose="020B0004020202020204" pitchFamily="34" charset="0"/>
              </a:rPr>
              <a:t>Correct order</a:t>
            </a:r>
          </a:p>
          <a:p>
            <a:r>
              <a:rPr lang="en-US" sz="1300">
                <a:solidFill>
                  <a:srgbClr val="201F1E"/>
                </a:solidFill>
                <a:latin typeface="Aptos" panose="020B0004020202020204" pitchFamily="34" charset="0"/>
              </a:rPr>
              <a:t>Exact match</a:t>
            </a:r>
          </a:p>
        </p:txBody>
      </p:sp>
      <p:sp>
        <p:nvSpPr>
          <p:cNvPr id="13" name="Rectangle: Rounded Corners 12">
            <a:extLst>
              <a:ext uri="{FF2B5EF4-FFF2-40B4-BE49-F238E27FC236}">
                <a16:creationId xmlns:a16="http://schemas.microsoft.com/office/drawing/2014/main" id="{0D4C3794-6832-7051-5529-E06F39B40A42}"/>
              </a:ext>
            </a:extLst>
          </p:cNvPr>
          <p:cNvSpPr/>
          <p:nvPr/>
        </p:nvSpPr>
        <p:spPr>
          <a:xfrm>
            <a:off x="960120" y="4096512"/>
            <a:ext cx="4434840" cy="1033272"/>
          </a:xfrm>
          <a:prstGeom prst="roundRect">
            <a:avLst/>
          </a:prstGeom>
          <a:solidFill>
            <a:srgbClr val="D7EB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4AC6BC2-043C-5636-BB4C-8E98CA02C046}"/>
              </a:ext>
            </a:extLst>
          </p:cNvPr>
          <p:cNvSpPr txBox="1"/>
          <p:nvPr/>
        </p:nvSpPr>
        <p:spPr>
          <a:xfrm>
            <a:off x="1170432" y="4352544"/>
            <a:ext cx="3749040" cy="283154"/>
          </a:xfrm>
          <a:prstGeom prst="rect">
            <a:avLst/>
          </a:prstGeom>
          <a:noFill/>
        </p:spPr>
        <p:txBody>
          <a:bodyPr vert="horz" wrap="square" lIns="36576" tIns="18288" rIns="36576" bIns="18288" rtlCol="0">
            <a:spAutoFit/>
          </a:bodyPr>
          <a:lstStyle/>
          <a:p>
            <a:r>
              <a:rPr lang="en-US" sz="1600" b="1">
                <a:solidFill>
                  <a:srgbClr val="004578"/>
                </a:solidFill>
                <a:latin typeface="Consolas" panose="020B0609020204030204" pitchFamily="49" charset="0"/>
              </a:rPr>
              <a:t>Example: #member-search-3430</a:t>
            </a:r>
          </a:p>
        </p:txBody>
      </p:sp>
      <p:sp>
        <p:nvSpPr>
          <p:cNvPr id="15" name="TextBox 14">
            <a:extLst>
              <a:ext uri="{FF2B5EF4-FFF2-40B4-BE49-F238E27FC236}">
                <a16:creationId xmlns:a16="http://schemas.microsoft.com/office/drawing/2014/main" id="{3E52681F-6B27-A635-55C9-569E10C4E84D}"/>
              </a:ext>
            </a:extLst>
          </p:cNvPr>
          <p:cNvSpPr txBox="1"/>
          <p:nvPr/>
        </p:nvSpPr>
        <p:spPr>
          <a:xfrm>
            <a:off x="1170432" y="4718304"/>
            <a:ext cx="3794760"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Works once, brittle when UI-generated IDs change.</a:t>
            </a:r>
          </a:p>
        </p:txBody>
      </p:sp>
      <p:sp>
        <p:nvSpPr>
          <p:cNvPr id="16" name="Rectangle: Rounded Corners 15">
            <a:extLst>
              <a:ext uri="{FF2B5EF4-FFF2-40B4-BE49-F238E27FC236}">
                <a16:creationId xmlns:a16="http://schemas.microsoft.com/office/drawing/2014/main" id="{AFC6A3F2-2469-045F-7070-DA0599A13678}"/>
              </a:ext>
            </a:extLst>
          </p:cNvPr>
          <p:cNvSpPr/>
          <p:nvPr/>
        </p:nvSpPr>
        <p:spPr>
          <a:xfrm>
            <a:off x="6446520" y="1755648"/>
            <a:ext cx="5074920" cy="397764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BB6862E-219B-9D30-A238-9055E5FA9C49}"/>
              </a:ext>
            </a:extLst>
          </p:cNvPr>
          <p:cNvSpPr txBox="1"/>
          <p:nvPr/>
        </p:nvSpPr>
        <p:spPr>
          <a:xfrm>
            <a:off x="6720840" y="1993392"/>
            <a:ext cx="3566160" cy="252377"/>
          </a:xfrm>
          <a:prstGeom prst="rect">
            <a:avLst/>
          </a:prstGeom>
          <a:noFill/>
        </p:spPr>
        <p:txBody>
          <a:bodyPr vert="horz" wrap="square" lIns="36576" tIns="18288" rIns="36576" bIns="18288" rtlCol="0">
            <a:spAutoFit/>
          </a:bodyPr>
          <a:lstStyle/>
          <a:p>
            <a:r>
              <a:rPr lang="en-US" sz="1400" b="1">
                <a:solidFill>
                  <a:srgbClr val="201F1E"/>
                </a:solidFill>
                <a:latin typeface="Segoe UI" panose="020B0502040204020203" pitchFamily="34" charset="0"/>
              </a:rPr>
              <a:t>Response Score Breakdown</a:t>
            </a:r>
          </a:p>
        </p:txBody>
      </p:sp>
      <p:sp>
        <p:nvSpPr>
          <p:cNvPr id="18" name="TextBox 17">
            <a:extLst>
              <a:ext uri="{FF2B5EF4-FFF2-40B4-BE49-F238E27FC236}">
                <a16:creationId xmlns:a16="http://schemas.microsoft.com/office/drawing/2014/main" id="{74E01327-EE57-3B4B-D056-3B52B7E7F32A}"/>
              </a:ext>
            </a:extLst>
          </p:cNvPr>
          <p:cNvSpPr txBox="1"/>
          <p:nvPr/>
        </p:nvSpPr>
        <p:spPr>
          <a:xfrm>
            <a:off x="6720840" y="2395728"/>
            <a:ext cx="1965960" cy="167738"/>
          </a:xfrm>
          <a:prstGeom prst="rect">
            <a:avLst/>
          </a:prstGeom>
          <a:noFill/>
        </p:spPr>
        <p:txBody>
          <a:bodyPr vert="horz" wrap="square" lIns="36576" tIns="18288" rIns="36576" bIns="18288" rtlCol="0">
            <a:spAutoFit/>
          </a:bodyPr>
          <a:lstStyle/>
          <a:p>
            <a:r>
              <a:rPr lang="en-US" sz="850" b="1">
                <a:solidFill>
                  <a:srgbClr val="605E5C"/>
                </a:solidFill>
                <a:latin typeface="Segoe UI" panose="020B0502040204020203" pitchFamily="34" charset="0"/>
              </a:rPr>
              <a:t>Check</a:t>
            </a:r>
          </a:p>
        </p:txBody>
      </p:sp>
      <p:sp>
        <p:nvSpPr>
          <p:cNvPr id="19" name="TextBox 18">
            <a:extLst>
              <a:ext uri="{FF2B5EF4-FFF2-40B4-BE49-F238E27FC236}">
                <a16:creationId xmlns:a16="http://schemas.microsoft.com/office/drawing/2014/main" id="{E9DC7236-26EA-6924-3CA5-C832EA5B5A38}"/>
              </a:ext>
            </a:extLst>
          </p:cNvPr>
          <p:cNvSpPr txBox="1"/>
          <p:nvPr/>
        </p:nvSpPr>
        <p:spPr>
          <a:xfrm>
            <a:off x="9326880" y="2395728"/>
            <a:ext cx="731520" cy="167738"/>
          </a:xfrm>
          <a:prstGeom prst="rect">
            <a:avLst/>
          </a:prstGeom>
          <a:noFill/>
        </p:spPr>
        <p:txBody>
          <a:bodyPr vert="horz" wrap="square" lIns="36576" tIns="18288" rIns="36576" bIns="18288" rtlCol="0">
            <a:spAutoFit/>
          </a:bodyPr>
          <a:lstStyle/>
          <a:p>
            <a:pPr algn="ctr"/>
            <a:r>
              <a:rPr lang="en-US" sz="850" b="1">
                <a:solidFill>
                  <a:srgbClr val="605E5C"/>
                </a:solidFill>
                <a:latin typeface="Segoe UI" panose="020B0502040204020203" pitchFamily="34" charset="0"/>
              </a:rPr>
              <a:t>Base</a:t>
            </a:r>
          </a:p>
        </p:txBody>
      </p:sp>
      <p:sp>
        <p:nvSpPr>
          <p:cNvPr id="20" name="TextBox 19">
            <a:extLst>
              <a:ext uri="{FF2B5EF4-FFF2-40B4-BE49-F238E27FC236}">
                <a16:creationId xmlns:a16="http://schemas.microsoft.com/office/drawing/2014/main" id="{71FBE3A5-4D6A-113C-EC7F-62C5AE383D32}"/>
              </a:ext>
            </a:extLst>
          </p:cNvPr>
          <p:cNvSpPr txBox="1"/>
          <p:nvPr/>
        </p:nvSpPr>
        <p:spPr>
          <a:xfrm>
            <a:off x="10287000" y="2395728"/>
            <a:ext cx="731520" cy="167738"/>
          </a:xfrm>
          <a:prstGeom prst="rect">
            <a:avLst/>
          </a:prstGeom>
          <a:noFill/>
        </p:spPr>
        <p:txBody>
          <a:bodyPr vert="horz" wrap="square" lIns="36576" tIns="18288" rIns="36576" bIns="18288" rtlCol="0">
            <a:spAutoFit/>
          </a:bodyPr>
          <a:lstStyle/>
          <a:p>
            <a:pPr algn="ctr"/>
            <a:r>
              <a:rPr lang="en-US" sz="850" b="1">
                <a:solidFill>
                  <a:srgbClr val="605E5C"/>
                </a:solidFill>
                <a:latin typeface="Segoe UI" panose="020B0502040204020203" pitchFamily="34" charset="0"/>
              </a:rPr>
              <a:t>Tuned</a:t>
            </a:r>
          </a:p>
        </p:txBody>
      </p:sp>
      <p:sp>
        <p:nvSpPr>
          <p:cNvPr id="21" name="TextBox 20">
            <a:extLst>
              <a:ext uri="{FF2B5EF4-FFF2-40B4-BE49-F238E27FC236}">
                <a16:creationId xmlns:a16="http://schemas.microsoft.com/office/drawing/2014/main" id="{12EF0D4F-66AA-7009-09D6-11416DC4C3F7}"/>
              </a:ext>
            </a:extLst>
          </p:cNvPr>
          <p:cNvSpPr txBox="1"/>
          <p:nvPr/>
        </p:nvSpPr>
        <p:spPr>
          <a:xfrm>
            <a:off x="6720840" y="2679192"/>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Valid JSON</a:t>
            </a:r>
          </a:p>
        </p:txBody>
      </p:sp>
      <p:sp>
        <p:nvSpPr>
          <p:cNvPr id="22" name="Rectangle: Rounded Corners 21">
            <a:extLst>
              <a:ext uri="{FF2B5EF4-FFF2-40B4-BE49-F238E27FC236}">
                <a16:creationId xmlns:a16="http://schemas.microsoft.com/office/drawing/2014/main" id="{8A6AADAA-FB05-6C78-5D43-CE9BEBA7ABC1}"/>
              </a:ext>
            </a:extLst>
          </p:cNvPr>
          <p:cNvSpPr/>
          <p:nvPr/>
        </p:nvSpPr>
        <p:spPr>
          <a:xfrm>
            <a:off x="9235440" y="2642616"/>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23251B7-8D98-CCC8-204C-7BBF48378A43}"/>
              </a:ext>
            </a:extLst>
          </p:cNvPr>
          <p:cNvSpPr txBox="1"/>
          <p:nvPr/>
        </p:nvSpPr>
        <p:spPr>
          <a:xfrm>
            <a:off x="9272016" y="2711196"/>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24" name="Rectangle: Rounded Corners 23">
            <a:extLst>
              <a:ext uri="{FF2B5EF4-FFF2-40B4-BE49-F238E27FC236}">
                <a16:creationId xmlns:a16="http://schemas.microsoft.com/office/drawing/2014/main" id="{9688AB23-0909-2144-19F9-D4F332518FF0}"/>
              </a:ext>
            </a:extLst>
          </p:cNvPr>
          <p:cNvSpPr/>
          <p:nvPr/>
        </p:nvSpPr>
        <p:spPr>
          <a:xfrm>
            <a:off x="10241280" y="2642616"/>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50700F2-AD2D-92BC-87C7-6E9AFEF6D2AD}"/>
              </a:ext>
            </a:extLst>
          </p:cNvPr>
          <p:cNvSpPr txBox="1"/>
          <p:nvPr/>
        </p:nvSpPr>
        <p:spPr>
          <a:xfrm>
            <a:off x="10277856" y="2711196"/>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26" name="TextBox 25">
            <a:extLst>
              <a:ext uri="{FF2B5EF4-FFF2-40B4-BE49-F238E27FC236}">
                <a16:creationId xmlns:a16="http://schemas.microsoft.com/office/drawing/2014/main" id="{E838C0EA-F247-D9B8-632E-B36566598D68}"/>
              </a:ext>
            </a:extLst>
          </p:cNvPr>
          <p:cNvSpPr txBox="1"/>
          <p:nvPr/>
        </p:nvSpPr>
        <p:spPr>
          <a:xfrm>
            <a:off x="6720840" y="2990088"/>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Action schema</a:t>
            </a:r>
          </a:p>
        </p:txBody>
      </p:sp>
      <p:sp>
        <p:nvSpPr>
          <p:cNvPr id="27" name="Rectangle: Rounded Corners 26">
            <a:extLst>
              <a:ext uri="{FF2B5EF4-FFF2-40B4-BE49-F238E27FC236}">
                <a16:creationId xmlns:a16="http://schemas.microsoft.com/office/drawing/2014/main" id="{281D72E6-26A8-A048-3DBA-C95BBE388C6D}"/>
              </a:ext>
            </a:extLst>
          </p:cNvPr>
          <p:cNvSpPr/>
          <p:nvPr/>
        </p:nvSpPr>
        <p:spPr>
          <a:xfrm>
            <a:off x="9235440" y="2953512"/>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9755FCB-CEC0-4D06-CAB1-6EC61F050986}"/>
              </a:ext>
            </a:extLst>
          </p:cNvPr>
          <p:cNvSpPr txBox="1"/>
          <p:nvPr/>
        </p:nvSpPr>
        <p:spPr>
          <a:xfrm>
            <a:off x="9272016" y="3022092"/>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29" name="Rectangle: Rounded Corners 28">
            <a:extLst>
              <a:ext uri="{FF2B5EF4-FFF2-40B4-BE49-F238E27FC236}">
                <a16:creationId xmlns:a16="http://schemas.microsoft.com/office/drawing/2014/main" id="{C7234791-00C4-26C9-C4F3-A0C615DB8A07}"/>
              </a:ext>
            </a:extLst>
          </p:cNvPr>
          <p:cNvSpPr/>
          <p:nvPr/>
        </p:nvSpPr>
        <p:spPr>
          <a:xfrm>
            <a:off x="10241280" y="2953512"/>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B3C58E5-81D8-6971-726C-626F5990C785}"/>
              </a:ext>
            </a:extLst>
          </p:cNvPr>
          <p:cNvSpPr txBox="1"/>
          <p:nvPr/>
        </p:nvSpPr>
        <p:spPr>
          <a:xfrm>
            <a:off x="10277856" y="3022092"/>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31" name="TextBox 30">
            <a:extLst>
              <a:ext uri="{FF2B5EF4-FFF2-40B4-BE49-F238E27FC236}">
                <a16:creationId xmlns:a16="http://schemas.microsoft.com/office/drawing/2014/main" id="{C18926DB-EBB4-9722-ED23-DCB58DEC7E6F}"/>
              </a:ext>
            </a:extLst>
          </p:cNvPr>
          <p:cNvSpPr txBox="1"/>
          <p:nvPr/>
        </p:nvSpPr>
        <p:spPr>
          <a:xfrm>
            <a:off x="6720840" y="3300984"/>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Selector validity</a:t>
            </a:r>
          </a:p>
        </p:txBody>
      </p:sp>
      <p:sp>
        <p:nvSpPr>
          <p:cNvPr id="32" name="Rectangle: Rounded Corners 31">
            <a:extLst>
              <a:ext uri="{FF2B5EF4-FFF2-40B4-BE49-F238E27FC236}">
                <a16:creationId xmlns:a16="http://schemas.microsoft.com/office/drawing/2014/main" id="{E7696382-5320-31A6-2EB8-36FA4EFC0D6B}"/>
              </a:ext>
            </a:extLst>
          </p:cNvPr>
          <p:cNvSpPr/>
          <p:nvPr/>
        </p:nvSpPr>
        <p:spPr>
          <a:xfrm>
            <a:off x="9235440" y="3264408"/>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B7E5579-FC9A-A8DF-F067-CFBD18F50BEA}"/>
              </a:ext>
            </a:extLst>
          </p:cNvPr>
          <p:cNvSpPr txBox="1"/>
          <p:nvPr/>
        </p:nvSpPr>
        <p:spPr>
          <a:xfrm>
            <a:off x="9272016" y="3332988"/>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34" name="Rectangle: Rounded Corners 33">
            <a:extLst>
              <a:ext uri="{FF2B5EF4-FFF2-40B4-BE49-F238E27FC236}">
                <a16:creationId xmlns:a16="http://schemas.microsoft.com/office/drawing/2014/main" id="{6ADAC11D-6344-F57F-B650-BFFE09F226AB}"/>
              </a:ext>
            </a:extLst>
          </p:cNvPr>
          <p:cNvSpPr/>
          <p:nvPr/>
        </p:nvSpPr>
        <p:spPr>
          <a:xfrm>
            <a:off x="10241280" y="3264408"/>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9F4F59EA-4347-F866-90FD-A33F31BD557E}"/>
              </a:ext>
            </a:extLst>
          </p:cNvPr>
          <p:cNvSpPr txBox="1"/>
          <p:nvPr/>
        </p:nvSpPr>
        <p:spPr>
          <a:xfrm>
            <a:off x="10277856" y="3332988"/>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36" name="TextBox 35">
            <a:extLst>
              <a:ext uri="{FF2B5EF4-FFF2-40B4-BE49-F238E27FC236}">
                <a16:creationId xmlns:a16="http://schemas.microsoft.com/office/drawing/2014/main" id="{62562D42-8228-D434-2B4C-AF52B21ABDC9}"/>
              </a:ext>
            </a:extLst>
          </p:cNvPr>
          <p:cNvSpPr txBox="1"/>
          <p:nvPr/>
        </p:nvSpPr>
        <p:spPr>
          <a:xfrm>
            <a:off x="6720840" y="3611880"/>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Stable EIM selectors</a:t>
            </a:r>
          </a:p>
        </p:txBody>
      </p:sp>
      <p:sp>
        <p:nvSpPr>
          <p:cNvPr id="37" name="Rectangle: Rounded Corners 36">
            <a:extLst>
              <a:ext uri="{FF2B5EF4-FFF2-40B4-BE49-F238E27FC236}">
                <a16:creationId xmlns:a16="http://schemas.microsoft.com/office/drawing/2014/main" id="{AA42D2FA-28BA-7BD6-ED6C-A5017B06B2FC}"/>
              </a:ext>
            </a:extLst>
          </p:cNvPr>
          <p:cNvSpPr/>
          <p:nvPr/>
        </p:nvSpPr>
        <p:spPr>
          <a:xfrm>
            <a:off x="9235440" y="3575304"/>
            <a:ext cx="758952" cy="329184"/>
          </a:xfrm>
          <a:prstGeom prst="roundRect">
            <a:avLst/>
          </a:prstGeom>
          <a:solidFill>
            <a:srgbClr val="FDE7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D78F615-A6F4-AC29-248F-8B1E30975856}"/>
              </a:ext>
            </a:extLst>
          </p:cNvPr>
          <p:cNvSpPr txBox="1"/>
          <p:nvPr/>
        </p:nvSpPr>
        <p:spPr>
          <a:xfrm>
            <a:off x="9272016" y="3643884"/>
            <a:ext cx="685800" cy="167738"/>
          </a:xfrm>
          <a:prstGeom prst="rect">
            <a:avLst/>
          </a:prstGeom>
          <a:noFill/>
        </p:spPr>
        <p:txBody>
          <a:bodyPr vert="horz" wrap="square" lIns="36576" tIns="18288" rIns="36576" bIns="18288" rtlCol="0">
            <a:spAutoFit/>
          </a:bodyPr>
          <a:lstStyle/>
          <a:p>
            <a:pPr algn="ctr"/>
            <a:r>
              <a:rPr lang="en-US" sz="850" b="1">
                <a:solidFill>
                  <a:srgbClr val="D13438"/>
                </a:solidFill>
                <a:latin typeface="Segoe UI" panose="020B0502040204020203" pitchFamily="34" charset="0"/>
              </a:rPr>
              <a:t>Miss</a:t>
            </a:r>
          </a:p>
        </p:txBody>
      </p:sp>
      <p:sp>
        <p:nvSpPr>
          <p:cNvPr id="39" name="Rectangle: Rounded Corners 38">
            <a:extLst>
              <a:ext uri="{FF2B5EF4-FFF2-40B4-BE49-F238E27FC236}">
                <a16:creationId xmlns:a16="http://schemas.microsoft.com/office/drawing/2014/main" id="{45960638-495A-CF44-55FA-2FBDF5C1C6A9}"/>
              </a:ext>
            </a:extLst>
          </p:cNvPr>
          <p:cNvSpPr/>
          <p:nvPr/>
        </p:nvSpPr>
        <p:spPr>
          <a:xfrm>
            <a:off x="10241280" y="3575304"/>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43272D40-E9B0-99CA-D7F7-0E146D625F60}"/>
              </a:ext>
            </a:extLst>
          </p:cNvPr>
          <p:cNvSpPr txBox="1"/>
          <p:nvPr/>
        </p:nvSpPr>
        <p:spPr>
          <a:xfrm>
            <a:off x="10277856" y="3643884"/>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41" name="TextBox 40">
            <a:extLst>
              <a:ext uri="{FF2B5EF4-FFF2-40B4-BE49-F238E27FC236}">
                <a16:creationId xmlns:a16="http://schemas.microsoft.com/office/drawing/2014/main" id="{CAC46C84-AFFF-8E7A-CF78-3D9623E3683A}"/>
              </a:ext>
            </a:extLst>
          </p:cNvPr>
          <p:cNvSpPr txBox="1"/>
          <p:nvPr/>
        </p:nvSpPr>
        <p:spPr>
          <a:xfrm>
            <a:off x="6720840" y="3922776"/>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Workflow navigation</a:t>
            </a:r>
          </a:p>
        </p:txBody>
      </p:sp>
      <p:sp>
        <p:nvSpPr>
          <p:cNvPr id="42" name="Rectangle: Rounded Corners 41">
            <a:extLst>
              <a:ext uri="{FF2B5EF4-FFF2-40B4-BE49-F238E27FC236}">
                <a16:creationId xmlns:a16="http://schemas.microsoft.com/office/drawing/2014/main" id="{C102824A-E241-45FE-B525-9E9E05872261}"/>
              </a:ext>
            </a:extLst>
          </p:cNvPr>
          <p:cNvSpPr/>
          <p:nvPr/>
        </p:nvSpPr>
        <p:spPr>
          <a:xfrm>
            <a:off x="9235440" y="3886200"/>
            <a:ext cx="758952" cy="329184"/>
          </a:xfrm>
          <a:prstGeom prst="roundRect">
            <a:avLst/>
          </a:prstGeom>
          <a:solidFill>
            <a:srgbClr val="FDE7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D83F2E3-F4B6-C08E-2A1A-1B044248FE40}"/>
              </a:ext>
            </a:extLst>
          </p:cNvPr>
          <p:cNvSpPr txBox="1"/>
          <p:nvPr/>
        </p:nvSpPr>
        <p:spPr>
          <a:xfrm>
            <a:off x="9272016" y="3954780"/>
            <a:ext cx="685800" cy="167738"/>
          </a:xfrm>
          <a:prstGeom prst="rect">
            <a:avLst/>
          </a:prstGeom>
          <a:noFill/>
        </p:spPr>
        <p:txBody>
          <a:bodyPr vert="horz" wrap="square" lIns="36576" tIns="18288" rIns="36576" bIns="18288" rtlCol="0">
            <a:spAutoFit/>
          </a:bodyPr>
          <a:lstStyle/>
          <a:p>
            <a:pPr algn="ctr"/>
            <a:r>
              <a:rPr lang="en-US" sz="850" b="1">
                <a:solidFill>
                  <a:srgbClr val="D13438"/>
                </a:solidFill>
                <a:latin typeface="Segoe UI" panose="020B0502040204020203" pitchFamily="34" charset="0"/>
              </a:rPr>
              <a:t>Miss</a:t>
            </a:r>
          </a:p>
        </p:txBody>
      </p:sp>
      <p:sp>
        <p:nvSpPr>
          <p:cNvPr id="44" name="Rectangle: Rounded Corners 43">
            <a:extLst>
              <a:ext uri="{FF2B5EF4-FFF2-40B4-BE49-F238E27FC236}">
                <a16:creationId xmlns:a16="http://schemas.microsoft.com/office/drawing/2014/main" id="{76EC4CE0-C5CD-05F3-69C7-73C332A4E6B3}"/>
              </a:ext>
            </a:extLst>
          </p:cNvPr>
          <p:cNvSpPr/>
          <p:nvPr/>
        </p:nvSpPr>
        <p:spPr>
          <a:xfrm>
            <a:off x="10241280" y="3886200"/>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BF7B15DE-B8F5-272F-6241-76FA8BE45199}"/>
              </a:ext>
            </a:extLst>
          </p:cNvPr>
          <p:cNvSpPr txBox="1"/>
          <p:nvPr/>
        </p:nvSpPr>
        <p:spPr>
          <a:xfrm>
            <a:off x="10277856" y="3954780"/>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46" name="TextBox 45">
            <a:extLst>
              <a:ext uri="{FF2B5EF4-FFF2-40B4-BE49-F238E27FC236}">
                <a16:creationId xmlns:a16="http://schemas.microsoft.com/office/drawing/2014/main" id="{E558D037-7784-86EB-D430-5312491C2376}"/>
              </a:ext>
            </a:extLst>
          </p:cNvPr>
          <p:cNvSpPr txBox="1"/>
          <p:nvPr/>
        </p:nvSpPr>
        <p:spPr>
          <a:xfrm>
            <a:off x="6720840" y="4233672"/>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Required actions</a:t>
            </a:r>
          </a:p>
        </p:txBody>
      </p:sp>
      <p:sp>
        <p:nvSpPr>
          <p:cNvPr id="47" name="Rectangle: Rounded Corners 46">
            <a:extLst>
              <a:ext uri="{FF2B5EF4-FFF2-40B4-BE49-F238E27FC236}">
                <a16:creationId xmlns:a16="http://schemas.microsoft.com/office/drawing/2014/main" id="{FC461FE4-19B9-46FE-3EE6-18C69130E70F}"/>
              </a:ext>
            </a:extLst>
          </p:cNvPr>
          <p:cNvSpPr/>
          <p:nvPr/>
        </p:nvSpPr>
        <p:spPr>
          <a:xfrm>
            <a:off x="9235440" y="4197096"/>
            <a:ext cx="758952" cy="329184"/>
          </a:xfrm>
          <a:prstGeom prst="roundRect">
            <a:avLst/>
          </a:prstGeom>
          <a:solidFill>
            <a:srgbClr val="FDE7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7BFA0EC7-E0A4-1959-F5F4-94559AEEFAE5}"/>
              </a:ext>
            </a:extLst>
          </p:cNvPr>
          <p:cNvSpPr txBox="1"/>
          <p:nvPr/>
        </p:nvSpPr>
        <p:spPr>
          <a:xfrm>
            <a:off x="9272016" y="4265676"/>
            <a:ext cx="685800" cy="167738"/>
          </a:xfrm>
          <a:prstGeom prst="rect">
            <a:avLst/>
          </a:prstGeom>
          <a:noFill/>
        </p:spPr>
        <p:txBody>
          <a:bodyPr vert="horz" wrap="square" lIns="36576" tIns="18288" rIns="36576" bIns="18288" rtlCol="0">
            <a:spAutoFit/>
          </a:bodyPr>
          <a:lstStyle/>
          <a:p>
            <a:pPr algn="ctr"/>
            <a:r>
              <a:rPr lang="en-US" sz="850" b="1">
                <a:solidFill>
                  <a:srgbClr val="D13438"/>
                </a:solidFill>
                <a:latin typeface="Segoe UI" panose="020B0502040204020203" pitchFamily="34" charset="0"/>
              </a:rPr>
              <a:t>Miss</a:t>
            </a:r>
          </a:p>
        </p:txBody>
      </p:sp>
      <p:sp>
        <p:nvSpPr>
          <p:cNvPr id="49" name="Rectangle: Rounded Corners 48">
            <a:extLst>
              <a:ext uri="{FF2B5EF4-FFF2-40B4-BE49-F238E27FC236}">
                <a16:creationId xmlns:a16="http://schemas.microsoft.com/office/drawing/2014/main" id="{7FB8A735-7293-C407-8E45-F279550C9E2F}"/>
              </a:ext>
            </a:extLst>
          </p:cNvPr>
          <p:cNvSpPr/>
          <p:nvPr/>
        </p:nvSpPr>
        <p:spPr>
          <a:xfrm>
            <a:off x="10241280" y="4197096"/>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8361899D-7F1F-F2B9-38A4-009AD6E7DCF8}"/>
              </a:ext>
            </a:extLst>
          </p:cNvPr>
          <p:cNvSpPr txBox="1"/>
          <p:nvPr/>
        </p:nvSpPr>
        <p:spPr>
          <a:xfrm>
            <a:off x="10277856" y="4265676"/>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51" name="TextBox 50">
            <a:extLst>
              <a:ext uri="{FF2B5EF4-FFF2-40B4-BE49-F238E27FC236}">
                <a16:creationId xmlns:a16="http://schemas.microsoft.com/office/drawing/2014/main" id="{FB1E4453-2B69-3774-3941-5361EA868049}"/>
              </a:ext>
            </a:extLst>
          </p:cNvPr>
          <p:cNvSpPr txBox="1"/>
          <p:nvPr/>
        </p:nvSpPr>
        <p:spPr>
          <a:xfrm>
            <a:off x="6720840" y="4544568"/>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Correct order</a:t>
            </a:r>
          </a:p>
        </p:txBody>
      </p:sp>
      <p:sp>
        <p:nvSpPr>
          <p:cNvPr id="52" name="Rectangle: Rounded Corners 51">
            <a:extLst>
              <a:ext uri="{FF2B5EF4-FFF2-40B4-BE49-F238E27FC236}">
                <a16:creationId xmlns:a16="http://schemas.microsoft.com/office/drawing/2014/main" id="{8C0007DD-B24C-A28A-371A-8214B11FBDFA}"/>
              </a:ext>
            </a:extLst>
          </p:cNvPr>
          <p:cNvSpPr/>
          <p:nvPr/>
        </p:nvSpPr>
        <p:spPr>
          <a:xfrm>
            <a:off x="9235440" y="4507992"/>
            <a:ext cx="758952" cy="329184"/>
          </a:xfrm>
          <a:prstGeom prst="roundRect">
            <a:avLst/>
          </a:prstGeom>
          <a:solidFill>
            <a:srgbClr val="FDE7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42B9A20F-E0EE-6ADD-C6B4-5B310707546A}"/>
              </a:ext>
            </a:extLst>
          </p:cNvPr>
          <p:cNvSpPr txBox="1"/>
          <p:nvPr/>
        </p:nvSpPr>
        <p:spPr>
          <a:xfrm>
            <a:off x="9272016" y="4576572"/>
            <a:ext cx="685800" cy="167738"/>
          </a:xfrm>
          <a:prstGeom prst="rect">
            <a:avLst/>
          </a:prstGeom>
          <a:noFill/>
        </p:spPr>
        <p:txBody>
          <a:bodyPr vert="horz" wrap="square" lIns="36576" tIns="18288" rIns="36576" bIns="18288" rtlCol="0">
            <a:spAutoFit/>
          </a:bodyPr>
          <a:lstStyle/>
          <a:p>
            <a:pPr algn="ctr"/>
            <a:r>
              <a:rPr lang="en-US" sz="850" b="1">
                <a:solidFill>
                  <a:srgbClr val="D13438"/>
                </a:solidFill>
                <a:latin typeface="Segoe UI" panose="020B0502040204020203" pitchFamily="34" charset="0"/>
              </a:rPr>
              <a:t>Miss</a:t>
            </a:r>
          </a:p>
        </p:txBody>
      </p:sp>
      <p:sp>
        <p:nvSpPr>
          <p:cNvPr id="54" name="Rectangle: Rounded Corners 53">
            <a:extLst>
              <a:ext uri="{FF2B5EF4-FFF2-40B4-BE49-F238E27FC236}">
                <a16:creationId xmlns:a16="http://schemas.microsoft.com/office/drawing/2014/main" id="{0C99D395-FE4E-85CF-A6AE-E8FFC5FB14B5}"/>
              </a:ext>
            </a:extLst>
          </p:cNvPr>
          <p:cNvSpPr/>
          <p:nvPr/>
        </p:nvSpPr>
        <p:spPr>
          <a:xfrm>
            <a:off x="10241280" y="4507992"/>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BE9FB549-A7E3-3C86-A422-4F0D3A6D2AD3}"/>
              </a:ext>
            </a:extLst>
          </p:cNvPr>
          <p:cNvSpPr txBox="1"/>
          <p:nvPr/>
        </p:nvSpPr>
        <p:spPr>
          <a:xfrm>
            <a:off x="10277856" y="4576572"/>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
        <p:nvSpPr>
          <p:cNvPr id="56" name="TextBox 55">
            <a:extLst>
              <a:ext uri="{FF2B5EF4-FFF2-40B4-BE49-F238E27FC236}">
                <a16:creationId xmlns:a16="http://schemas.microsoft.com/office/drawing/2014/main" id="{5098C1B9-9D96-CAC6-D98E-0E927AFF367B}"/>
              </a:ext>
            </a:extLst>
          </p:cNvPr>
          <p:cNvSpPr txBox="1"/>
          <p:nvPr/>
        </p:nvSpPr>
        <p:spPr>
          <a:xfrm>
            <a:off x="6720840" y="4855464"/>
            <a:ext cx="2331720" cy="178510"/>
          </a:xfrm>
          <a:prstGeom prst="rect">
            <a:avLst/>
          </a:prstGeom>
          <a:noFill/>
        </p:spPr>
        <p:txBody>
          <a:bodyPr vert="horz" wrap="square" lIns="36576" tIns="18288" rIns="36576" bIns="18288" rtlCol="0">
            <a:spAutoFit/>
          </a:bodyPr>
          <a:lstStyle/>
          <a:p>
            <a:r>
              <a:rPr lang="en-US" sz="920">
                <a:solidFill>
                  <a:srgbClr val="201F1E"/>
                </a:solidFill>
                <a:latin typeface="Segoe UI" panose="020B0502040204020203" pitchFamily="34" charset="0"/>
              </a:rPr>
              <a:t>Exact action match</a:t>
            </a:r>
          </a:p>
        </p:txBody>
      </p:sp>
      <p:sp>
        <p:nvSpPr>
          <p:cNvPr id="57" name="Rectangle: Rounded Corners 56">
            <a:extLst>
              <a:ext uri="{FF2B5EF4-FFF2-40B4-BE49-F238E27FC236}">
                <a16:creationId xmlns:a16="http://schemas.microsoft.com/office/drawing/2014/main" id="{74D50A60-12F5-161B-D2D2-9B2DA34475A5}"/>
              </a:ext>
            </a:extLst>
          </p:cNvPr>
          <p:cNvSpPr/>
          <p:nvPr/>
        </p:nvSpPr>
        <p:spPr>
          <a:xfrm>
            <a:off x="9235440" y="4818888"/>
            <a:ext cx="758952" cy="329184"/>
          </a:xfrm>
          <a:prstGeom prst="roundRect">
            <a:avLst/>
          </a:prstGeom>
          <a:solidFill>
            <a:srgbClr val="FDE7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86B323DA-E426-829F-2B76-186BAF39A94A}"/>
              </a:ext>
            </a:extLst>
          </p:cNvPr>
          <p:cNvSpPr txBox="1"/>
          <p:nvPr/>
        </p:nvSpPr>
        <p:spPr>
          <a:xfrm>
            <a:off x="9272016" y="4887468"/>
            <a:ext cx="685800" cy="167738"/>
          </a:xfrm>
          <a:prstGeom prst="rect">
            <a:avLst/>
          </a:prstGeom>
          <a:noFill/>
        </p:spPr>
        <p:txBody>
          <a:bodyPr vert="horz" wrap="square" lIns="36576" tIns="18288" rIns="36576" bIns="18288" rtlCol="0">
            <a:spAutoFit/>
          </a:bodyPr>
          <a:lstStyle/>
          <a:p>
            <a:pPr algn="ctr"/>
            <a:r>
              <a:rPr lang="en-US" sz="850" b="1">
                <a:solidFill>
                  <a:srgbClr val="D13438"/>
                </a:solidFill>
                <a:latin typeface="Segoe UI" panose="020B0502040204020203" pitchFamily="34" charset="0"/>
              </a:rPr>
              <a:t>Miss</a:t>
            </a:r>
          </a:p>
        </p:txBody>
      </p:sp>
      <p:sp>
        <p:nvSpPr>
          <p:cNvPr id="59" name="Rectangle: Rounded Corners 58">
            <a:extLst>
              <a:ext uri="{FF2B5EF4-FFF2-40B4-BE49-F238E27FC236}">
                <a16:creationId xmlns:a16="http://schemas.microsoft.com/office/drawing/2014/main" id="{6F553679-6F0E-FE78-0550-0A7AA7B671F5}"/>
              </a:ext>
            </a:extLst>
          </p:cNvPr>
          <p:cNvSpPr/>
          <p:nvPr/>
        </p:nvSpPr>
        <p:spPr>
          <a:xfrm>
            <a:off x="10241280" y="4818888"/>
            <a:ext cx="758952" cy="329184"/>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44D98742-C55D-88E3-23B8-3F7B13939DCA}"/>
              </a:ext>
            </a:extLst>
          </p:cNvPr>
          <p:cNvSpPr txBox="1"/>
          <p:nvPr/>
        </p:nvSpPr>
        <p:spPr>
          <a:xfrm>
            <a:off x="10277856" y="4887468"/>
            <a:ext cx="6858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Pass</a:t>
            </a:r>
          </a:p>
        </p:txBody>
      </p:sp>
    </p:spTree>
    <p:extLst>
      <p:ext uri="{BB962C8B-B14F-4D97-AF65-F5344CB8AC3E}">
        <p14:creationId xmlns:p14="http://schemas.microsoft.com/office/powerpoint/2010/main" val="1478307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B18545-8814-6C68-5E3A-64B502ED9073}"/>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FD5B8F7-6123-498F-5A45-A886DAE7E7A8}"/>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9728937E-FDA9-6E6A-5A4E-A70DD538DFB6}"/>
              </a:ext>
            </a:extLst>
          </p:cNvPr>
          <p:cNvSpPr txBox="1"/>
          <p:nvPr/>
        </p:nvSpPr>
        <p:spPr>
          <a:xfrm>
            <a:off x="502920" y="502920"/>
            <a:ext cx="8046720" cy="929485"/>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Where the small SLM succeeds natively - and where it fails</a:t>
            </a:r>
          </a:p>
        </p:txBody>
      </p:sp>
      <p:sp>
        <p:nvSpPr>
          <p:cNvPr id="5" name="TextBox 4">
            <a:extLst>
              <a:ext uri="{FF2B5EF4-FFF2-40B4-BE49-F238E27FC236}">
                <a16:creationId xmlns:a16="http://schemas.microsoft.com/office/drawing/2014/main" id="{00A78336-C871-D0CB-283E-7F106BA006E6}"/>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Rectangle: Rounded Corners 5">
            <a:extLst>
              <a:ext uri="{FF2B5EF4-FFF2-40B4-BE49-F238E27FC236}">
                <a16:creationId xmlns:a16="http://schemas.microsoft.com/office/drawing/2014/main" id="{438D6B1D-EA0A-948C-CCE5-6EEAFC4AAFA0}"/>
              </a:ext>
            </a:extLst>
          </p:cNvPr>
          <p:cNvSpPr/>
          <p:nvPr/>
        </p:nvSpPr>
        <p:spPr>
          <a:xfrm>
            <a:off x="658368" y="1417320"/>
            <a:ext cx="5212080" cy="4480560"/>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6DE90F3-DD2E-A7D8-9335-EE3BB9610CAC}"/>
              </a:ext>
            </a:extLst>
          </p:cNvPr>
          <p:cNvSpPr txBox="1"/>
          <p:nvPr/>
        </p:nvSpPr>
        <p:spPr>
          <a:xfrm>
            <a:off x="950976" y="1719072"/>
            <a:ext cx="2377440" cy="298543"/>
          </a:xfrm>
          <a:prstGeom prst="rect">
            <a:avLst/>
          </a:prstGeom>
          <a:noFill/>
        </p:spPr>
        <p:txBody>
          <a:bodyPr vert="horz" wrap="square" lIns="36576" tIns="18288" rIns="36576" bIns="18288" rtlCol="0">
            <a:spAutoFit/>
          </a:bodyPr>
          <a:lstStyle/>
          <a:p>
            <a:r>
              <a:rPr lang="en-US" sz="1700" b="1">
                <a:solidFill>
                  <a:srgbClr val="107C10"/>
                </a:solidFill>
                <a:latin typeface="Aptos Display" panose="020B0004020202020204" pitchFamily="34" charset="0"/>
              </a:rPr>
              <a:t>Native strengths</a:t>
            </a:r>
          </a:p>
        </p:txBody>
      </p:sp>
      <p:sp>
        <p:nvSpPr>
          <p:cNvPr id="8" name="Oval 7">
            <a:extLst>
              <a:ext uri="{FF2B5EF4-FFF2-40B4-BE49-F238E27FC236}">
                <a16:creationId xmlns:a16="http://schemas.microsoft.com/office/drawing/2014/main" id="{0D3B95C7-C17C-4AAD-AB4B-6E2BABD89FA5}"/>
              </a:ext>
            </a:extLst>
          </p:cNvPr>
          <p:cNvSpPr/>
          <p:nvPr/>
        </p:nvSpPr>
        <p:spPr>
          <a:xfrm>
            <a:off x="969264" y="2221992"/>
            <a:ext cx="256032" cy="256032"/>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FEEA5CB-98D4-7ED2-292C-4EDC659BF92E}"/>
              </a:ext>
            </a:extLst>
          </p:cNvPr>
          <p:cNvSpPr txBox="1"/>
          <p:nvPr/>
        </p:nvSpPr>
        <p:spPr>
          <a:xfrm>
            <a:off x="982980" y="2290572"/>
            <a:ext cx="228600" cy="121572"/>
          </a:xfrm>
          <a:prstGeom prst="rect">
            <a:avLst/>
          </a:prstGeom>
          <a:noFill/>
        </p:spPr>
        <p:txBody>
          <a:bodyPr vert="horz" wrap="square" lIns="36576" tIns="18288" rIns="36576" bIns="18288" rtlCol="0">
            <a:spAutoFit/>
          </a:bodyPr>
          <a:lstStyle/>
          <a:p>
            <a:pPr algn="ctr"/>
            <a:r>
              <a:rPr lang="en-US" sz="550" b="1">
                <a:solidFill>
                  <a:srgbClr val="FFFFFF"/>
                </a:solidFill>
                <a:latin typeface="Segoe UI" panose="020B0502040204020203" pitchFamily="34" charset="0"/>
              </a:rPr>
              <a:t>OK</a:t>
            </a:r>
          </a:p>
        </p:txBody>
      </p:sp>
      <p:sp>
        <p:nvSpPr>
          <p:cNvPr id="10" name="TextBox 9">
            <a:extLst>
              <a:ext uri="{FF2B5EF4-FFF2-40B4-BE49-F238E27FC236}">
                <a16:creationId xmlns:a16="http://schemas.microsoft.com/office/drawing/2014/main" id="{2E43B77C-8A0D-E327-0A26-D649E584A536}"/>
              </a:ext>
            </a:extLst>
          </p:cNvPr>
          <p:cNvSpPr txBox="1"/>
          <p:nvPr/>
        </p:nvSpPr>
        <p:spPr>
          <a:xfrm>
            <a:off x="1353312" y="2194560"/>
            <a:ext cx="393192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Understands healthcare-ish instructions</a:t>
            </a:r>
          </a:p>
        </p:txBody>
      </p:sp>
      <p:sp>
        <p:nvSpPr>
          <p:cNvPr id="11" name="Oval 10">
            <a:extLst>
              <a:ext uri="{FF2B5EF4-FFF2-40B4-BE49-F238E27FC236}">
                <a16:creationId xmlns:a16="http://schemas.microsoft.com/office/drawing/2014/main" id="{2EE757AD-22A6-45E3-D92A-18A48156C9E1}"/>
              </a:ext>
            </a:extLst>
          </p:cNvPr>
          <p:cNvSpPr/>
          <p:nvPr/>
        </p:nvSpPr>
        <p:spPr>
          <a:xfrm>
            <a:off x="969264" y="2907792"/>
            <a:ext cx="256032" cy="256032"/>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F5CEB9A-A63E-F0B6-A41C-84C1ED7C894F}"/>
              </a:ext>
            </a:extLst>
          </p:cNvPr>
          <p:cNvSpPr txBox="1"/>
          <p:nvPr/>
        </p:nvSpPr>
        <p:spPr>
          <a:xfrm>
            <a:off x="982980" y="2976372"/>
            <a:ext cx="228600" cy="121572"/>
          </a:xfrm>
          <a:prstGeom prst="rect">
            <a:avLst/>
          </a:prstGeom>
          <a:noFill/>
        </p:spPr>
        <p:txBody>
          <a:bodyPr vert="horz" wrap="square" lIns="36576" tIns="18288" rIns="36576" bIns="18288" rtlCol="0">
            <a:spAutoFit/>
          </a:bodyPr>
          <a:lstStyle/>
          <a:p>
            <a:pPr algn="ctr"/>
            <a:r>
              <a:rPr lang="en-US" sz="550" b="1">
                <a:solidFill>
                  <a:srgbClr val="FFFFFF"/>
                </a:solidFill>
                <a:latin typeface="Segoe UI" panose="020B0502040204020203" pitchFamily="34" charset="0"/>
              </a:rPr>
              <a:t>OK</a:t>
            </a:r>
          </a:p>
        </p:txBody>
      </p:sp>
      <p:sp>
        <p:nvSpPr>
          <p:cNvPr id="13" name="TextBox 12">
            <a:extLst>
              <a:ext uri="{FF2B5EF4-FFF2-40B4-BE49-F238E27FC236}">
                <a16:creationId xmlns:a16="http://schemas.microsoft.com/office/drawing/2014/main" id="{8A7BCE88-287C-3872-41FE-8F03C2514854}"/>
              </a:ext>
            </a:extLst>
          </p:cNvPr>
          <p:cNvSpPr txBox="1"/>
          <p:nvPr/>
        </p:nvSpPr>
        <p:spPr>
          <a:xfrm>
            <a:off x="1353312" y="2880360"/>
            <a:ext cx="393192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Can parse compact HTML/DOM snippets</a:t>
            </a:r>
          </a:p>
        </p:txBody>
      </p:sp>
      <p:sp>
        <p:nvSpPr>
          <p:cNvPr id="14" name="Oval 13">
            <a:extLst>
              <a:ext uri="{FF2B5EF4-FFF2-40B4-BE49-F238E27FC236}">
                <a16:creationId xmlns:a16="http://schemas.microsoft.com/office/drawing/2014/main" id="{3A377312-711C-C6CC-853B-2C190E4F68DB}"/>
              </a:ext>
            </a:extLst>
          </p:cNvPr>
          <p:cNvSpPr/>
          <p:nvPr/>
        </p:nvSpPr>
        <p:spPr>
          <a:xfrm>
            <a:off x="969264" y="3593592"/>
            <a:ext cx="256032" cy="256032"/>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CBA3663-B6C6-14B2-C53D-54C7BA847446}"/>
              </a:ext>
            </a:extLst>
          </p:cNvPr>
          <p:cNvSpPr txBox="1"/>
          <p:nvPr/>
        </p:nvSpPr>
        <p:spPr>
          <a:xfrm>
            <a:off x="982980" y="3662172"/>
            <a:ext cx="228600" cy="121572"/>
          </a:xfrm>
          <a:prstGeom prst="rect">
            <a:avLst/>
          </a:prstGeom>
          <a:noFill/>
        </p:spPr>
        <p:txBody>
          <a:bodyPr vert="horz" wrap="square" lIns="36576" tIns="18288" rIns="36576" bIns="18288" rtlCol="0">
            <a:spAutoFit/>
          </a:bodyPr>
          <a:lstStyle/>
          <a:p>
            <a:pPr algn="ctr"/>
            <a:r>
              <a:rPr lang="en-US" sz="550" b="1">
                <a:solidFill>
                  <a:srgbClr val="FFFFFF"/>
                </a:solidFill>
                <a:latin typeface="Segoe UI" panose="020B0502040204020203" pitchFamily="34" charset="0"/>
              </a:rPr>
              <a:t>OK</a:t>
            </a:r>
          </a:p>
        </p:txBody>
      </p:sp>
      <p:sp>
        <p:nvSpPr>
          <p:cNvPr id="16" name="TextBox 15">
            <a:extLst>
              <a:ext uri="{FF2B5EF4-FFF2-40B4-BE49-F238E27FC236}">
                <a16:creationId xmlns:a16="http://schemas.microsoft.com/office/drawing/2014/main" id="{F33F450F-9E4A-EF3E-5BF4-A467C502F031}"/>
              </a:ext>
            </a:extLst>
          </p:cNvPr>
          <p:cNvSpPr txBox="1"/>
          <p:nvPr/>
        </p:nvSpPr>
        <p:spPr>
          <a:xfrm>
            <a:off x="1353312" y="3566160"/>
            <a:ext cx="393192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Usually recognizes click/type/extract actions</a:t>
            </a:r>
          </a:p>
        </p:txBody>
      </p:sp>
      <p:sp>
        <p:nvSpPr>
          <p:cNvPr id="17" name="Oval 16">
            <a:extLst>
              <a:ext uri="{FF2B5EF4-FFF2-40B4-BE49-F238E27FC236}">
                <a16:creationId xmlns:a16="http://schemas.microsoft.com/office/drawing/2014/main" id="{CF90AAAF-5BF4-21B8-D64C-12D58D652EE8}"/>
              </a:ext>
            </a:extLst>
          </p:cNvPr>
          <p:cNvSpPr/>
          <p:nvPr/>
        </p:nvSpPr>
        <p:spPr>
          <a:xfrm>
            <a:off x="969264" y="4279392"/>
            <a:ext cx="256032" cy="256032"/>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6C761CC-A1DA-F177-B3F7-642D84E3EBC8}"/>
              </a:ext>
            </a:extLst>
          </p:cNvPr>
          <p:cNvSpPr txBox="1"/>
          <p:nvPr/>
        </p:nvSpPr>
        <p:spPr>
          <a:xfrm>
            <a:off x="982980" y="4347972"/>
            <a:ext cx="228600" cy="121572"/>
          </a:xfrm>
          <a:prstGeom prst="rect">
            <a:avLst/>
          </a:prstGeom>
          <a:noFill/>
        </p:spPr>
        <p:txBody>
          <a:bodyPr vert="horz" wrap="square" lIns="36576" tIns="18288" rIns="36576" bIns="18288" rtlCol="0">
            <a:spAutoFit/>
          </a:bodyPr>
          <a:lstStyle/>
          <a:p>
            <a:pPr algn="ctr"/>
            <a:r>
              <a:rPr lang="en-US" sz="550" b="1">
                <a:solidFill>
                  <a:srgbClr val="FFFFFF"/>
                </a:solidFill>
                <a:latin typeface="Segoe UI" panose="020B0502040204020203" pitchFamily="34" charset="0"/>
              </a:rPr>
              <a:t>OK</a:t>
            </a:r>
          </a:p>
        </p:txBody>
      </p:sp>
      <p:sp>
        <p:nvSpPr>
          <p:cNvPr id="19" name="TextBox 18">
            <a:extLst>
              <a:ext uri="{FF2B5EF4-FFF2-40B4-BE49-F238E27FC236}">
                <a16:creationId xmlns:a16="http://schemas.microsoft.com/office/drawing/2014/main" id="{7AA8FE5A-31AE-A931-68C3-0F0AF196A093}"/>
              </a:ext>
            </a:extLst>
          </p:cNvPr>
          <p:cNvSpPr txBox="1"/>
          <p:nvPr/>
        </p:nvSpPr>
        <p:spPr>
          <a:xfrm>
            <a:off x="1353312" y="4251960"/>
            <a:ext cx="393192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Can emit JSON when strongly prompted</a:t>
            </a:r>
          </a:p>
        </p:txBody>
      </p:sp>
      <p:sp>
        <p:nvSpPr>
          <p:cNvPr id="20" name="Rectangle: Rounded Corners 19">
            <a:extLst>
              <a:ext uri="{FF2B5EF4-FFF2-40B4-BE49-F238E27FC236}">
                <a16:creationId xmlns:a16="http://schemas.microsoft.com/office/drawing/2014/main" id="{4D75DA31-AF8A-F6A0-A7FD-EF1333B0493D}"/>
              </a:ext>
            </a:extLst>
          </p:cNvPr>
          <p:cNvSpPr/>
          <p:nvPr/>
        </p:nvSpPr>
        <p:spPr>
          <a:xfrm>
            <a:off x="6355080" y="1417320"/>
            <a:ext cx="5212080" cy="4480560"/>
          </a:xfrm>
          <a:prstGeom prst="roundRect">
            <a:avLst/>
          </a:prstGeom>
          <a:solidFill>
            <a:srgbClr val="FDE7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0141B46-41D1-98CD-689D-FB5DB7DEDC86}"/>
              </a:ext>
            </a:extLst>
          </p:cNvPr>
          <p:cNvSpPr txBox="1"/>
          <p:nvPr/>
        </p:nvSpPr>
        <p:spPr>
          <a:xfrm>
            <a:off x="6647688" y="1719072"/>
            <a:ext cx="2194560" cy="298543"/>
          </a:xfrm>
          <a:prstGeom prst="rect">
            <a:avLst/>
          </a:prstGeom>
          <a:noFill/>
        </p:spPr>
        <p:txBody>
          <a:bodyPr vert="horz" wrap="square" lIns="36576" tIns="18288" rIns="36576" bIns="18288" rtlCol="0">
            <a:spAutoFit/>
          </a:bodyPr>
          <a:lstStyle/>
          <a:p>
            <a:r>
              <a:rPr lang="en-US" sz="1700" b="1">
                <a:solidFill>
                  <a:srgbClr val="D13438"/>
                </a:solidFill>
                <a:latin typeface="Aptos Display" panose="020B0004020202020204" pitchFamily="34" charset="0"/>
              </a:rPr>
              <a:t>Native gaps</a:t>
            </a:r>
          </a:p>
        </p:txBody>
      </p:sp>
      <p:sp>
        <p:nvSpPr>
          <p:cNvPr id="22" name="Oval 21">
            <a:extLst>
              <a:ext uri="{FF2B5EF4-FFF2-40B4-BE49-F238E27FC236}">
                <a16:creationId xmlns:a16="http://schemas.microsoft.com/office/drawing/2014/main" id="{F6A1B7E0-BAC2-F621-2297-BEB4F556BB00}"/>
              </a:ext>
            </a:extLst>
          </p:cNvPr>
          <p:cNvSpPr/>
          <p:nvPr/>
        </p:nvSpPr>
        <p:spPr>
          <a:xfrm>
            <a:off x="6665976" y="2221992"/>
            <a:ext cx="256032" cy="256032"/>
          </a:xfrm>
          <a:prstGeom prst="ellipse">
            <a:avLst/>
          </a:prstGeom>
          <a:solidFill>
            <a:srgbClr val="D1343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F50AABA-0040-7B36-046B-9BA1AF863479}"/>
              </a:ext>
            </a:extLst>
          </p:cNvPr>
          <p:cNvSpPr txBox="1"/>
          <p:nvPr/>
        </p:nvSpPr>
        <p:spPr>
          <a:xfrm>
            <a:off x="6693408" y="2272284"/>
            <a:ext cx="201168" cy="160044"/>
          </a:xfrm>
          <a:prstGeom prst="rect">
            <a:avLst/>
          </a:prstGeom>
          <a:noFill/>
        </p:spPr>
        <p:txBody>
          <a:bodyPr vert="horz" wrap="square" lIns="36576" tIns="18288" rIns="36576" bIns="18288" rtlCol="0">
            <a:spAutoFit/>
          </a:bodyPr>
          <a:lstStyle/>
          <a:p>
            <a:pPr algn="ctr"/>
            <a:r>
              <a:rPr lang="en-US" sz="800" b="1">
                <a:solidFill>
                  <a:srgbClr val="FFFFFF"/>
                </a:solidFill>
                <a:latin typeface="Segoe UI" panose="020B0502040204020203" pitchFamily="34" charset="0"/>
              </a:rPr>
              <a:t>!</a:t>
            </a:r>
          </a:p>
        </p:txBody>
      </p:sp>
      <p:sp>
        <p:nvSpPr>
          <p:cNvPr id="24" name="TextBox 23">
            <a:extLst>
              <a:ext uri="{FF2B5EF4-FFF2-40B4-BE49-F238E27FC236}">
                <a16:creationId xmlns:a16="http://schemas.microsoft.com/office/drawing/2014/main" id="{E4DE9A06-64E0-58F1-0215-49D859889A9C}"/>
              </a:ext>
            </a:extLst>
          </p:cNvPr>
          <p:cNvSpPr txBox="1"/>
          <p:nvPr/>
        </p:nvSpPr>
        <p:spPr>
          <a:xfrm>
            <a:off x="7040880" y="2194560"/>
            <a:ext cx="397764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Chooses generated IDs instead of stable selectors</a:t>
            </a:r>
          </a:p>
        </p:txBody>
      </p:sp>
      <p:sp>
        <p:nvSpPr>
          <p:cNvPr id="25" name="Oval 24">
            <a:extLst>
              <a:ext uri="{FF2B5EF4-FFF2-40B4-BE49-F238E27FC236}">
                <a16:creationId xmlns:a16="http://schemas.microsoft.com/office/drawing/2014/main" id="{29CF48F9-2F5D-B2B0-8603-03020BF9CB7E}"/>
              </a:ext>
            </a:extLst>
          </p:cNvPr>
          <p:cNvSpPr/>
          <p:nvPr/>
        </p:nvSpPr>
        <p:spPr>
          <a:xfrm>
            <a:off x="6665976" y="2907792"/>
            <a:ext cx="256032" cy="256032"/>
          </a:xfrm>
          <a:prstGeom prst="ellipse">
            <a:avLst/>
          </a:prstGeom>
          <a:solidFill>
            <a:srgbClr val="D1343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DA41F14-079A-2281-A28C-32501E7B7246}"/>
              </a:ext>
            </a:extLst>
          </p:cNvPr>
          <p:cNvSpPr txBox="1"/>
          <p:nvPr/>
        </p:nvSpPr>
        <p:spPr>
          <a:xfrm>
            <a:off x="6693408" y="2958084"/>
            <a:ext cx="201168" cy="160044"/>
          </a:xfrm>
          <a:prstGeom prst="rect">
            <a:avLst/>
          </a:prstGeom>
          <a:noFill/>
        </p:spPr>
        <p:txBody>
          <a:bodyPr vert="horz" wrap="square" lIns="36576" tIns="18288" rIns="36576" bIns="18288" rtlCol="0">
            <a:spAutoFit/>
          </a:bodyPr>
          <a:lstStyle/>
          <a:p>
            <a:pPr algn="ctr"/>
            <a:r>
              <a:rPr lang="en-US" sz="800" b="1">
                <a:solidFill>
                  <a:srgbClr val="FFFFFF"/>
                </a:solidFill>
                <a:latin typeface="Segoe UI" panose="020B0502040204020203" pitchFamily="34" charset="0"/>
              </a:rPr>
              <a:t>!</a:t>
            </a:r>
          </a:p>
        </p:txBody>
      </p:sp>
      <p:sp>
        <p:nvSpPr>
          <p:cNvPr id="27" name="TextBox 26">
            <a:extLst>
              <a:ext uri="{FF2B5EF4-FFF2-40B4-BE49-F238E27FC236}">
                <a16:creationId xmlns:a16="http://schemas.microsoft.com/office/drawing/2014/main" id="{113C8DEC-CEFC-F7C4-699E-3514C1C70354}"/>
              </a:ext>
            </a:extLst>
          </p:cNvPr>
          <p:cNvSpPr txBox="1"/>
          <p:nvPr/>
        </p:nvSpPr>
        <p:spPr>
          <a:xfrm>
            <a:off x="7040880" y="2880360"/>
            <a:ext cx="397764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May explain instead of returning only contract JSON</a:t>
            </a:r>
          </a:p>
        </p:txBody>
      </p:sp>
      <p:sp>
        <p:nvSpPr>
          <p:cNvPr id="28" name="Oval 27">
            <a:extLst>
              <a:ext uri="{FF2B5EF4-FFF2-40B4-BE49-F238E27FC236}">
                <a16:creationId xmlns:a16="http://schemas.microsoft.com/office/drawing/2014/main" id="{E265498B-DCED-941F-872D-BB8A802D692B}"/>
              </a:ext>
            </a:extLst>
          </p:cNvPr>
          <p:cNvSpPr/>
          <p:nvPr/>
        </p:nvSpPr>
        <p:spPr>
          <a:xfrm>
            <a:off x="6665976" y="3593592"/>
            <a:ext cx="256032" cy="256032"/>
          </a:xfrm>
          <a:prstGeom prst="ellipse">
            <a:avLst/>
          </a:prstGeom>
          <a:solidFill>
            <a:srgbClr val="D1343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BD6F029-7506-463D-503F-474313EA5924}"/>
              </a:ext>
            </a:extLst>
          </p:cNvPr>
          <p:cNvSpPr txBox="1"/>
          <p:nvPr/>
        </p:nvSpPr>
        <p:spPr>
          <a:xfrm>
            <a:off x="6693408" y="3643884"/>
            <a:ext cx="201168" cy="160044"/>
          </a:xfrm>
          <a:prstGeom prst="rect">
            <a:avLst/>
          </a:prstGeom>
          <a:noFill/>
        </p:spPr>
        <p:txBody>
          <a:bodyPr vert="horz" wrap="square" lIns="36576" tIns="18288" rIns="36576" bIns="18288" rtlCol="0">
            <a:spAutoFit/>
          </a:bodyPr>
          <a:lstStyle/>
          <a:p>
            <a:pPr algn="ctr"/>
            <a:r>
              <a:rPr lang="en-US" sz="800" b="1">
                <a:solidFill>
                  <a:srgbClr val="FFFFFF"/>
                </a:solidFill>
                <a:latin typeface="Segoe UI" panose="020B0502040204020203" pitchFamily="34" charset="0"/>
              </a:rPr>
              <a:t>!</a:t>
            </a:r>
          </a:p>
        </p:txBody>
      </p:sp>
      <p:sp>
        <p:nvSpPr>
          <p:cNvPr id="30" name="TextBox 29">
            <a:extLst>
              <a:ext uri="{FF2B5EF4-FFF2-40B4-BE49-F238E27FC236}">
                <a16:creationId xmlns:a16="http://schemas.microsoft.com/office/drawing/2014/main" id="{5BF9876E-B148-8D11-CEFF-7C1A7DB99A19}"/>
              </a:ext>
            </a:extLst>
          </p:cNvPr>
          <p:cNvSpPr txBox="1"/>
          <p:nvPr/>
        </p:nvSpPr>
        <p:spPr>
          <a:xfrm>
            <a:off x="7040880" y="3566160"/>
            <a:ext cx="397764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Misses workflow navigation or pre-submit checks</a:t>
            </a:r>
          </a:p>
        </p:txBody>
      </p:sp>
      <p:sp>
        <p:nvSpPr>
          <p:cNvPr id="31" name="Oval 30">
            <a:extLst>
              <a:ext uri="{FF2B5EF4-FFF2-40B4-BE49-F238E27FC236}">
                <a16:creationId xmlns:a16="http://schemas.microsoft.com/office/drawing/2014/main" id="{B5872738-D543-1BEF-5648-2FBB7F5D9F51}"/>
              </a:ext>
            </a:extLst>
          </p:cNvPr>
          <p:cNvSpPr/>
          <p:nvPr/>
        </p:nvSpPr>
        <p:spPr>
          <a:xfrm>
            <a:off x="6665976" y="4279392"/>
            <a:ext cx="256032" cy="256032"/>
          </a:xfrm>
          <a:prstGeom prst="ellipse">
            <a:avLst/>
          </a:prstGeom>
          <a:solidFill>
            <a:srgbClr val="D1343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02F851E-8DF0-2B14-AE7F-8026CE1504B6}"/>
              </a:ext>
            </a:extLst>
          </p:cNvPr>
          <p:cNvSpPr txBox="1"/>
          <p:nvPr/>
        </p:nvSpPr>
        <p:spPr>
          <a:xfrm>
            <a:off x="6693408" y="4329684"/>
            <a:ext cx="201168" cy="160044"/>
          </a:xfrm>
          <a:prstGeom prst="rect">
            <a:avLst/>
          </a:prstGeom>
          <a:noFill/>
        </p:spPr>
        <p:txBody>
          <a:bodyPr vert="horz" wrap="square" lIns="36576" tIns="18288" rIns="36576" bIns="18288" rtlCol="0">
            <a:spAutoFit/>
          </a:bodyPr>
          <a:lstStyle/>
          <a:p>
            <a:pPr algn="ctr"/>
            <a:r>
              <a:rPr lang="en-US" sz="800" b="1">
                <a:solidFill>
                  <a:srgbClr val="FFFFFF"/>
                </a:solidFill>
                <a:latin typeface="Segoe UI" panose="020B0502040204020203" pitchFamily="34" charset="0"/>
              </a:rPr>
              <a:t>!</a:t>
            </a:r>
          </a:p>
        </p:txBody>
      </p:sp>
      <p:sp>
        <p:nvSpPr>
          <p:cNvPr id="33" name="TextBox 32">
            <a:extLst>
              <a:ext uri="{FF2B5EF4-FFF2-40B4-BE49-F238E27FC236}">
                <a16:creationId xmlns:a16="http://schemas.microsoft.com/office/drawing/2014/main" id="{29099254-37A0-0DE2-DECC-B4F603EDDAB2}"/>
              </a:ext>
            </a:extLst>
          </p:cNvPr>
          <p:cNvSpPr txBox="1"/>
          <p:nvPr/>
        </p:nvSpPr>
        <p:spPr>
          <a:xfrm>
            <a:off x="7040880" y="4251960"/>
            <a:ext cx="3977640" cy="236988"/>
          </a:xfrm>
          <a:prstGeom prst="rect">
            <a:avLst/>
          </a:prstGeom>
          <a:noFill/>
        </p:spPr>
        <p:txBody>
          <a:bodyPr vert="horz" wrap="square" lIns="36576" tIns="18288" rIns="36576" bIns="18288" rtlCol="0">
            <a:spAutoFit/>
          </a:bodyPr>
          <a:lstStyle/>
          <a:p>
            <a:r>
              <a:rPr lang="en-US" sz="1300">
                <a:solidFill>
                  <a:srgbClr val="201F1E"/>
                </a:solidFill>
                <a:latin typeface="Segoe UI" panose="020B0502040204020203" pitchFamily="34" charset="0"/>
              </a:rPr>
              <a:t>Order can drift on multi-step tasks</a:t>
            </a:r>
          </a:p>
        </p:txBody>
      </p:sp>
      <p:sp>
        <p:nvSpPr>
          <p:cNvPr id="34" name="Rectangle: Rounded Corners 33">
            <a:extLst>
              <a:ext uri="{FF2B5EF4-FFF2-40B4-BE49-F238E27FC236}">
                <a16:creationId xmlns:a16="http://schemas.microsoft.com/office/drawing/2014/main" id="{D2C6A5BE-85A1-C480-F26E-89012DBD1085}"/>
              </a:ext>
            </a:extLst>
          </p:cNvPr>
          <p:cNvSpPr/>
          <p:nvPr/>
        </p:nvSpPr>
        <p:spPr>
          <a:xfrm>
            <a:off x="4370832" y="5413248"/>
            <a:ext cx="3429000" cy="713232"/>
          </a:xfrm>
          <a:prstGeom prst="roundRect">
            <a:avLst/>
          </a:prstGeom>
          <a:solidFill>
            <a:srgbClr val="2524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0134BC3-701B-4D4D-DE9B-85B6D3ED58E2}"/>
              </a:ext>
            </a:extLst>
          </p:cNvPr>
          <p:cNvSpPr txBox="1"/>
          <p:nvPr/>
        </p:nvSpPr>
        <p:spPr>
          <a:xfrm>
            <a:off x="4562856" y="5539085"/>
            <a:ext cx="2926080" cy="381643"/>
          </a:xfrm>
          <a:prstGeom prst="rect">
            <a:avLst/>
          </a:prstGeom>
          <a:noFill/>
        </p:spPr>
        <p:txBody>
          <a:bodyPr vert="horz" wrap="square" lIns="36576" tIns="18288" rIns="36576" bIns="18288" rtlCol="0">
            <a:spAutoFit/>
          </a:bodyPr>
          <a:lstStyle/>
          <a:p>
            <a:pPr algn="ctr"/>
            <a:r>
              <a:rPr lang="en-US" sz="1120" b="1" dirty="0">
                <a:solidFill>
                  <a:srgbClr val="FFFFFF"/>
                </a:solidFill>
                <a:latin typeface="Segoe UI" panose="020B0502040204020203" pitchFamily="34" charset="0"/>
              </a:rPr>
              <a:t>Conclusion: </a:t>
            </a:r>
            <a:r>
              <a:rPr lang="en-US" sz="1120" b="1" dirty="0" err="1">
                <a:solidFill>
                  <a:srgbClr val="FFFFFF"/>
                </a:solidFill>
                <a:latin typeface="Segoe UI" panose="020B0502040204020203" pitchFamily="34" charset="0"/>
              </a:rPr>
              <a:t>promptable</a:t>
            </a:r>
            <a:r>
              <a:rPr lang="en-US" sz="1120" b="1" dirty="0">
                <a:solidFill>
                  <a:srgbClr val="FFFFFF"/>
                </a:solidFill>
                <a:latin typeface="Segoe UI" panose="020B0502040204020203" pitchFamily="34" charset="0"/>
              </a:rPr>
              <a:t>, but not yet dependable</a:t>
            </a:r>
          </a:p>
        </p:txBody>
      </p:sp>
    </p:spTree>
    <p:extLst>
      <p:ext uri="{BB962C8B-B14F-4D97-AF65-F5344CB8AC3E}">
        <p14:creationId xmlns:p14="http://schemas.microsoft.com/office/powerpoint/2010/main" val="1105497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F7F2A6-9198-E394-442D-7D8C5E24CCCC}"/>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AF97820-F188-4031-4ACF-77C872AE91A2}"/>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8C7A3BF2-1C13-1B7E-EB14-8BC84BB8EA0F}"/>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Why fine-tuning is the right lever here</a:t>
            </a:r>
          </a:p>
        </p:txBody>
      </p:sp>
      <p:sp>
        <p:nvSpPr>
          <p:cNvPr id="6" name="TextBox 5">
            <a:extLst>
              <a:ext uri="{FF2B5EF4-FFF2-40B4-BE49-F238E27FC236}">
                <a16:creationId xmlns:a16="http://schemas.microsoft.com/office/drawing/2014/main" id="{D7E7196A-05EA-13DA-8B14-A160289E9A16}"/>
              </a:ext>
            </a:extLst>
          </p:cNvPr>
          <p:cNvSpPr txBox="1"/>
          <p:nvPr/>
        </p:nvSpPr>
        <p:spPr>
          <a:xfrm>
            <a:off x="594360" y="1143000"/>
            <a:ext cx="10250424" cy="244682"/>
          </a:xfrm>
          <a:prstGeom prst="rect">
            <a:avLst/>
          </a:prstGeom>
          <a:noFill/>
        </p:spPr>
        <p:txBody>
          <a:bodyPr vert="horz" wrap="square" lIns="36576" tIns="18288" rIns="36576" bIns="18288" rtlCol="0">
            <a:spAutoFit/>
          </a:bodyPr>
          <a:lstStyle/>
          <a:p>
            <a:r>
              <a:rPr lang="en-US" sz="1350">
                <a:solidFill>
                  <a:srgbClr val="605E5C"/>
                </a:solidFill>
                <a:latin typeface="Aptos" panose="020B0004020202020204" pitchFamily="34" charset="0"/>
              </a:rPr>
              <a:t>We are not trying to teach the model medical facts. We are teaching it a repeatable output behavior: the Molina/EIM action contract.</a:t>
            </a:r>
          </a:p>
        </p:txBody>
      </p:sp>
      <p:sp>
        <p:nvSpPr>
          <p:cNvPr id="7" name="Rectangle: Rounded Corners 6">
            <a:extLst>
              <a:ext uri="{FF2B5EF4-FFF2-40B4-BE49-F238E27FC236}">
                <a16:creationId xmlns:a16="http://schemas.microsoft.com/office/drawing/2014/main" id="{59BD57EF-8304-8CD6-C19F-D27B123C85D1}"/>
              </a:ext>
            </a:extLst>
          </p:cNvPr>
          <p:cNvSpPr/>
          <p:nvPr/>
        </p:nvSpPr>
        <p:spPr>
          <a:xfrm>
            <a:off x="749808" y="1874520"/>
            <a:ext cx="2834640" cy="30175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C87EBB2-B5A4-A2B6-142D-419134C182E7}"/>
              </a:ext>
            </a:extLst>
          </p:cNvPr>
          <p:cNvSpPr txBox="1"/>
          <p:nvPr/>
        </p:nvSpPr>
        <p:spPr>
          <a:xfrm>
            <a:off x="987552" y="2148840"/>
            <a:ext cx="2103120" cy="283154"/>
          </a:xfrm>
          <a:prstGeom prst="rect">
            <a:avLst/>
          </a:prstGeom>
          <a:noFill/>
        </p:spPr>
        <p:txBody>
          <a:bodyPr vert="horz" wrap="square" lIns="36576" tIns="18288" rIns="36576" bIns="18288" rtlCol="0">
            <a:spAutoFit/>
          </a:bodyPr>
          <a:lstStyle/>
          <a:p>
            <a:pPr algn="ctr"/>
            <a:r>
              <a:rPr lang="en-US" sz="1600" b="1">
                <a:solidFill>
                  <a:srgbClr val="004578"/>
                </a:solidFill>
                <a:latin typeface="Aptos Display" panose="020B0004020202020204" pitchFamily="34" charset="0"/>
              </a:rPr>
              <a:t>Frozen base model</a:t>
            </a:r>
          </a:p>
        </p:txBody>
      </p:sp>
      <p:sp>
        <p:nvSpPr>
          <p:cNvPr id="9" name="Oval 8">
            <a:extLst>
              <a:ext uri="{FF2B5EF4-FFF2-40B4-BE49-F238E27FC236}">
                <a16:creationId xmlns:a16="http://schemas.microsoft.com/office/drawing/2014/main" id="{E330EF77-B6E9-CF74-141C-0BC86F83B7A8}"/>
              </a:ext>
            </a:extLst>
          </p:cNvPr>
          <p:cNvSpPr/>
          <p:nvPr/>
        </p:nvSpPr>
        <p:spPr>
          <a:xfrm>
            <a:off x="1417320" y="2697480"/>
            <a:ext cx="1417320" cy="1417320"/>
          </a:xfrm>
          <a:prstGeom prst="ellipse">
            <a:avLst/>
          </a:prstGeom>
          <a:solidFill>
            <a:srgbClr val="D7EBFF"/>
          </a:solidFill>
          <a:ln>
            <a:solidFill>
              <a:srgbClr val="0078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17BB6CA-4293-A235-5A86-1AF79DAD2C59}"/>
              </a:ext>
            </a:extLst>
          </p:cNvPr>
          <p:cNvSpPr txBox="1"/>
          <p:nvPr/>
        </p:nvSpPr>
        <p:spPr>
          <a:xfrm>
            <a:off x="1746504" y="3154680"/>
            <a:ext cx="832104" cy="283154"/>
          </a:xfrm>
          <a:prstGeom prst="rect">
            <a:avLst/>
          </a:prstGeom>
          <a:noFill/>
        </p:spPr>
        <p:txBody>
          <a:bodyPr vert="horz" wrap="square" lIns="36576" tIns="18288" rIns="36576" bIns="18288" rtlCol="0">
            <a:spAutoFit/>
          </a:bodyPr>
          <a:lstStyle/>
          <a:p>
            <a:pPr algn="ctr"/>
            <a:r>
              <a:rPr lang="en-US" sz="1600" b="1">
                <a:solidFill>
                  <a:srgbClr val="004578"/>
                </a:solidFill>
                <a:latin typeface="Aptos" panose="020B0004020202020204" pitchFamily="34" charset="0"/>
              </a:rPr>
              <a:t>Gemma</a:t>
            </a:r>
          </a:p>
        </p:txBody>
      </p:sp>
      <p:sp>
        <p:nvSpPr>
          <p:cNvPr id="11" name="TextBox 10">
            <a:extLst>
              <a:ext uri="{FF2B5EF4-FFF2-40B4-BE49-F238E27FC236}">
                <a16:creationId xmlns:a16="http://schemas.microsoft.com/office/drawing/2014/main" id="{8D50C5CD-DD6C-38AB-15B0-082B512DBD5B}"/>
              </a:ext>
            </a:extLst>
          </p:cNvPr>
          <p:cNvSpPr txBox="1"/>
          <p:nvPr/>
        </p:nvSpPr>
        <p:spPr>
          <a:xfrm>
            <a:off x="1143000" y="4343400"/>
            <a:ext cx="2057400" cy="360099"/>
          </a:xfrm>
          <a:prstGeom prst="rect">
            <a:avLst/>
          </a:prstGeom>
          <a:noFill/>
        </p:spPr>
        <p:txBody>
          <a:bodyPr vert="horz" wrap="square" lIns="36576" tIns="18288" rIns="36576" bIns="18288" rtlCol="0">
            <a:spAutoFit/>
          </a:bodyPr>
          <a:lstStyle/>
          <a:p>
            <a:pPr algn="ctr"/>
            <a:r>
              <a:rPr lang="en-US" sz="1050">
                <a:solidFill>
                  <a:srgbClr val="605E5C"/>
                </a:solidFill>
                <a:latin typeface="Segoe UI" panose="020B0502040204020203" pitchFamily="34" charset="0"/>
              </a:rPr>
              <a:t>General language + code + web understanding stays intact.</a:t>
            </a:r>
          </a:p>
        </p:txBody>
      </p:sp>
      <p:sp>
        <p:nvSpPr>
          <p:cNvPr id="12" name="Rectangle: Rounded Corners 11">
            <a:extLst>
              <a:ext uri="{FF2B5EF4-FFF2-40B4-BE49-F238E27FC236}">
                <a16:creationId xmlns:a16="http://schemas.microsoft.com/office/drawing/2014/main" id="{53055D67-2CAE-C074-156D-B479EEC84C41}"/>
              </a:ext>
            </a:extLst>
          </p:cNvPr>
          <p:cNvSpPr/>
          <p:nvPr/>
        </p:nvSpPr>
        <p:spPr>
          <a:xfrm>
            <a:off x="4663440" y="1627632"/>
            <a:ext cx="2834640" cy="3520440"/>
          </a:xfrm>
          <a:prstGeom prst="roundRect">
            <a:avLst/>
          </a:prstGeom>
          <a:solidFill>
            <a:srgbClr val="EDE7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8CB68AC-F868-D866-10A8-3091A652A1EC}"/>
              </a:ext>
            </a:extLst>
          </p:cNvPr>
          <p:cNvSpPr txBox="1"/>
          <p:nvPr/>
        </p:nvSpPr>
        <p:spPr>
          <a:xfrm>
            <a:off x="4965192" y="1993392"/>
            <a:ext cx="2148840" cy="298543"/>
          </a:xfrm>
          <a:prstGeom prst="rect">
            <a:avLst/>
          </a:prstGeom>
          <a:noFill/>
        </p:spPr>
        <p:txBody>
          <a:bodyPr vert="horz" wrap="square" lIns="36576" tIns="18288" rIns="36576" bIns="18288" rtlCol="0">
            <a:spAutoFit/>
          </a:bodyPr>
          <a:lstStyle/>
          <a:p>
            <a:pPr algn="ctr"/>
            <a:r>
              <a:rPr lang="en-US" sz="1700" b="1">
                <a:solidFill>
                  <a:srgbClr val="5C2D91"/>
                </a:solidFill>
                <a:latin typeface="Aptos Display" panose="020B0004020202020204" pitchFamily="34" charset="0"/>
              </a:rPr>
              <a:t>LoRA adapter</a:t>
            </a:r>
          </a:p>
        </p:txBody>
      </p:sp>
      <p:sp>
        <p:nvSpPr>
          <p:cNvPr id="14" name="Rectangle: Rounded Corners 13">
            <a:extLst>
              <a:ext uri="{FF2B5EF4-FFF2-40B4-BE49-F238E27FC236}">
                <a16:creationId xmlns:a16="http://schemas.microsoft.com/office/drawing/2014/main" id="{A1BCB192-1DB4-3C94-8830-4B4A1947F369}"/>
              </a:ext>
            </a:extLst>
          </p:cNvPr>
          <p:cNvSpPr/>
          <p:nvPr/>
        </p:nvSpPr>
        <p:spPr>
          <a:xfrm>
            <a:off x="5285232" y="2670048"/>
            <a:ext cx="1627632" cy="1005840"/>
          </a:xfrm>
          <a:prstGeom prst="roundRect">
            <a:avLst/>
          </a:prstGeom>
          <a:solidFill>
            <a:srgbClr val="5C2D9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221FC5-3D18-5D83-FA73-D24C3DDF9AEE}"/>
              </a:ext>
            </a:extLst>
          </p:cNvPr>
          <p:cNvSpPr txBox="1"/>
          <p:nvPr/>
        </p:nvSpPr>
        <p:spPr>
          <a:xfrm>
            <a:off x="5486400" y="2916936"/>
            <a:ext cx="1207008" cy="560153"/>
          </a:xfrm>
          <a:prstGeom prst="rect">
            <a:avLst/>
          </a:prstGeom>
          <a:noFill/>
        </p:spPr>
        <p:txBody>
          <a:bodyPr vert="horz" wrap="square" lIns="36576" tIns="18288" rIns="36576" bIns="18288" rtlCol="0">
            <a:spAutoFit/>
          </a:bodyPr>
          <a:lstStyle/>
          <a:p>
            <a:pPr algn="ctr"/>
            <a:r>
              <a:rPr lang="en-US" sz="1700" b="1">
                <a:solidFill>
                  <a:srgbClr val="FFFFFF"/>
                </a:solidFill>
                <a:latin typeface="Aptos Display" panose="020B0004020202020204" pitchFamily="34" charset="0"/>
              </a:rPr>
              <a:t>~0.1%</a:t>
            </a:r>
          </a:p>
          <a:p>
            <a:pPr algn="ctr"/>
            <a:r>
              <a:rPr lang="en-US" sz="1700" b="1">
                <a:solidFill>
                  <a:srgbClr val="FFFFFF"/>
                </a:solidFill>
                <a:latin typeface="Aptos Display" panose="020B0004020202020204" pitchFamily="34" charset="0"/>
              </a:rPr>
              <a:t>trainable</a:t>
            </a:r>
          </a:p>
        </p:txBody>
      </p:sp>
      <p:sp>
        <p:nvSpPr>
          <p:cNvPr id="16" name="TextBox 15">
            <a:extLst>
              <a:ext uri="{FF2B5EF4-FFF2-40B4-BE49-F238E27FC236}">
                <a16:creationId xmlns:a16="http://schemas.microsoft.com/office/drawing/2014/main" id="{3A3928DB-CD29-C7A6-7357-FA38CA6E57B6}"/>
              </a:ext>
            </a:extLst>
          </p:cNvPr>
          <p:cNvSpPr txBox="1"/>
          <p:nvPr/>
        </p:nvSpPr>
        <p:spPr>
          <a:xfrm>
            <a:off x="5074920" y="4187952"/>
            <a:ext cx="1828800" cy="521681"/>
          </a:xfrm>
          <a:prstGeom prst="rect">
            <a:avLst/>
          </a:prstGeom>
          <a:noFill/>
        </p:spPr>
        <p:txBody>
          <a:bodyPr vert="horz" wrap="square" lIns="36576" tIns="18288" rIns="36576" bIns="18288" rtlCol="0">
            <a:spAutoFit/>
          </a:bodyPr>
          <a:lstStyle/>
          <a:p>
            <a:pPr algn="ctr"/>
            <a:r>
              <a:rPr lang="en-US" sz="1050">
                <a:solidFill>
                  <a:srgbClr val="605E5C"/>
                </a:solidFill>
                <a:latin typeface="Segoe UI" panose="020B0502040204020203" pitchFamily="34" charset="0"/>
              </a:rPr>
              <a:t>Small adapter learns selectors, ordering, and contract discipline.</a:t>
            </a:r>
          </a:p>
        </p:txBody>
      </p:sp>
      <p:sp>
        <p:nvSpPr>
          <p:cNvPr id="17" name="Rectangle: Rounded Corners 16">
            <a:extLst>
              <a:ext uri="{FF2B5EF4-FFF2-40B4-BE49-F238E27FC236}">
                <a16:creationId xmlns:a16="http://schemas.microsoft.com/office/drawing/2014/main" id="{A4F94BFA-CACE-220B-CB0B-008CE1A9AEB9}"/>
              </a:ext>
            </a:extLst>
          </p:cNvPr>
          <p:cNvSpPr/>
          <p:nvPr/>
        </p:nvSpPr>
        <p:spPr>
          <a:xfrm>
            <a:off x="8549640" y="1874520"/>
            <a:ext cx="2834640" cy="30175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051E616-3E33-31C4-FD2A-DEAE26BD247E}"/>
              </a:ext>
            </a:extLst>
          </p:cNvPr>
          <p:cNvSpPr txBox="1"/>
          <p:nvPr/>
        </p:nvSpPr>
        <p:spPr>
          <a:xfrm>
            <a:off x="8851392" y="2148840"/>
            <a:ext cx="2148840" cy="283154"/>
          </a:xfrm>
          <a:prstGeom prst="rect">
            <a:avLst/>
          </a:prstGeom>
          <a:noFill/>
        </p:spPr>
        <p:txBody>
          <a:bodyPr vert="horz" wrap="square" lIns="36576" tIns="18288" rIns="36576" bIns="18288" rtlCol="0">
            <a:spAutoFit/>
          </a:bodyPr>
          <a:lstStyle/>
          <a:p>
            <a:pPr algn="ctr"/>
            <a:r>
              <a:rPr lang="en-US" sz="1600" b="1">
                <a:solidFill>
                  <a:srgbClr val="107C10"/>
                </a:solidFill>
                <a:latin typeface="Aptos Display" panose="020B0004020202020204" pitchFamily="34" charset="0"/>
              </a:rPr>
              <a:t>Tuned behavior</a:t>
            </a:r>
          </a:p>
        </p:txBody>
      </p:sp>
      <p:sp>
        <p:nvSpPr>
          <p:cNvPr id="19" name="Rectangle: Rounded Corners 18">
            <a:extLst>
              <a:ext uri="{FF2B5EF4-FFF2-40B4-BE49-F238E27FC236}">
                <a16:creationId xmlns:a16="http://schemas.microsoft.com/office/drawing/2014/main" id="{00C6E1F5-1ABA-9A11-FEB8-875F7673B4DB}"/>
              </a:ext>
            </a:extLst>
          </p:cNvPr>
          <p:cNvSpPr/>
          <p:nvPr/>
        </p:nvSpPr>
        <p:spPr>
          <a:xfrm>
            <a:off x="9015984" y="2743200"/>
            <a:ext cx="1828800" cy="384048"/>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81F313F-930A-F0C9-E4B8-04C9F48EC02E}"/>
              </a:ext>
            </a:extLst>
          </p:cNvPr>
          <p:cNvSpPr txBox="1"/>
          <p:nvPr/>
        </p:nvSpPr>
        <p:spPr>
          <a:xfrm>
            <a:off x="9226296" y="2880360"/>
            <a:ext cx="13716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stable selectors</a:t>
            </a:r>
          </a:p>
        </p:txBody>
      </p:sp>
      <p:sp>
        <p:nvSpPr>
          <p:cNvPr id="21" name="Rectangle: Rounded Corners 20">
            <a:extLst>
              <a:ext uri="{FF2B5EF4-FFF2-40B4-BE49-F238E27FC236}">
                <a16:creationId xmlns:a16="http://schemas.microsoft.com/office/drawing/2014/main" id="{162D5E58-1824-6C33-8F4A-25A7FAD39FCC}"/>
              </a:ext>
            </a:extLst>
          </p:cNvPr>
          <p:cNvSpPr/>
          <p:nvPr/>
        </p:nvSpPr>
        <p:spPr>
          <a:xfrm>
            <a:off x="9015984" y="3246120"/>
            <a:ext cx="1828800" cy="384048"/>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EDCA815-9BBC-A507-132B-04723BE1BFB9}"/>
              </a:ext>
            </a:extLst>
          </p:cNvPr>
          <p:cNvSpPr txBox="1"/>
          <p:nvPr/>
        </p:nvSpPr>
        <p:spPr>
          <a:xfrm>
            <a:off x="9400032" y="3383280"/>
            <a:ext cx="91440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right order</a:t>
            </a:r>
          </a:p>
        </p:txBody>
      </p:sp>
      <p:sp>
        <p:nvSpPr>
          <p:cNvPr id="23" name="Rectangle: Rounded Corners 22">
            <a:extLst>
              <a:ext uri="{FF2B5EF4-FFF2-40B4-BE49-F238E27FC236}">
                <a16:creationId xmlns:a16="http://schemas.microsoft.com/office/drawing/2014/main" id="{0C16F5A0-D461-9EDC-A8E2-55AB1605EE75}"/>
              </a:ext>
            </a:extLst>
          </p:cNvPr>
          <p:cNvSpPr/>
          <p:nvPr/>
        </p:nvSpPr>
        <p:spPr>
          <a:xfrm>
            <a:off x="9015984" y="3749040"/>
            <a:ext cx="1828800" cy="384048"/>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63E97FE-DD24-4C60-0BB9-DD69916737FE}"/>
              </a:ext>
            </a:extLst>
          </p:cNvPr>
          <p:cNvSpPr txBox="1"/>
          <p:nvPr/>
        </p:nvSpPr>
        <p:spPr>
          <a:xfrm>
            <a:off x="9491472" y="3886200"/>
            <a:ext cx="731520" cy="167738"/>
          </a:xfrm>
          <a:prstGeom prst="rect">
            <a:avLst/>
          </a:prstGeom>
          <a:noFill/>
        </p:spPr>
        <p:txBody>
          <a:bodyPr vert="horz" wrap="square" lIns="36576" tIns="18288" rIns="36576" bIns="18288" rtlCol="0">
            <a:spAutoFit/>
          </a:bodyPr>
          <a:lstStyle/>
          <a:p>
            <a:pPr algn="ctr"/>
            <a:r>
              <a:rPr lang="en-US" sz="850" b="1">
                <a:solidFill>
                  <a:srgbClr val="107C10"/>
                </a:solidFill>
                <a:latin typeface="Segoe UI" panose="020B0502040204020203" pitchFamily="34" charset="0"/>
              </a:rPr>
              <a:t>no prose</a:t>
            </a:r>
          </a:p>
        </p:txBody>
      </p:sp>
      <p:cxnSp>
        <p:nvCxnSpPr>
          <p:cNvPr id="25" name="Straight Connector 24">
            <a:extLst>
              <a:ext uri="{FF2B5EF4-FFF2-40B4-BE49-F238E27FC236}">
                <a16:creationId xmlns:a16="http://schemas.microsoft.com/office/drawing/2014/main" id="{A8C42114-E54E-94E5-9208-2BD076DCA1D0}"/>
              </a:ext>
            </a:extLst>
          </p:cNvPr>
          <p:cNvCxnSpPr/>
          <p:nvPr/>
        </p:nvCxnSpPr>
        <p:spPr>
          <a:xfrm>
            <a:off x="3611880" y="3364992"/>
            <a:ext cx="978408" cy="0"/>
          </a:xfrm>
          <a:prstGeom prst="line">
            <a:avLst/>
          </a:prstGeom>
          <a:ln w="381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0285DAF-3500-238A-965C-7FB5A0A6BE92}"/>
              </a:ext>
            </a:extLst>
          </p:cNvPr>
          <p:cNvCxnSpPr/>
          <p:nvPr/>
        </p:nvCxnSpPr>
        <p:spPr>
          <a:xfrm>
            <a:off x="7525512" y="3364992"/>
            <a:ext cx="978408" cy="0"/>
          </a:xfrm>
          <a:prstGeom prst="line">
            <a:avLst/>
          </a:prstGeom>
          <a:ln w="38100">
            <a:solidFill>
              <a:srgbClr val="107C10"/>
            </a:solidFill>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78941667-5CDA-598A-186A-B767C046BF7C}"/>
              </a:ext>
            </a:extLst>
          </p:cNvPr>
          <p:cNvSpPr/>
          <p:nvPr/>
        </p:nvSpPr>
        <p:spPr>
          <a:xfrm>
            <a:off x="914400" y="553212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3D4BEF1-9F33-252E-7108-39A6451B2905}"/>
              </a:ext>
            </a:extLst>
          </p:cNvPr>
          <p:cNvSpPr txBox="1"/>
          <p:nvPr/>
        </p:nvSpPr>
        <p:spPr>
          <a:xfrm>
            <a:off x="1078992" y="5660136"/>
            <a:ext cx="1499616" cy="421654"/>
          </a:xfrm>
          <a:prstGeom prst="rect">
            <a:avLst/>
          </a:prstGeom>
          <a:noFill/>
        </p:spPr>
        <p:txBody>
          <a:bodyPr vert="horz" wrap="square" lIns="36576" tIns="18288" rIns="36576" bIns="18288" rtlCol="0">
            <a:spAutoFit/>
          </a:bodyPr>
          <a:lstStyle/>
          <a:p>
            <a:r>
              <a:rPr lang="en-US" sz="2500" b="1">
                <a:solidFill>
                  <a:srgbClr val="0078D4"/>
                </a:solidFill>
                <a:latin typeface="Aptos Display" panose="020B0004020202020204" pitchFamily="34" charset="0"/>
              </a:rPr>
              <a:t>bf16</a:t>
            </a:r>
          </a:p>
        </p:txBody>
      </p:sp>
      <p:sp>
        <p:nvSpPr>
          <p:cNvPr id="29" name="TextBox 28">
            <a:extLst>
              <a:ext uri="{FF2B5EF4-FFF2-40B4-BE49-F238E27FC236}">
                <a16:creationId xmlns:a16="http://schemas.microsoft.com/office/drawing/2014/main" id="{C8C2C968-62FD-7134-4B78-B4802FFF7C89}"/>
              </a:ext>
            </a:extLst>
          </p:cNvPr>
          <p:cNvSpPr txBox="1"/>
          <p:nvPr/>
        </p:nvSpPr>
        <p:spPr>
          <a:xfrm>
            <a:off x="1078992" y="609904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Fits single A100 80GB</a:t>
            </a:r>
          </a:p>
        </p:txBody>
      </p:sp>
      <p:sp>
        <p:nvSpPr>
          <p:cNvPr id="30" name="Rectangle: Rounded Corners 29">
            <a:extLst>
              <a:ext uri="{FF2B5EF4-FFF2-40B4-BE49-F238E27FC236}">
                <a16:creationId xmlns:a16="http://schemas.microsoft.com/office/drawing/2014/main" id="{847A5BA9-E0F4-D7E7-C9E5-49AA70EBDBFA}"/>
              </a:ext>
            </a:extLst>
          </p:cNvPr>
          <p:cNvSpPr/>
          <p:nvPr/>
        </p:nvSpPr>
        <p:spPr>
          <a:xfrm>
            <a:off x="3474720" y="553212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83DC0F27-7C33-218C-16EF-005BC6685DFB}"/>
              </a:ext>
            </a:extLst>
          </p:cNvPr>
          <p:cNvSpPr txBox="1"/>
          <p:nvPr/>
        </p:nvSpPr>
        <p:spPr>
          <a:xfrm>
            <a:off x="3639312" y="5660136"/>
            <a:ext cx="1499616" cy="421654"/>
          </a:xfrm>
          <a:prstGeom prst="rect">
            <a:avLst/>
          </a:prstGeom>
          <a:noFill/>
        </p:spPr>
        <p:txBody>
          <a:bodyPr vert="horz" wrap="square" lIns="36576" tIns="18288" rIns="36576" bIns="18288" rtlCol="0">
            <a:spAutoFit/>
          </a:bodyPr>
          <a:lstStyle/>
          <a:p>
            <a:r>
              <a:rPr lang="en-US" sz="2500" b="1">
                <a:solidFill>
                  <a:srgbClr val="5C2D91"/>
                </a:solidFill>
                <a:latin typeface="Aptos Display" panose="020B0004020202020204" pitchFamily="34" charset="0"/>
              </a:rPr>
              <a:t>LoRA</a:t>
            </a:r>
          </a:p>
        </p:txBody>
      </p:sp>
      <p:sp>
        <p:nvSpPr>
          <p:cNvPr id="32" name="TextBox 31">
            <a:extLst>
              <a:ext uri="{FF2B5EF4-FFF2-40B4-BE49-F238E27FC236}">
                <a16:creationId xmlns:a16="http://schemas.microsoft.com/office/drawing/2014/main" id="{0C978F77-F063-04FC-96D7-99317D502591}"/>
              </a:ext>
            </a:extLst>
          </p:cNvPr>
          <p:cNvSpPr txBox="1"/>
          <p:nvPr/>
        </p:nvSpPr>
        <p:spPr>
          <a:xfrm>
            <a:off x="3639312" y="609904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No full model retrain</a:t>
            </a:r>
          </a:p>
        </p:txBody>
      </p:sp>
      <p:sp>
        <p:nvSpPr>
          <p:cNvPr id="33" name="Rectangle: Rounded Corners 32">
            <a:extLst>
              <a:ext uri="{FF2B5EF4-FFF2-40B4-BE49-F238E27FC236}">
                <a16:creationId xmlns:a16="http://schemas.microsoft.com/office/drawing/2014/main" id="{2EB34E16-29B5-356D-7849-FAC46A7ADF74}"/>
              </a:ext>
            </a:extLst>
          </p:cNvPr>
          <p:cNvSpPr/>
          <p:nvPr/>
        </p:nvSpPr>
        <p:spPr>
          <a:xfrm>
            <a:off x="6035040" y="553212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A6C086C-2C07-A5FA-A3BC-EA8ADEC50A42}"/>
              </a:ext>
            </a:extLst>
          </p:cNvPr>
          <p:cNvSpPr txBox="1"/>
          <p:nvPr/>
        </p:nvSpPr>
        <p:spPr>
          <a:xfrm>
            <a:off x="6199632" y="5660136"/>
            <a:ext cx="1499616" cy="421654"/>
          </a:xfrm>
          <a:prstGeom prst="rect">
            <a:avLst/>
          </a:prstGeom>
          <a:noFill/>
        </p:spPr>
        <p:txBody>
          <a:bodyPr vert="horz" wrap="square" lIns="36576" tIns="18288" rIns="36576" bIns="18288" rtlCol="0">
            <a:spAutoFit/>
          </a:bodyPr>
          <a:lstStyle/>
          <a:p>
            <a:r>
              <a:rPr lang="en-US" sz="2500" b="1">
                <a:solidFill>
                  <a:srgbClr val="038387"/>
                </a:solidFill>
                <a:latin typeface="Aptos Display" panose="020B0004020202020204" pitchFamily="34" charset="0"/>
              </a:rPr>
              <a:t>per flow</a:t>
            </a:r>
          </a:p>
        </p:txBody>
      </p:sp>
      <p:sp>
        <p:nvSpPr>
          <p:cNvPr id="35" name="TextBox 34">
            <a:extLst>
              <a:ext uri="{FF2B5EF4-FFF2-40B4-BE49-F238E27FC236}">
                <a16:creationId xmlns:a16="http://schemas.microsoft.com/office/drawing/2014/main" id="{CFC7A846-EAA1-7074-83DD-35FF6BB66CCE}"/>
              </a:ext>
            </a:extLst>
          </p:cNvPr>
          <p:cNvSpPr txBox="1"/>
          <p:nvPr/>
        </p:nvSpPr>
        <p:spPr>
          <a:xfrm>
            <a:off x="6199632" y="609904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Adapter can be swapped</a:t>
            </a:r>
          </a:p>
        </p:txBody>
      </p:sp>
      <p:sp>
        <p:nvSpPr>
          <p:cNvPr id="36" name="Rectangle: Rounded Corners 35">
            <a:extLst>
              <a:ext uri="{FF2B5EF4-FFF2-40B4-BE49-F238E27FC236}">
                <a16:creationId xmlns:a16="http://schemas.microsoft.com/office/drawing/2014/main" id="{FA8A55FD-0625-F134-10FE-C93F92CBF239}"/>
              </a:ext>
            </a:extLst>
          </p:cNvPr>
          <p:cNvSpPr/>
          <p:nvPr/>
        </p:nvSpPr>
        <p:spPr>
          <a:xfrm>
            <a:off x="8595360" y="553212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B6296F1-BAA0-3912-5239-0C81EE9269DE}"/>
              </a:ext>
            </a:extLst>
          </p:cNvPr>
          <p:cNvSpPr txBox="1"/>
          <p:nvPr/>
        </p:nvSpPr>
        <p:spPr>
          <a:xfrm>
            <a:off x="8759952" y="5660136"/>
            <a:ext cx="1499616" cy="421654"/>
          </a:xfrm>
          <a:prstGeom prst="rect">
            <a:avLst/>
          </a:prstGeom>
          <a:noFill/>
        </p:spPr>
        <p:txBody>
          <a:bodyPr vert="horz" wrap="square" lIns="36576" tIns="18288" rIns="36576" bIns="18288" rtlCol="0">
            <a:spAutoFit/>
          </a:bodyPr>
          <a:lstStyle/>
          <a:p>
            <a:r>
              <a:rPr lang="en-US" sz="2500" b="1">
                <a:solidFill>
                  <a:srgbClr val="107C10"/>
                </a:solidFill>
                <a:latin typeface="Aptos Display" panose="020B0004020202020204" pitchFamily="34" charset="0"/>
              </a:rPr>
              <a:t>fast</a:t>
            </a:r>
          </a:p>
        </p:txBody>
      </p:sp>
      <p:sp>
        <p:nvSpPr>
          <p:cNvPr id="38" name="TextBox 37">
            <a:extLst>
              <a:ext uri="{FF2B5EF4-FFF2-40B4-BE49-F238E27FC236}">
                <a16:creationId xmlns:a16="http://schemas.microsoft.com/office/drawing/2014/main" id="{9BC9178C-134A-5864-07A2-F82B9CF94000}"/>
              </a:ext>
            </a:extLst>
          </p:cNvPr>
          <p:cNvSpPr txBox="1"/>
          <p:nvPr/>
        </p:nvSpPr>
        <p:spPr>
          <a:xfrm>
            <a:off x="8759952" y="609904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Lower experiment cost</a:t>
            </a:r>
          </a:p>
        </p:txBody>
      </p:sp>
    </p:spTree>
    <p:extLst>
      <p:ext uri="{BB962C8B-B14F-4D97-AF65-F5344CB8AC3E}">
        <p14:creationId xmlns:p14="http://schemas.microsoft.com/office/powerpoint/2010/main" val="271211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0E2B75-2DF3-C9AB-AC20-39E60E729A36}"/>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C42CD5F-7C87-0F5D-7860-CEF6A7DA92D6}"/>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AB20ED41-07B5-E78E-DAD3-1C2582CD2F44}"/>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Fine-tuning process flow used in this project</a:t>
            </a:r>
          </a:p>
        </p:txBody>
      </p:sp>
      <p:sp>
        <p:nvSpPr>
          <p:cNvPr id="5" name="TextBox 4">
            <a:extLst>
              <a:ext uri="{FF2B5EF4-FFF2-40B4-BE49-F238E27FC236}">
                <a16:creationId xmlns:a16="http://schemas.microsoft.com/office/drawing/2014/main" id="{901EE05D-B658-6C9A-6B07-C5A5014E68C0}"/>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TextBox 5">
            <a:extLst>
              <a:ext uri="{FF2B5EF4-FFF2-40B4-BE49-F238E27FC236}">
                <a16:creationId xmlns:a16="http://schemas.microsoft.com/office/drawing/2014/main" id="{E90EF3C6-D9ED-6C2E-A973-4C5A03535729}"/>
              </a:ext>
            </a:extLst>
          </p:cNvPr>
          <p:cNvSpPr txBox="1"/>
          <p:nvPr/>
        </p:nvSpPr>
        <p:spPr>
          <a:xfrm>
            <a:off x="594360" y="1115568"/>
            <a:ext cx="8321040" cy="443198"/>
          </a:xfrm>
          <a:prstGeom prst="rect">
            <a:avLst/>
          </a:prstGeom>
          <a:noFill/>
        </p:spPr>
        <p:txBody>
          <a:bodyPr vert="horz" wrap="square" lIns="36576" tIns="18288" rIns="36576" bIns="18288" rtlCol="0">
            <a:spAutoFit/>
          </a:bodyPr>
          <a:lstStyle/>
          <a:p>
            <a:r>
              <a:rPr lang="en-US" sz="1320">
                <a:solidFill>
                  <a:srgbClr val="605E5C"/>
                </a:solidFill>
                <a:latin typeface="Aptos" panose="020B0004020202020204" pitchFamily="34" charset="0"/>
              </a:rPr>
              <a:t>The implementation is deliberately end-to-end: generate safe data, train on AzureML A100 compute, register the adapter, deploy, evaluate, and clean up.</a:t>
            </a:r>
          </a:p>
        </p:txBody>
      </p:sp>
      <p:sp>
        <p:nvSpPr>
          <p:cNvPr id="7" name="Rectangle: Rounded Corners 6">
            <a:extLst>
              <a:ext uri="{FF2B5EF4-FFF2-40B4-BE49-F238E27FC236}">
                <a16:creationId xmlns:a16="http://schemas.microsoft.com/office/drawing/2014/main" id="{52C79A35-CC4D-03F5-4C75-25A557F64EE1}"/>
              </a:ext>
            </a:extLst>
          </p:cNvPr>
          <p:cNvSpPr/>
          <p:nvPr/>
        </p:nvSpPr>
        <p:spPr>
          <a:xfrm>
            <a:off x="749808" y="1874520"/>
            <a:ext cx="306324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4F9D962-3037-ECCC-D7E3-17911AEC8084}"/>
              </a:ext>
            </a:extLst>
          </p:cNvPr>
          <p:cNvSpPr/>
          <p:nvPr/>
        </p:nvSpPr>
        <p:spPr>
          <a:xfrm>
            <a:off x="896112" y="2039112"/>
            <a:ext cx="420624" cy="420624"/>
          </a:xfrm>
          <a:prstGeom prst="ellipse">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3CB73EC-9A65-FD16-95A3-AB190E52BF84}"/>
              </a:ext>
            </a:extLst>
          </p:cNvPr>
          <p:cNvSpPr txBox="1"/>
          <p:nvPr/>
        </p:nvSpPr>
        <p:spPr>
          <a:xfrm>
            <a:off x="905256" y="2103120"/>
            <a:ext cx="393192" cy="206210"/>
          </a:xfrm>
          <a:prstGeom prst="rect">
            <a:avLst/>
          </a:prstGeom>
          <a:noFill/>
        </p:spPr>
        <p:txBody>
          <a:bodyPr vert="horz" wrap="square" lIns="36576" tIns="18288" rIns="36576" bIns="18288" rtlCol="0">
            <a:spAutoFit/>
          </a:bodyPr>
          <a:lstStyle/>
          <a:p>
            <a:pPr algn="ctr"/>
            <a:r>
              <a:rPr lang="en-US" sz="1100" b="1">
                <a:solidFill>
                  <a:srgbClr val="FFFFFF"/>
                </a:solidFill>
                <a:latin typeface="Segoe UI" panose="020B0502040204020203" pitchFamily="34" charset="0"/>
              </a:rPr>
              <a:t>1</a:t>
            </a:r>
          </a:p>
        </p:txBody>
      </p:sp>
      <p:sp>
        <p:nvSpPr>
          <p:cNvPr id="10" name="TextBox 9">
            <a:extLst>
              <a:ext uri="{FF2B5EF4-FFF2-40B4-BE49-F238E27FC236}">
                <a16:creationId xmlns:a16="http://schemas.microsoft.com/office/drawing/2014/main" id="{BBF90B40-47A3-61D8-09AA-4357F500C267}"/>
              </a:ext>
            </a:extLst>
          </p:cNvPr>
          <p:cNvSpPr txBox="1"/>
          <p:nvPr/>
        </p:nvSpPr>
        <p:spPr>
          <a:xfrm>
            <a:off x="1435608" y="2020824"/>
            <a:ext cx="2194560" cy="213905"/>
          </a:xfrm>
          <a:prstGeom prst="rect">
            <a:avLst/>
          </a:prstGeom>
          <a:noFill/>
        </p:spPr>
        <p:txBody>
          <a:bodyPr vert="horz" wrap="square" lIns="36576" tIns="18288" rIns="36576" bIns="18288" rtlCol="0">
            <a:spAutoFit/>
          </a:bodyPr>
          <a:lstStyle/>
          <a:p>
            <a:r>
              <a:rPr lang="en-US" sz="1150" b="1">
                <a:solidFill>
                  <a:srgbClr val="201F1E"/>
                </a:solidFill>
                <a:latin typeface="Segoe UI" panose="020B0502040204020203" pitchFamily="34" charset="0"/>
              </a:rPr>
              <a:t>Generate synthetic JSONL</a:t>
            </a:r>
          </a:p>
        </p:txBody>
      </p:sp>
      <p:sp>
        <p:nvSpPr>
          <p:cNvPr id="11" name="TextBox 10">
            <a:extLst>
              <a:ext uri="{FF2B5EF4-FFF2-40B4-BE49-F238E27FC236}">
                <a16:creationId xmlns:a16="http://schemas.microsoft.com/office/drawing/2014/main" id="{EAAAF4D0-729A-27F7-00CE-7E851104A996}"/>
              </a:ext>
            </a:extLst>
          </p:cNvPr>
          <p:cNvSpPr txBox="1"/>
          <p:nvPr/>
        </p:nvSpPr>
        <p:spPr>
          <a:xfrm>
            <a:off x="1435608" y="2304288"/>
            <a:ext cx="2194560" cy="298543"/>
          </a:xfrm>
          <a:prstGeom prst="rect">
            <a:avLst/>
          </a:prstGeom>
          <a:noFill/>
        </p:spPr>
        <p:txBody>
          <a:bodyPr vert="horz" wrap="square" lIns="36576" tIns="18288" rIns="36576" bIns="18288" rtlCol="0">
            <a:spAutoFit/>
          </a:bodyPr>
          <a:lstStyle/>
          <a:p>
            <a:r>
              <a:rPr lang="en-US" sz="850">
                <a:solidFill>
                  <a:srgbClr val="605E5C"/>
                </a:solidFill>
                <a:latin typeface="Segoe UI" panose="020B0502040204020203" pitchFamily="34" charset="0"/>
              </a:rPr>
              <a:t>DOM + instruction + gold assistant action plan.</a:t>
            </a:r>
          </a:p>
        </p:txBody>
      </p:sp>
      <p:cxnSp>
        <p:nvCxnSpPr>
          <p:cNvPr id="12" name="Straight Connector 11">
            <a:extLst>
              <a:ext uri="{FF2B5EF4-FFF2-40B4-BE49-F238E27FC236}">
                <a16:creationId xmlns:a16="http://schemas.microsoft.com/office/drawing/2014/main" id="{8561FAA2-8034-19D6-F92A-498B9D08F403}"/>
              </a:ext>
            </a:extLst>
          </p:cNvPr>
          <p:cNvCxnSpPr/>
          <p:nvPr/>
        </p:nvCxnSpPr>
        <p:spPr>
          <a:xfrm>
            <a:off x="3971963" y="2350008"/>
            <a:ext cx="402336" cy="0"/>
          </a:xfrm>
          <a:prstGeom prst="line">
            <a:avLst/>
          </a:prstGeom>
          <a:ln w="31750">
            <a:solidFill>
              <a:srgbClr val="0078D4"/>
            </a:solidFill>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831659BF-2DBD-00CC-6CFB-969EE7322CA9}"/>
              </a:ext>
            </a:extLst>
          </p:cNvPr>
          <p:cNvSpPr/>
          <p:nvPr/>
        </p:nvSpPr>
        <p:spPr>
          <a:xfrm>
            <a:off x="4453128" y="1874520"/>
            <a:ext cx="306324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2CB48B6-2428-7553-2E48-03F3644477D2}"/>
              </a:ext>
            </a:extLst>
          </p:cNvPr>
          <p:cNvSpPr/>
          <p:nvPr/>
        </p:nvSpPr>
        <p:spPr>
          <a:xfrm>
            <a:off x="4599432" y="2039112"/>
            <a:ext cx="420624" cy="420624"/>
          </a:xfrm>
          <a:prstGeom prst="ellipse">
            <a:avLst/>
          </a:prstGeom>
          <a:solidFill>
            <a:srgbClr val="0383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F860E3-2CE1-657C-39A7-28A8E8D37434}"/>
              </a:ext>
            </a:extLst>
          </p:cNvPr>
          <p:cNvSpPr txBox="1"/>
          <p:nvPr/>
        </p:nvSpPr>
        <p:spPr>
          <a:xfrm>
            <a:off x="4608576" y="2103120"/>
            <a:ext cx="393192" cy="206210"/>
          </a:xfrm>
          <a:prstGeom prst="rect">
            <a:avLst/>
          </a:prstGeom>
          <a:noFill/>
        </p:spPr>
        <p:txBody>
          <a:bodyPr vert="horz" wrap="square" lIns="36576" tIns="18288" rIns="36576" bIns="18288" rtlCol="0">
            <a:spAutoFit/>
          </a:bodyPr>
          <a:lstStyle/>
          <a:p>
            <a:pPr algn="ctr"/>
            <a:r>
              <a:rPr lang="en-US" sz="1100" b="1">
                <a:solidFill>
                  <a:srgbClr val="FFFFFF"/>
                </a:solidFill>
                <a:latin typeface="Segoe UI" panose="020B0502040204020203" pitchFamily="34" charset="0"/>
              </a:rPr>
              <a:t>2</a:t>
            </a:r>
          </a:p>
        </p:txBody>
      </p:sp>
      <p:sp>
        <p:nvSpPr>
          <p:cNvPr id="16" name="TextBox 15">
            <a:extLst>
              <a:ext uri="{FF2B5EF4-FFF2-40B4-BE49-F238E27FC236}">
                <a16:creationId xmlns:a16="http://schemas.microsoft.com/office/drawing/2014/main" id="{9930A0AA-420C-027F-57D6-963589DE1846}"/>
              </a:ext>
            </a:extLst>
          </p:cNvPr>
          <p:cNvSpPr txBox="1"/>
          <p:nvPr/>
        </p:nvSpPr>
        <p:spPr>
          <a:xfrm>
            <a:off x="5138928" y="2020824"/>
            <a:ext cx="2194560" cy="213905"/>
          </a:xfrm>
          <a:prstGeom prst="rect">
            <a:avLst/>
          </a:prstGeom>
          <a:noFill/>
        </p:spPr>
        <p:txBody>
          <a:bodyPr vert="horz" wrap="square" lIns="36576" tIns="18288" rIns="36576" bIns="18288" rtlCol="0">
            <a:spAutoFit/>
          </a:bodyPr>
          <a:lstStyle/>
          <a:p>
            <a:r>
              <a:rPr lang="en-US" sz="1150" b="1">
                <a:solidFill>
                  <a:srgbClr val="201F1E"/>
                </a:solidFill>
                <a:latin typeface="Segoe UI" panose="020B0502040204020203" pitchFamily="34" charset="0"/>
              </a:rPr>
              <a:t>Prepare data asset</a:t>
            </a:r>
          </a:p>
        </p:txBody>
      </p:sp>
      <p:sp>
        <p:nvSpPr>
          <p:cNvPr id="17" name="TextBox 16">
            <a:extLst>
              <a:ext uri="{FF2B5EF4-FFF2-40B4-BE49-F238E27FC236}">
                <a16:creationId xmlns:a16="http://schemas.microsoft.com/office/drawing/2014/main" id="{7A57D670-8F18-22FD-968B-B7FF438B21C1}"/>
              </a:ext>
            </a:extLst>
          </p:cNvPr>
          <p:cNvSpPr txBox="1"/>
          <p:nvPr/>
        </p:nvSpPr>
        <p:spPr>
          <a:xfrm>
            <a:off x="5138928" y="2304288"/>
            <a:ext cx="2194560" cy="298543"/>
          </a:xfrm>
          <a:prstGeom prst="rect">
            <a:avLst/>
          </a:prstGeom>
          <a:noFill/>
        </p:spPr>
        <p:txBody>
          <a:bodyPr vert="horz" wrap="square" lIns="36576" tIns="18288" rIns="36576" bIns="18288" rtlCol="0">
            <a:spAutoFit/>
          </a:bodyPr>
          <a:lstStyle/>
          <a:p>
            <a:r>
              <a:rPr lang="en-US" sz="850">
                <a:solidFill>
                  <a:srgbClr val="605E5C"/>
                </a:solidFill>
                <a:latin typeface="Segoe UI" panose="020B0502040204020203" pitchFamily="34" charset="0"/>
              </a:rPr>
              <a:t>Register or package train and validation files.</a:t>
            </a:r>
          </a:p>
        </p:txBody>
      </p:sp>
      <p:cxnSp>
        <p:nvCxnSpPr>
          <p:cNvPr id="18" name="Straight Connector 17">
            <a:extLst>
              <a:ext uri="{FF2B5EF4-FFF2-40B4-BE49-F238E27FC236}">
                <a16:creationId xmlns:a16="http://schemas.microsoft.com/office/drawing/2014/main" id="{D4E370B4-8FE7-FE2B-DA71-962CD3030A2D}"/>
              </a:ext>
            </a:extLst>
          </p:cNvPr>
          <p:cNvCxnSpPr/>
          <p:nvPr/>
        </p:nvCxnSpPr>
        <p:spPr>
          <a:xfrm>
            <a:off x="7639423" y="2350008"/>
            <a:ext cx="402336" cy="0"/>
          </a:xfrm>
          <a:prstGeom prst="line">
            <a:avLst/>
          </a:prstGeom>
          <a:ln w="31750">
            <a:solidFill>
              <a:srgbClr val="038387"/>
            </a:solidFill>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632ACB82-C993-337E-5DC1-741883A85975}"/>
              </a:ext>
            </a:extLst>
          </p:cNvPr>
          <p:cNvSpPr/>
          <p:nvPr/>
        </p:nvSpPr>
        <p:spPr>
          <a:xfrm>
            <a:off x="8156448" y="1874520"/>
            <a:ext cx="306324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B922B5D-5D85-DCA8-E4CD-0C2D6321D98A}"/>
              </a:ext>
            </a:extLst>
          </p:cNvPr>
          <p:cNvSpPr/>
          <p:nvPr/>
        </p:nvSpPr>
        <p:spPr>
          <a:xfrm>
            <a:off x="8302752" y="2039112"/>
            <a:ext cx="420624" cy="420624"/>
          </a:xfrm>
          <a:prstGeom prst="ellipse">
            <a:avLst/>
          </a:prstGeom>
          <a:solidFill>
            <a:srgbClr val="5C2D9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4EF50BC-542E-AD86-6CEB-572E81E0B8B3}"/>
              </a:ext>
            </a:extLst>
          </p:cNvPr>
          <p:cNvSpPr txBox="1"/>
          <p:nvPr/>
        </p:nvSpPr>
        <p:spPr>
          <a:xfrm>
            <a:off x="8311896" y="2103120"/>
            <a:ext cx="393192" cy="206210"/>
          </a:xfrm>
          <a:prstGeom prst="rect">
            <a:avLst/>
          </a:prstGeom>
          <a:noFill/>
        </p:spPr>
        <p:txBody>
          <a:bodyPr vert="horz" wrap="square" lIns="36576" tIns="18288" rIns="36576" bIns="18288" rtlCol="0">
            <a:spAutoFit/>
          </a:bodyPr>
          <a:lstStyle/>
          <a:p>
            <a:pPr algn="ctr"/>
            <a:r>
              <a:rPr lang="en-US" sz="1100" b="1">
                <a:solidFill>
                  <a:srgbClr val="FFFFFF"/>
                </a:solidFill>
                <a:latin typeface="Segoe UI" panose="020B0502040204020203" pitchFamily="34" charset="0"/>
              </a:rPr>
              <a:t>3</a:t>
            </a:r>
          </a:p>
        </p:txBody>
      </p:sp>
      <p:sp>
        <p:nvSpPr>
          <p:cNvPr id="22" name="TextBox 21">
            <a:extLst>
              <a:ext uri="{FF2B5EF4-FFF2-40B4-BE49-F238E27FC236}">
                <a16:creationId xmlns:a16="http://schemas.microsoft.com/office/drawing/2014/main" id="{8DFE3E5E-E07D-E535-E33E-FA64271B0C4A}"/>
              </a:ext>
            </a:extLst>
          </p:cNvPr>
          <p:cNvSpPr txBox="1"/>
          <p:nvPr/>
        </p:nvSpPr>
        <p:spPr>
          <a:xfrm>
            <a:off x="8842248" y="2020824"/>
            <a:ext cx="2194560" cy="213905"/>
          </a:xfrm>
          <a:prstGeom prst="rect">
            <a:avLst/>
          </a:prstGeom>
          <a:noFill/>
        </p:spPr>
        <p:txBody>
          <a:bodyPr vert="horz" wrap="square" lIns="36576" tIns="18288" rIns="36576" bIns="18288" rtlCol="0">
            <a:spAutoFit/>
          </a:bodyPr>
          <a:lstStyle/>
          <a:p>
            <a:r>
              <a:rPr lang="en-US" sz="1150" b="1">
                <a:solidFill>
                  <a:srgbClr val="201F1E"/>
                </a:solidFill>
                <a:latin typeface="Segoe UI" panose="020B0502040204020203" pitchFamily="34" charset="0"/>
              </a:rPr>
              <a:t>Submit AML job</a:t>
            </a:r>
          </a:p>
        </p:txBody>
      </p:sp>
      <p:sp>
        <p:nvSpPr>
          <p:cNvPr id="23" name="TextBox 22">
            <a:extLst>
              <a:ext uri="{FF2B5EF4-FFF2-40B4-BE49-F238E27FC236}">
                <a16:creationId xmlns:a16="http://schemas.microsoft.com/office/drawing/2014/main" id="{7812B29F-1856-76E1-52E8-561BC510FB75}"/>
              </a:ext>
            </a:extLst>
          </p:cNvPr>
          <p:cNvSpPr txBox="1"/>
          <p:nvPr/>
        </p:nvSpPr>
        <p:spPr>
          <a:xfrm>
            <a:off x="8842248" y="2304288"/>
            <a:ext cx="2194560" cy="167738"/>
          </a:xfrm>
          <a:prstGeom prst="rect">
            <a:avLst/>
          </a:prstGeom>
          <a:noFill/>
        </p:spPr>
        <p:txBody>
          <a:bodyPr vert="horz" wrap="square" lIns="36576" tIns="18288" rIns="36576" bIns="18288" rtlCol="0">
            <a:spAutoFit/>
          </a:bodyPr>
          <a:lstStyle/>
          <a:p>
            <a:r>
              <a:rPr lang="en-US" sz="850">
                <a:solidFill>
                  <a:srgbClr val="605E5C"/>
                </a:solidFill>
                <a:latin typeface="Segoe UI" panose="020B0502040204020203" pitchFamily="34" charset="0"/>
              </a:rPr>
              <a:t>A100 command job runs training/train.py.</a:t>
            </a:r>
          </a:p>
        </p:txBody>
      </p:sp>
      <p:cxnSp>
        <p:nvCxnSpPr>
          <p:cNvPr id="24" name="Straight Connector 23">
            <a:extLst>
              <a:ext uri="{FF2B5EF4-FFF2-40B4-BE49-F238E27FC236}">
                <a16:creationId xmlns:a16="http://schemas.microsoft.com/office/drawing/2014/main" id="{48E854BA-7C84-4D18-5DB1-50C559EC9627}"/>
              </a:ext>
            </a:extLst>
          </p:cNvPr>
          <p:cNvCxnSpPr/>
          <p:nvPr/>
        </p:nvCxnSpPr>
        <p:spPr>
          <a:xfrm>
            <a:off x="9663654" y="2987936"/>
            <a:ext cx="0" cy="731520"/>
          </a:xfrm>
          <a:prstGeom prst="line">
            <a:avLst/>
          </a:prstGeom>
          <a:ln w="31750">
            <a:solidFill>
              <a:srgbClr val="5C2D91"/>
            </a:solidFill>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EA912D3A-131D-7F7E-2167-77AD74AFBE1D}"/>
              </a:ext>
            </a:extLst>
          </p:cNvPr>
          <p:cNvSpPr/>
          <p:nvPr/>
        </p:nvSpPr>
        <p:spPr>
          <a:xfrm>
            <a:off x="8156448" y="3886200"/>
            <a:ext cx="306324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2B37AA2-C793-58B4-5387-4200C3502055}"/>
              </a:ext>
            </a:extLst>
          </p:cNvPr>
          <p:cNvSpPr/>
          <p:nvPr/>
        </p:nvSpPr>
        <p:spPr>
          <a:xfrm>
            <a:off x="8302752" y="4050792"/>
            <a:ext cx="420624" cy="420624"/>
          </a:xfrm>
          <a:prstGeom prst="ellipse">
            <a:avLst/>
          </a:prstGeom>
          <a:solidFill>
            <a:srgbClr val="FF8C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C2FE547-3621-3EFD-A519-7F4DD81AA281}"/>
              </a:ext>
            </a:extLst>
          </p:cNvPr>
          <p:cNvSpPr txBox="1"/>
          <p:nvPr/>
        </p:nvSpPr>
        <p:spPr>
          <a:xfrm>
            <a:off x="8311896" y="4114800"/>
            <a:ext cx="393192" cy="206210"/>
          </a:xfrm>
          <a:prstGeom prst="rect">
            <a:avLst/>
          </a:prstGeom>
          <a:noFill/>
        </p:spPr>
        <p:txBody>
          <a:bodyPr vert="horz" wrap="square" lIns="36576" tIns="18288" rIns="36576" bIns="18288" rtlCol="0">
            <a:spAutoFit/>
          </a:bodyPr>
          <a:lstStyle/>
          <a:p>
            <a:pPr algn="ctr"/>
            <a:r>
              <a:rPr lang="en-US" sz="1100" b="1">
                <a:solidFill>
                  <a:srgbClr val="FFFFFF"/>
                </a:solidFill>
                <a:latin typeface="Segoe UI" panose="020B0502040204020203" pitchFamily="34" charset="0"/>
              </a:rPr>
              <a:t>4</a:t>
            </a:r>
          </a:p>
        </p:txBody>
      </p:sp>
      <p:sp>
        <p:nvSpPr>
          <p:cNvPr id="28" name="TextBox 27">
            <a:extLst>
              <a:ext uri="{FF2B5EF4-FFF2-40B4-BE49-F238E27FC236}">
                <a16:creationId xmlns:a16="http://schemas.microsoft.com/office/drawing/2014/main" id="{A8BE57D5-511E-35A7-71EC-F60EB85AAFBE}"/>
              </a:ext>
            </a:extLst>
          </p:cNvPr>
          <p:cNvSpPr txBox="1"/>
          <p:nvPr/>
        </p:nvSpPr>
        <p:spPr>
          <a:xfrm>
            <a:off x="8842248" y="4032504"/>
            <a:ext cx="2194560" cy="213905"/>
          </a:xfrm>
          <a:prstGeom prst="rect">
            <a:avLst/>
          </a:prstGeom>
          <a:noFill/>
        </p:spPr>
        <p:txBody>
          <a:bodyPr vert="horz" wrap="square" lIns="36576" tIns="18288" rIns="36576" bIns="18288" rtlCol="0">
            <a:spAutoFit/>
          </a:bodyPr>
          <a:lstStyle/>
          <a:p>
            <a:r>
              <a:rPr lang="en-US" sz="1150" b="1">
                <a:solidFill>
                  <a:srgbClr val="201F1E"/>
                </a:solidFill>
                <a:latin typeface="Segoe UI" panose="020B0502040204020203" pitchFamily="34" charset="0"/>
              </a:rPr>
              <a:t>Train LoRA adapter</a:t>
            </a:r>
          </a:p>
        </p:txBody>
      </p:sp>
      <p:sp>
        <p:nvSpPr>
          <p:cNvPr id="29" name="TextBox 28">
            <a:extLst>
              <a:ext uri="{FF2B5EF4-FFF2-40B4-BE49-F238E27FC236}">
                <a16:creationId xmlns:a16="http://schemas.microsoft.com/office/drawing/2014/main" id="{A65D58E9-4F18-FADF-663D-F1B1F8DBA5FC}"/>
              </a:ext>
            </a:extLst>
          </p:cNvPr>
          <p:cNvSpPr txBox="1"/>
          <p:nvPr/>
        </p:nvSpPr>
        <p:spPr>
          <a:xfrm>
            <a:off x="8842248" y="4315968"/>
            <a:ext cx="2194560" cy="298543"/>
          </a:xfrm>
          <a:prstGeom prst="rect">
            <a:avLst/>
          </a:prstGeom>
          <a:noFill/>
        </p:spPr>
        <p:txBody>
          <a:bodyPr vert="horz" wrap="square" lIns="36576" tIns="18288" rIns="36576" bIns="18288" rtlCol="0">
            <a:spAutoFit/>
          </a:bodyPr>
          <a:lstStyle/>
          <a:p>
            <a:r>
              <a:rPr lang="en-US" sz="850">
                <a:solidFill>
                  <a:srgbClr val="605E5C"/>
                </a:solidFill>
                <a:latin typeface="Segoe UI" panose="020B0502040204020203" pitchFamily="34" charset="0"/>
              </a:rPr>
              <a:t>bf16 base model, rank/alpha adapters, SFTTrainer.</a:t>
            </a:r>
          </a:p>
        </p:txBody>
      </p:sp>
      <p:sp>
        <p:nvSpPr>
          <p:cNvPr id="30" name="Rectangle: Rounded Corners 29">
            <a:extLst>
              <a:ext uri="{FF2B5EF4-FFF2-40B4-BE49-F238E27FC236}">
                <a16:creationId xmlns:a16="http://schemas.microsoft.com/office/drawing/2014/main" id="{43AB38B9-00FA-B34F-F374-8BE44228FD8C}"/>
              </a:ext>
            </a:extLst>
          </p:cNvPr>
          <p:cNvSpPr/>
          <p:nvPr/>
        </p:nvSpPr>
        <p:spPr>
          <a:xfrm>
            <a:off x="4453128" y="3886200"/>
            <a:ext cx="306324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7A48DA0-90BA-0DCB-8006-DFB6695222D8}"/>
              </a:ext>
            </a:extLst>
          </p:cNvPr>
          <p:cNvSpPr/>
          <p:nvPr/>
        </p:nvSpPr>
        <p:spPr>
          <a:xfrm>
            <a:off x="4599432" y="4050792"/>
            <a:ext cx="420624" cy="420624"/>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F3178D7-9171-97BF-F117-2DCA960BD38D}"/>
              </a:ext>
            </a:extLst>
          </p:cNvPr>
          <p:cNvSpPr txBox="1"/>
          <p:nvPr/>
        </p:nvSpPr>
        <p:spPr>
          <a:xfrm>
            <a:off x="4608576" y="4114800"/>
            <a:ext cx="393192" cy="206210"/>
          </a:xfrm>
          <a:prstGeom prst="rect">
            <a:avLst/>
          </a:prstGeom>
          <a:noFill/>
        </p:spPr>
        <p:txBody>
          <a:bodyPr vert="horz" wrap="square" lIns="36576" tIns="18288" rIns="36576" bIns="18288" rtlCol="0">
            <a:spAutoFit/>
          </a:bodyPr>
          <a:lstStyle/>
          <a:p>
            <a:pPr algn="ctr"/>
            <a:r>
              <a:rPr lang="en-US" sz="1100" b="1">
                <a:solidFill>
                  <a:srgbClr val="FFFFFF"/>
                </a:solidFill>
                <a:latin typeface="Segoe UI" panose="020B0502040204020203" pitchFamily="34" charset="0"/>
              </a:rPr>
              <a:t>5</a:t>
            </a:r>
          </a:p>
        </p:txBody>
      </p:sp>
      <p:sp>
        <p:nvSpPr>
          <p:cNvPr id="33" name="TextBox 32">
            <a:extLst>
              <a:ext uri="{FF2B5EF4-FFF2-40B4-BE49-F238E27FC236}">
                <a16:creationId xmlns:a16="http://schemas.microsoft.com/office/drawing/2014/main" id="{045DB32D-9DEC-6A52-D0A3-D377AB613DC8}"/>
              </a:ext>
            </a:extLst>
          </p:cNvPr>
          <p:cNvSpPr txBox="1"/>
          <p:nvPr/>
        </p:nvSpPr>
        <p:spPr>
          <a:xfrm>
            <a:off x="5138928" y="4032504"/>
            <a:ext cx="2194560" cy="213905"/>
          </a:xfrm>
          <a:prstGeom prst="rect">
            <a:avLst/>
          </a:prstGeom>
          <a:noFill/>
        </p:spPr>
        <p:txBody>
          <a:bodyPr vert="horz" wrap="square" lIns="36576" tIns="18288" rIns="36576" bIns="18288" rtlCol="0">
            <a:spAutoFit/>
          </a:bodyPr>
          <a:lstStyle/>
          <a:p>
            <a:r>
              <a:rPr lang="en-US" sz="1150" b="1">
                <a:solidFill>
                  <a:srgbClr val="201F1E"/>
                </a:solidFill>
                <a:latin typeface="Segoe UI" panose="020B0502040204020203" pitchFamily="34" charset="0"/>
              </a:rPr>
              <a:t>Register + deploy</a:t>
            </a:r>
          </a:p>
        </p:txBody>
      </p:sp>
      <p:sp>
        <p:nvSpPr>
          <p:cNvPr id="34" name="TextBox 33">
            <a:extLst>
              <a:ext uri="{FF2B5EF4-FFF2-40B4-BE49-F238E27FC236}">
                <a16:creationId xmlns:a16="http://schemas.microsoft.com/office/drawing/2014/main" id="{EF6083AC-4FA1-9788-19B9-4DC20607DFE4}"/>
              </a:ext>
            </a:extLst>
          </p:cNvPr>
          <p:cNvSpPr txBox="1"/>
          <p:nvPr/>
        </p:nvSpPr>
        <p:spPr>
          <a:xfrm>
            <a:off x="5138928" y="4315968"/>
            <a:ext cx="2194560" cy="298543"/>
          </a:xfrm>
          <a:prstGeom prst="rect">
            <a:avLst/>
          </a:prstGeom>
          <a:noFill/>
        </p:spPr>
        <p:txBody>
          <a:bodyPr vert="horz" wrap="square" lIns="36576" tIns="18288" rIns="36576" bIns="18288" rtlCol="0">
            <a:spAutoFit/>
          </a:bodyPr>
          <a:lstStyle/>
          <a:p>
            <a:r>
              <a:rPr lang="en-US" sz="850">
                <a:solidFill>
                  <a:srgbClr val="605E5C"/>
                </a:solidFill>
                <a:latin typeface="Segoe UI" panose="020B0502040204020203" pitchFamily="34" charset="0"/>
              </a:rPr>
              <a:t>Adapter artifact becomes an AML model and endpoint.</a:t>
            </a:r>
          </a:p>
        </p:txBody>
      </p:sp>
      <p:cxnSp>
        <p:nvCxnSpPr>
          <p:cNvPr id="35" name="Straight Connector 34">
            <a:extLst>
              <a:ext uri="{FF2B5EF4-FFF2-40B4-BE49-F238E27FC236}">
                <a16:creationId xmlns:a16="http://schemas.microsoft.com/office/drawing/2014/main" id="{7DCC78E2-344B-E20F-6F92-4271BFB22033}"/>
              </a:ext>
            </a:extLst>
          </p:cNvPr>
          <p:cNvCxnSpPr/>
          <p:nvPr/>
        </p:nvCxnSpPr>
        <p:spPr>
          <a:xfrm>
            <a:off x="7639423" y="4320809"/>
            <a:ext cx="384048" cy="0"/>
          </a:xfrm>
          <a:prstGeom prst="line">
            <a:avLst/>
          </a:prstGeom>
          <a:ln w="31750">
            <a:solidFill>
              <a:srgbClr val="107C10"/>
            </a:solidFill>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FAF4CC64-6A18-8622-882E-839C8D75F924}"/>
              </a:ext>
            </a:extLst>
          </p:cNvPr>
          <p:cNvSpPr/>
          <p:nvPr/>
        </p:nvSpPr>
        <p:spPr>
          <a:xfrm>
            <a:off x="749808" y="3886200"/>
            <a:ext cx="306324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B4F0893-9110-07D1-36D7-FC1AB885EB0C}"/>
              </a:ext>
            </a:extLst>
          </p:cNvPr>
          <p:cNvSpPr/>
          <p:nvPr/>
        </p:nvSpPr>
        <p:spPr>
          <a:xfrm>
            <a:off x="896112" y="4050792"/>
            <a:ext cx="420624" cy="420624"/>
          </a:xfrm>
          <a:prstGeom prst="ellipse">
            <a:avLst/>
          </a:prstGeom>
          <a:solidFill>
            <a:srgbClr val="D1343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CADD4BA0-5C8F-7238-9A0D-DFD5834A8E3C}"/>
              </a:ext>
            </a:extLst>
          </p:cNvPr>
          <p:cNvSpPr txBox="1"/>
          <p:nvPr/>
        </p:nvSpPr>
        <p:spPr>
          <a:xfrm>
            <a:off x="905256" y="4114800"/>
            <a:ext cx="393192" cy="206210"/>
          </a:xfrm>
          <a:prstGeom prst="rect">
            <a:avLst/>
          </a:prstGeom>
          <a:noFill/>
        </p:spPr>
        <p:txBody>
          <a:bodyPr vert="horz" wrap="square" lIns="36576" tIns="18288" rIns="36576" bIns="18288" rtlCol="0">
            <a:spAutoFit/>
          </a:bodyPr>
          <a:lstStyle/>
          <a:p>
            <a:pPr algn="ctr"/>
            <a:r>
              <a:rPr lang="en-US" sz="1100" b="1">
                <a:solidFill>
                  <a:srgbClr val="FFFFFF"/>
                </a:solidFill>
                <a:latin typeface="Segoe UI" panose="020B0502040204020203" pitchFamily="34" charset="0"/>
              </a:rPr>
              <a:t>6</a:t>
            </a:r>
          </a:p>
        </p:txBody>
      </p:sp>
      <p:sp>
        <p:nvSpPr>
          <p:cNvPr id="39" name="TextBox 38">
            <a:extLst>
              <a:ext uri="{FF2B5EF4-FFF2-40B4-BE49-F238E27FC236}">
                <a16:creationId xmlns:a16="http://schemas.microsoft.com/office/drawing/2014/main" id="{8167C34F-EB8A-286B-6668-42A5C991FDBD}"/>
              </a:ext>
            </a:extLst>
          </p:cNvPr>
          <p:cNvSpPr txBox="1"/>
          <p:nvPr/>
        </p:nvSpPr>
        <p:spPr>
          <a:xfrm>
            <a:off x="1435608" y="4032504"/>
            <a:ext cx="2194560" cy="213905"/>
          </a:xfrm>
          <a:prstGeom prst="rect">
            <a:avLst/>
          </a:prstGeom>
          <a:noFill/>
        </p:spPr>
        <p:txBody>
          <a:bodyPr vert="horz" wrap="square" lIns="36576" tIns="18288" rIns="36576" bIns="18288" rtlCol="0">
            <a:spAutoFit/>
          </a:bodyPr>
          <a:lstStyle/>
          <a:p>
            <a:r>
              <a:rPr lang="en-US" sz="1150" b="1">
                <a:solidFill>
                  <a:srgbClr val="201F1E"/>
                </a:solidFill>
                <a:latin typeface="Segoe UI" panose="020B0502040204020203" pitchFamily="34" charset="0"/>
              </a:rPr>
              <a:t>Evaluate + cleanup</a:t>
            </a:r>
          </a:p>
        </p:txBody>
      </p:sp>
      <p:sp>
        <p:nvSpPr>
          <p:cNvPr id="40" name="TextBox 39">
            <a:extLst>
              <a:ext uri="{FF2B5EF4-FFF2-40B4-BE49-F238E27FC236}">
                <a16:creationId xmlns:a16="http://schemas.microsoft.com/office/drawing/2014/main" id="{9CD9D3E9-97D2-BF3B-4433-44B1E0111C00}"/>
              </a:ext>
            </a:extLst>
          </p:cNvPr>
          <p:cNvSpPr txBox="1"/>
          <p:nvPr/>
        </p:nvSpPr>
        <p:spPr>
          <a:xfrm>
            <a:off x="1435608" y="4315968"/>
            <a:ext cx="2194560" cy="298543"/>
          </a:xfrm>
          <a:prstGeom prst="rect">
            <a:avLst/>
          </a:prstGeom>
          <a:noFill/>
        </p:spPr>
        <p:txBody>
          <a:bodyPr vert="horz" wrap="square" lIns="36576" tIns="18288" rIns="36576" bIns="18288" rtlCol="0">
            <a:spAutoFit/>
          </a:bodyPr>
          <a:lstStyle/>
          <a:p>
            <a:r>
              <a:rPr lang="en-US" sz="850">
                <a:solidFill>
                  <a:srgbClr val="605E5C"/>
                </a:solidFill>
                <a:latin typeface="Segoe UI" panose="020B0502040204020203" pitchFamily="34" charset="0"/>
              </a:rPr>
              <a:t>Same prompts, base vs tuned, delete endpoint after demo.</a:t>
            </a:r>
          </a:p>
        </p:txBody>
      </p:sp>
      <p:cxnSp>
        <p:nvCxnSpPr>
          <p:cNvPr id="41" name="Straight Connector 40">
            <a:extLst>
              <a:ext uri="{FF2B5EF4-FFF2-40B4-BE49-F238E27FC236}">
                <a16:creationId xmlns:a16="http://schemas.microsoft.com/office/drawing/2014/main" id="{63818CBC-CF3A-EC36-BB26-211D47C22B2E}"/>
              </a:ext>
            </a:extLst>
          </p:cNvPr>
          <p:cNvCxnSpPr/>
          <p:nvPr/>
        </p:nvCxnSpPr>
        <p:spPr>
          <a:xfrm>
            <a:off x="3971963" y="4332762"/>
            <a:ext cx="384048" cy="0"/>
          </a:xfrm>
          <a:prstGeom prst="line">
            <a:avLst/>
          </a:prstGeom>
          <a:ln w="31750">
            <a:solidFill>
              <a:srgbClr val="D13438"/>
            </a:solidFill>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188C8C71-DBDD-19E0-4908-10153CE8C1EF}"/>
              </a:ext>
            </a:extLst>
          </p:cNvPr>
          <p:cNvSpPr/>
          <p:nvPr/>
        </p:nvSpPr>
        <p:spPr>
          <a:xfrm>
            <a:off x="868680" y="6071616"/>
            <a:ext cx="10287000" cy="310896"/>
          </a:xfrm>
          <a:prstGeom prst="roundRect">
            <a:avLst/>
          </a:prstGeom>
          <a:solidFill>
            <a:srgbClr val="D7EB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90BA5DC-8B6F-9A80-2248-6D7000FC9FAB}"/>
              </a:ext>
            </a:extLst>
          </p:cNvPr>
          <p:cNvSpPr txBox="1"/>
          <p:nvPr/>
        </p:nvSpPr>
        <p:spPr>
          <a:xfrm>
            <a:off x="987552" y="6163056"/>
            <a:ext cx="10058400" cy="156966"/>
          </a:xfrm>
          <a:prstGeom prst="rect">
            <a:avLst/>
          </a:prstGeom>
          <a:noFill/>
        </p:spPr>
        <p:txBody>
          <a:bodyPr vert="horz" wrap="square" lIns="36576" tIns="18288" rIns="36576" bIns="18288" rtlCol="0">
            <a:spAutoFit/>
          </a:bodyPr>
          <a:lstStyle/>
          <a:p>
            <a:r>
              <a:rPr lang="en-US" sz="780" b="1">
                <a:solidFill>
                  <a:srgbClr val="004578"/>
                </a:solidFill>
                <a:latin typeface="Consolas" panose="020B0609020204030204" pitchFamily="49" charset="0"/>
              </a:rPr>
              <a:t>Project files: data/generate_winner_data.py -&gt; src/03_submit_training_job.py -&gt; training/train.py -&gt; src/04_register_and_deploy.py -&gt; demo_app/app.py</a:t>
            </a:r>
          </a:p>
        </p:txBody>
      </p:sp>
    </p:spTree>
    <p:extLst>
      <p:ext uri="{BB962C8B-B14F-4D97-AF65-F5344CB8AC3E}">
        <p14:creationId xmlns:p14="http://schemas.microsoft.com/office/powerpoint/2010/main" val="2273145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A9596A-B4E8-EEAB-211D-D9EDD06F9652}"/>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611D822-D59A-9678-9131-6BE202CFC75B}"/>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1BD5679E-B7DE-1535-646C-449C16FF0DB9}"/>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Training data: synthetic browser-action examples</a:t>
            </a:r>
          </a:p>
        </p:txBody>
      </p:sp>
      <p:sp>
        <p:nvSpPr>
          <p:cNvPr id="5" name="TextBox 4">
            <a:extLst>
              <a:ext uri="{FF2B5EF4-FFF2-40B4-BE49-F238E27FC236}">
                <a16:creationId xmlns:a16="http://schemas.microsoft.com/office/drawing/2014/main" id="{1D3473F2-A9F1-3E0B-FAD8-ACA1C1DA18F3}"/>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TextBox 5">
            <a:extLst>
              <a:ext uri="{FF2B5EF4-FFF2-40B4-BE49-F238E27FC236}">
                <a16:creationId xmlns:a16="http://schemas.microsoft.com/office/drawing/2014/main" id="{99403D41-BB5C-5FBC-AE79-BB9054834C37}"/>
              </a:ext>
            </a:extLst>
          </p:cNvPr>
          <p:cNvSpPr txBox="1"/>
          <p:nvPr/>
        </p:nvSpPr>
        <p:spPr>
          <a:xfrm>
            <a:off x="594360" y="1143000"/>
            <a:ext cx="7680960" cy="452432"/>
          </a:xfrm>
          <a:prstGeom prst="rect">
            <a:avLst/>
          </a:prstGeom>
          <a:noFill/>
        </p:spPr>
        <p:txBody>
          <a:bodyPr vert="horz" wrap="square" lIns="36576" tIns="18288" rIns="36576" bIns="18288" rtlCol="0">
            <a:spAutoFit/>
          </a:bodyPr>
          <a:lstStyle/>
          <a:p>
            <a:r>
              <a:rPr lang="en-US" sz="1350">
                <a:solidFill>
                  <a:srgbClr val="605E5C"/>
                </a:solidFill>
                <a:latin typeface="Aptos" panose="020B0004020202020204" pitchFamily="34" charset="0"/>
              </a:rPr>
              <a:t>The examples mirror the task shape without using Molina data: fake members, fake claims, deterministic seeds, and stable EIM selectors.</a:t>
            </a:r>
          </a:p>
        </p:txBody>
      </p:sp>
      <p:sp>
        <p:nvSpPr>
          <p:cNvPr id="7" name="Rectangle: Rounded Corners 6">
            <a:extLst>
              <a:ext uri="{FF2B5EF4-FFF2-40B4-BE49-F238E27FC236}">
                <a16:creationId xmlns:a16="http://schemas.microsoft.com/office/drawing/2014/main" id="{7B04A5D6-5176-99C3-1D97-E5444D8DBD08}"/>
              </a:ext>
            </a:extLst>
          </p:cNvPr>
          <p:cNvSpPr/>
          <p:nvPr/>
        </p:nvSpPr>
        <p:spPr>
          <a:xfrm>
            <a:off x="713232" y="178308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801E3AE-2CCB-0B5E-C1CE-AFC3FC934D97}"/>
              </a:ext>
            </a:extLst>
          </p:cNvPr>
          <p:cNvSpPr txBox="1"/>
          <p:nvPr/>
        </p:nvSpPr>
        <p:spPr>
          <a:xfrm>
            <a:off x="877824" y="1911096"/>
            <a:ext cx="1499616" cy="421654"/>
          </a:xfrm>
          <a:prstGeom prst="rect">
            <a:avLst/>
          </a:prstGeom>
          <a:noFill/>
        </p:spPr>
        <p:txBody>
          <a:bodyPr vert="horz" wrap="square" lIns="36576" tIns="18288" rIns="36576" bIns="18288" rtlCol="0">
            <a:spAutoFit/>
          </a:bodyPr>
          <a:lstStyle/>
          <a:p>
            <a:r>
              <a:rPr lang="en-US" sz="2500" b="1">
                <a:solidFill>
                  <a:srgbClr val="0078D4"/>
                </a:solidFill>
                <a:latin typeface="Aptos Display" panose="020B0004020202020204" pitchFamily="34" charset="0"/>
              </a:rPr>
              <a:t>96</a:t>
            </a:r>
          </a:p>
        </p:txBody>
      </p:sp>
      <p:sp>
        <p:nvSpPr>
          <p:cNvPr id="9" name="TextBox 8">
            <a:extLst>
              <a:ext uri="{FF2B5EF4-FFF2-40B4-BE49-F238E27FC236}">
                <a16:creationId xmlns:a16="http://schemas.microsoft.com/office/drawing/2014/main" id="{81A5BA4B-11DF-6494-017B-63C28824629A}"/>
              </a:ext>
            </a:extLst>
          </p:cNvPr>
          <p:cNvSpPr txBox="1"/>
          <p:nvPr/>
        </p:nvSpPr>
        <p:spPr>
          <a:xfrm>
            <a:off x="877824" y="235000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training records</a:t>
            </a:r>
          </a:p>
        </p:txBody>
      </p:sp>
      <p:sp>
        <p:nvSpPr>
          <p:cNvPr id="10" name="Rectangle: Rounded Corners 9">
            <a:extLst>
              <a:ext uri="{FF2B5EF4-FFF2-40B4-BE49-F238E27FC236}">
                <a16:creationId xmlns:a16="http://schemas.microsoft.com/office/drawing/2014/main" id="{4485C4DB-CEA4-21ED-42A5-74B88BE4B203}"/>
              </a:ext>
            </a:extLst>
          </p:cNvPr>
          <p:cNvSpPr/>
          <p:nvPr/>
        </p:nvSpPr>
        <p:spPr>
          <a:xfrm>
            <a:off x="2788920" y="178308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256D3F-444E-7FB0-5A2E-F0221537B552}"/>
              </a:ext>
            </a:extLst>
          </p:cNvPr>
          <p:cNvSpPr txBox="1"/>
          <p:nvPr/>
        </p:nvSpPr>
        <p:spPr>
          <a:xfrm>
            <a:off x="2953512" y="1911096"/>
            <a:ext cx="1499616" cy="421654"/>
          </a:xfrm>
          <a:prstGeom prst="rect">
            <a:avLst/>
          </a:prstGeom>
          <a:noFill/>
        </p:spPr>
        <p:txBody>
          <a:bodyPr vert="horz" wrap="square" lIns="36576" tIns="18288" rIns="36576" bIns="18288" rtlCol="0">
            <a:spAutoFit/>
          </a:bodyPr>
          <a:lstStyle/>
          <a:p>
            <a:r>
              <a:rPr lang="en-US" sz="2500" b="1">
                <a:solidFill>
                  <a:srgbClr val="038387"/>
                </a:solidFill>
                <a:latin typeface="Aptos Display" panose="020B0004020202020204" pitchFamily="34" charset="0"/>
              </a:rPr>
              <a:t>24</a:t>
            </a:r>
          </a:p>
        </p:txBody>
      </p:sp>
      <p:sp>
        <p:nvSpPr>
          <p:cNvPr id="12" name="TextBox 11">
            <a:extLst>
              <a:ext uri="{FF2B5EF4-FFF2-40B4-BE49-F238E27FC236}">
                <a16:creationId xmlns:a16="http://schemas.microsoft.com/office/drawing/2014/main" id="{05279DAA-8F70-01B9-05BF-339C8C13FDFE}"/>
              </a:ext>
            </a:extLst>
          </p:cNvPr>
          <p:cNvSpPr txBox="1"/>
          <p:nvPr/>
        </p:nvSpPr>
        <p:spPr>
          <a:xfrm>
            <a:off x="2953512" y="235000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validation records</a:t>
            </a:r>
          </a:p>
        </p:txBody>
      </p:sp>
      <p:sp>
        <p:nvSpPr>
          <p:cNvPr id="13" name="Rectangle: Rounded Corners 12">
            <a:extLst>
              <a:ext uri="{FF2B5EF4-FFF2-40B4-BE49-F238E27FC236}">
                <a16:creationId xmlns:a16="http://schemas.microsoft.com/office/drawing/2014/main" id="{C77CEDF4-A02F-51F1-D761-02AC3C0469A5}"/>
              </a:ext>
            </a:extLst>
          </p:cNvPr>
          <p:cNvSpPr/>
          <p:nvPr/>
        </p:nvSpPr>
        <p:spPr>
          <a:xfrm>
            <a:off x="4864608" y="178308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DC94491-BCCE-5A67-A462-3984E078A5BC}"/>
              </a:ext>
            </a:extLst>
          </p:cNvPr>
          <p:cNvSpPr txBox="1"/>
          <p:nvPr/>
        </p:nvSpPr>
        <p:spPr>
          <a:xfrm>
            <a:off x="5029200" y="1911096"/>
            <a:ext cx="1499616" cy="421654"/>
          </a:xfrm>
          <a:prstGeom prst="rect">
            <a:avLst/>
          </a:prstGeom>
          <a:noFill/>
        </p:spPr>
        <p:txBody>
          <a:bodyPr vert="horz" wrap="square" lIns="36576" tIns="18288" rIns="36576" bIns="18288" rtlCol="0">
            <a:spAutoFit/>
          </a:bodyPr>
          <a:lstStyle/>
          <a:p>
            <a:r>
              <a:rPr lang="en-US" sz="2500" b="1">
                <a:solidFill>
                  <a:srgbClr val="5C2D91"/>
                </a:solidFill>
                <a:latin typeface="Aptos Display" panose="020B0004020202020204" pitchFamily="34" charset="0"/>
              </a:rPr>
              <a:t>16</a:t>
            </a:r>
          </a:p>
        </p:txBody>
      </p:sp>
      <p:sp>
        <p:nvSpPr>
          <p:cNvPr id="15" name="TextBox 14">
            <a:extLst>
              <a:ext uri="{FF2B5EF4-FFF2-40B4-BE49-F238E27FC236}">
                <a16:creationId xmlns:a16="http://schemas.microsoft.com/office/drawing/2014/main" id="{3C2D7256-7CB9-C846-BF74-DEE502429E48}"/>
              </a:ext>
            </a:extLst>
          </p:cNvPr>
          <p:cNvSpPr txBox="1"/>
          <p:nvPr/>
        </p:nvSpPr>
        <p:spPr>
          <a:xfrm>
            <a:off x="5029200" y="235000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holdout eval prompts</a:t>
            </a:r>
          </a:p>
        </p:txBody>
      </p:sp>
      <p:sp>
        <p:nvSpPr>
          <p:cNvPr id="16" name="Rectangle: Rounded Corners 15">
            <a:extLst>
              <a:ext uri="{FF2B5EF4-FFF2-40B4-BE49-F238E27FC236}">
                <a16:creationId xmlns:a16="http://schemas.microsoft.com/office/drawing/2014/main" id="{2479EBC7-751A-8C64-628B-B44AEA1906AA}"/>
              </a:ext>
            </a:extLst>
          </p:cNvPr>
          <p:cNvSpPr/>
          <p:nvPr/>
        </p:nvSpPr>
        <p:spPr>
          <a:xfrm>
            <a:off x="6940296" y="1783080"/>
            <a:ext cx="1828800" cy="9601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0007ADA-A7F2-A25E-4BA5-9CCEFB877CF2}"/>
              </a:ext>
            </a:extLst>
          </p:cNvPr>
          <p:cNvSpPr txBox="1"/>
          <p:nvPr/>
        </p:nvSpPr>
        <p:spPr>
          <a:xfrm>
            <a:off x="7104888" y="1911096"/>
            <a:ext cx="1499616" cy="421654"/>
          </a:xfrm>
          <a:prstGeom prst="rect">
            <a:avLst/>
          </a:prstGeom>
          <a:noFill/>
        </p:spPr>
        <p:txBody>
          <a:bodyPr vert="horz" wrap="square" lIns="36576" tIns="18288" rIns="36576" bIns="18288" rtlCol="0">
            <a:spAutoFit/>
          </a:bodyPr>
          <a:lstStyle/>
          <a:p>
            <a:r>
              <a:rPr lang="en-US" sz="2500" b="1">
                <a:solidFill>
                  <a:srgbClr val="107C10"/>
                </a:solidFill>
                <a:latin typeface="Aptos Display" panose="020B0004020202020204" pitchFamily="34" charset="0"/>
              </a:rPr>
              <a:t>0</a:t>
            </a:r>
          </a:p>
        </p:txBody>
      </p:sp>
      <p:sp>
        <p:nvSpPr>
          <p:cNvPr id="18" name="TextBox 17">
            <a:extLst>
              <a:ext uri="{FF2B5EF4-FFF2-40B4-BE49-F238E27FC236}">
                <a16:creationId xmlns:a16="http://schemas.microsoft.com/office/drawing/2014/main" id="{D97EC049-EF29-DDAF-7AC8-04D627D2A895}"/>
              </a:ext>
            </a:extLst>
          </p:cNvPr>
          <p:cNvSpPr txBox="1"/>
          <p:nvPr/>
        </p:nvSpPr>
        <p:spPr>
          <a:xfrm>
            <a:off x="7104888" y="2350008"/>
            <a:ext cx="1499616"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real PHI used</a:t>
            </a:r>
          </a:p>
        </p:txBody>
      </p:sp>
      <p:sp>
        <p:nvSpPr>
          <p:cNvPr id="19" name="Rectangle: Rounded Corners 18">
            <a:extLst>
              <a:ext uri="{FF2B5EF4-FFF2-40B4-BE49-F238E27FC236}">
                <a16:creationId xmlns:a16="http://schemas.microsoft.com/office/drawing/2014/main" id="{721B773E-53D9-07D3-7FE5-9C2C5118C6F1}"/>
              </a:ext>
            </a:extLst>
          </p:cNvPr>
          <p:cNvSpPr/>
          <p:nvPr/>
        </p:nvSpPr>
        <p:spPr>
          <a:xfrm>
            <a:off x="713232" y="3063240"/>
            <a:ext cx="5376672" cy="2651760"/>
          </a:xfrm>
          <a:prstGeom prst="roundRect">
            <a:avLst/>
          </a:prstGeom>
          <a:solidFill>
            <a:srgbClr val="11100F"/>
          </a:solidFill>
          <a:ln w="6350">
            <a:solidFill>
              <a:srgbClr val="605E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0B75258-5C75-895C-2A90-3BB71310E762}"/>
              </a:ext>
            </a:extLst>
          </p:cNvPr>
          <p:cNvSpPr txBox="1"/>
          <p:nvPr/>
        </p:nvSpPr>
        <p:spPr>
          <a:xfrm>
            <a:off x="960120" y="3310128"/>
            <a:ext cx="1280160" cy="221599"/>
          </a:xfrm>
          <a:prstGeom prst="rect">
            <a:avLst/>
          </a:prstGeom>
          <a:noFill/>
        </p:spPr>
        <p:txBody>
          <a:bodyPr vert="horz" wrap="square" lIns="36576" tIns="18288" rIns="36576" bIns="18288" rtlCol="0">
            <a:spAutoFit/>
          </a:bodyPr>
          <a:lstStyle/>
          <a:p>
            <a:r>
              <a:rPr lang="en-US" sz="1200" b="1">
                <a:solidFill>
                  <a:srgbClr val="D7EBFF"/>
                </a:solidFill>
                <a:latin typeface="Segoe UI" panose="020B0502040204020203" pitchFamily="34" charset="0"/>
              </a:rPr>
              <a:t>Sample input</a:t>
            </a:r>
          </a:p>
        </p:txBody>
      </p:sp>
      <p:sp>
        <p:nvSpPr>
          <p:cNvPr id="21" name="TextBox 20">
            <a:extLst>
              <a:ext uri="{FF2B5EF4-FFF2-40B4-BE49-F238E27FC236}">
                <a16:creationId xmlns:a16="http://schemas.microsoft.com/office/drawing/2014/main" id="{61A0AA49-5BBD-65DB-6881-4F1DA07841D4}"/>
              </a:ext>
            </a:extLst>
          </p:cNvPr>
          <p:cNvSpPr txBox="1"/>
          <p:nvPr/>
        </p:nvSpPr>
        <p:spPr>
          <a:xfrm>
            <a:off x="960120" y="3675888"/>
            <a:ext cx="4800600" cy="1311128"/>
          </a:xfrm>
          <a:prstGeom prst="rect">
            <a:avLst/>
          </a:prstGeom>
          <a:noFill/>
        </p:spPr>
        <p:txBody>
          <a:bodyPr vert="horz" wrap="square" lIns="36576" tIns="18288" rIns="36576" bIns="18288" rtlCol="0">
            <a:spAutoFit/>
          </a:bodyPr>
          <a:lstStyle/>
          <a:p>
            <a:r>
              <a:rPr lang="en-US" sz="920">
                <a:solidFill>
                  <a:srgbClr val="F3F2F1"/>
                </a:solidFill>
                <a:latin typeface="Consolas" panose="020B0609020204030204" pitchFamily="49" charset="0"/>
              </a:rPr>
              <a:t>DOM:</a:t>
            </a:r>
          </a:p>
          <a:p>
            <a:r>
              <a:rPr lang="en-US" sz="920">
                <a:solidFill>
                  <a:srgbClr val="F3F2F1"/>
                </a:solidFill>
                <a:latin typeface="Consolas" panose="020B0609020204030204" pitchFamily="49" charset="0"/>
              </a:rPr>
              <a:t>&lt;button id='nav-1288-auth' data-eim-action='open-authorizations'&gt;...</a:t>
            </a:r>
          </a:p>
          <a:p>
            <a:r>
              <a:rPr lang="en-US" sz="920">
                <a:solidFill>
                  <a:srgbClr val="F3F2F1"/>
                </a:solidFill>
                <a:latin typeface="Consolas" panose="020B0609020204030204" pitchFamily="49" charset="0"/>
              </a:rPr>
              <a:t>&lt;input id='member-search-1288' data-eim-field='member-id' /&gt;</a:t>
            </a:r>
          </a:p>
          <a:p>
            <a:r>
              <a:rPr lang="en-US" sz="920">
                <a:solidFill>
                  <a:srgbClr val="F3F2F1"/>
                </a:solidFill>
                <a:latin typeface="Consolas" panose="020B0609020204030204" pitchFamily="49" charset="0"/>
              </a:rPr>
              <a:t>&lt;button id='submit-review-1288' data-eim-action='complete-nurse-review'&gt;...</a:t>
            </a:r>
          </a:p>
          <a:p>
            <a:endParaRPr lang="en-US" sz="920">
              <a:solidFill>
                <a:srgbClr val="F3F2F1"/>
              </a:solidFill>
              <a:latin typeface="Consolas" panose="020B0609020204030204" pitchFamily="49" charset="0"/>
            </a:endParaRPr>
          </a:p>
          <a:p>
            <a:r>
              <a:rPr lang="en-US" sz="920">
                <a:solidFill>
                  <a:srgbClr val="F3F2F1"/>
                </a:solidFill>
                <a:latin typeface="Consolas" panose="020B0609020204030204" pitchFamily="49" charset="0"/>
              </a:rPr>
              <a:t>Instruction:</a:t>
            </a:r>
          </a:p>
          <a:p>
            <a:r>
              <a:rPr lang="en-US" sz="920">
                <a:solidFill>
                  <a:srgbClr val="F3F2F1"/>
                </a:solidFill>
                <a:latin typeface="Consolas" panose="020B0609020204030204" pitchFamily="49" charset="0"/>
              </a:rPr>
              <a:t>Open authorization PA-2000109 for member M10000077 and complete nurse review</a:t>
            </a:r>
          </a:p>
        </p:txBody>
      </p:sp>
      <p:sp>
        <p:nvSpPr>
          <p:cNvPr id="22" name="Rectangle: Rounded Corners 21">
            <a:extLst>
              <a:ext uri="{FF2B5EF4-FFF2-40B4-BE49-F238E27FC236}">
                <a16:creationId xmlns:a16="http://schemas.microsoft.com/office/drawing/2014/main" id="{2DEF9462-43C4-7ABE-FF0A-4E52CC839C5E}"/>
              </a:ext>
            </a:extLst>
          </p:cNvPr>
          <p:cNvSpPr/>
          <p:nvPr/>
        </p:nvSpPr>
        <p:spPr>
          <a:xfrm>
            <a:off x="6419088" y="3063240"/>
            <a:ext cx="5047488" cy="265176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02BC299-7BF2-F98F-732A-1A29754AA4CF}"/>
              </a:ext>
            </a:extLst>
          </p:cNvPr>
          <p:cNvSpPr txBox="1"/>
          <p:nvPr/>
        </p:nvSpPr>
        <p:spPr>
          <a:xfrm>
            <a:off x="6693408" y="3310128"/>
            <a:ext cx="1828800" cy="221599"/>
          </a:xfrm>
          <a:prstGeom prst="rect">
            <a:avLst/>
          </a:prstGeom>
          <a:noFill/>
        </p:spPr>
        <p:txBody>
          <a:bodyPr vert="horz" wrap="square" lIns="36576" tIns="18288" rIns="36576" bIns="18288" rtlCol="0">
            <a:spAutoFit/>
          </a:bodyPr>
          <a:lstStyle/>
          <a:p>
            <a:r>
              <a:rPr lang="en-US" sz="1200" b="1">
                <a:solidFill>
                  <a:srgbClr val="107C10"/>
                </a:solidFill>
                <a:latin typeface="Segoe UI" panose="020B0502040204020203" pitchFamily="34" charset="0"/>
              </a:rPr>
              <a:t>Gold assistant output</a:t>
            </a:r>
          </a:p>
        </p:txBody>
      </p:sp>
      <p:sp>
        <p:nvSpPr>
          <p:cNvPr id="24" name="TextBox 23">
            <a:extLst>
              <a:ext uri="{FF2B5EF4-FFF2-40B4-BE49-F238E27FC236}">
                <a16:creationId xmlns:a16="http://schemas.microsoft.com/office/drawing/2014/main" id="{576303F3-4948-D47A-0F89-392D67B292D4}"/>
              </a:ext>
            </a:extLst>
          </p:cNvPr>
          <p:cNvSpPr txBox="1"/>
          <p:nvPr/>
        </p:nvSpPr>
        <p:spPr>
          <a:xfrm>
            <a:off x="6693408" y="3675888"/>
            <a:ext cx="4434840" cy="1360372"/>
          </a:xfrm>
          <a:prstGeom prst="rect">
            <a:avLst/>
          </a:prstGeom>
          <a:noFill/>
        </p:spPr>
        <p:txBody>
          <a:bodyPr vert="horz" wrap="square" lIns="36576" tIns="18288" rIns="36576" bIns="18288" rtlCol="0">
            <a:spAutoFit/>
          </a:bodyPr>
          <a:lstStyle/>
          <a:p>
            <a:r>
              <a:rPr lang="en-US" sz="860">
                <a:solidFill>
                  <a:srgbClr val="201F1E"/>
                </a:solidFill>
                <a:latin typeface="Consolas" panose="020B0609020204030204" pitchFamily="49" charset="0"/>
              </a:rPr>
              <a:t>{</a:t>
            </a:r>
          </a:p>
          <a:p>
            <a:r>
              <a:rPr lang="en-US" sz="860">
                <a:solidFill>
                  <a:srgbClr val="201F1E"/>
                </a:solidFill>
                <a:latin typeface="Consolas" panose="020B0609020204030204" pitchFamily="49" charset="0"/>
              </a:rPr>
              <a:t>    "actions": [</a:t>
            </a:r>
          </a:p>
          <a:p>
            <a:r>
              <a:rPr lang="en-US" sz="860">
                <a:solidFill>
                  <a:srgbClr val="201F1E"/>
                </a:solidFill>
                <a:latin typeface="Consolas" panose="020B0609020204030204" pitchFamily="49" charset="0"/>
              </a:rPr>
              <a:t>        {"type":"click", "selector":"[data-eim-action='open-authorizations']"},</a:t>
            </a:r>
          </a:p>
          <a:p>
            <a:r>
              <a:rPr lang="en-US" sz="860">
                <a:solidFill>
                  <a:srgbClr val="201F1E"/>
                </a:solidFill>
                <a:latin typeface="Consolas" panose="020B0609020204030204" pitchFamily="49" charset="0"/>
              </a:rPr>
              <a:t>        {"type":"type", "selector":"[data-eim-field='member-id']", "value":"M10000077"},</a:t>
            </a:r>
          </a:p>
          <a:p>
            <a:r>
              <a:rPr lang="en-US" sz="860">
                <a:solidFill>
                  <a:srgbClr val="201F1E"/>
                </a:solidFill>
                <a:latin typeface="Consolas" panose="020B0609020204030204" pitchFamily="49" charset="0"/>
              </a:rPr>
              <a:t>        {"type":"click", "selector":"[data-eim-action='complete-nurse-review']"}</a:t>
            </a:r>
          </a:p>
          <a:p>
            <a:r>
              <a:rPr lang="en-US" sz="860">
                <a:solidFill>
                  <a:srgbClr val="201F1E"/>
                </a:solidFill>
                <a:latin typeface="Consolas" panose="020B0609020204030204" pitchFamily="49" charset="0"/>
              </a:rPr>
              <a:t>    ]</a:t>
            </a:r>
          </a:p>
          <a:p>
            <a:r>
              <a:rPr lang="en-US" sz="860">
                <a:solidFill>
                  <a:srgbClr val="201F1E"/>
                </a:solidFill>
                <a:latin typeface="Consolas" panose="020B0609020204030204" pitchFamily="49" charset="0"/>
              </a:rPr>
              <a:t>}</a:t>
            </a:r>
          </a:p>
        </p:txBody>
      </p:sp>
      <p:sp>
        <p:nvSpPr>
          <p:cNvPr id="25" name="Rectangle: Rounded Corners 24">
            <a:extLst>
              <a:ext uri="{FF2B5EF4-FFF2-40B4-BE49-F238E27FC236}">
                <a16:creationId xmlns:a16="http://schemas.microsoft.com/office/drawing/2014/main" id="{DB3F5E51-B440-F8D5-794C-ABAC81BDA2BA}"/>
              </a:ext>
            </a:extLst>
          </p:cNvPr>
          <p:cNvSpPr/>
          <p:nvPr/>
        </p:nvSpPr>
        <p:spPr>
          <a:xfrm>
            <a:off x="2148840" y="5870448"/>
            <a:ext cx="7863840" cy="347472"/>
          </a:xfrm>
          <a:prstGeom prst="roundRect">
            <a:avLst/>
          </a:prstGeom>
          <a:solidFill>
            <a:srgbClr val="FFF4C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4070C44-92F1-EDA0-9DCA-BD4654F57F6A}"/>
              </a:ext>
            </a:extLst>
          </p:cNvPr>
          <p:cNvSpPr txBox="1"/>
          <p:nvPr/>
        </p:nvSpPr>
        <p:spPr>
          <a:xfrm>
            <a:off x="2359152" y="5980176"/>
            <a:ext cx="7443216" cy="172355"/>
          </a:xfrm>
          <a:prstGeom prst="rect">
            <a:avLst/>
          </a:prstGeom>
          <a:noFill/>
        </p:spPr>
        <p:txBody>
          <a:bodyPr vert="horz" wrap="square" lIns="36576" tIns="18288" rIns="36576" bIns="18288" rtlCol="0">
            <a:spAutoFit/>
          </a:bodyPr>
          <a:lstStyle/>
          <a:p>
            <a:pPr algn="ctr"/>
            <a:r>
              <a:rPr lang="en-US" sz="880" b="1">
                <a:solidFill>
                  <a:srgbClr val="8A4B00"/>
                </a:solidFill>
                <a:latin typeface="Segoe UI" panose="020B0502040204020203" pitchFamily="34" charset="0"/>
              </a:rPr>
              <a:t>Why this data: teach stable selectors, exact JSON, workflow order, and reusable browser actions - not medical facts.</a:t>
            </a:r>
          </a:p>
        </p:txBody>
      </p:sp>
    </p:spTree>
    <p:extLst>
      <p:ext uri="{BB962C8B-B14F-4D97-AF65-F5344CB8AC3E}">
        <p14:creationId xmlns:p14="http://schemas.microsoft.com/office/powerpoint/2010/main" val="1588241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BAF651-2FF0-60E9-BE62-8EFDC50894E0}"/>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45E274-2AFB-C129-1F56-5752AD15F078}"/>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8F8CAA01-F639-B4FF-CC87-BF457AD34829}"/>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Technical resources leveraged</a:t>
            </a:r>
          </a:p>
        </p:txBody>
      </p:sp>
      <p:sp>
        <p:nvSpPr>
          <p:cNvPr id="5" name="TextBox 4">
            <a:extLst>
              <a:ext uri="{FF2B5EF4-FFF2-40B4-BE49-F238E27FC236}">
                <a16:creationId xmlns:a16="http://schemas.microsoft.com/office/drawing/2014/main" id="{EDDADB54-E9B8-687A-207B-1E3AC735F9D1}"/>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TextBox 5">
            <a:extLst>
              <a:ext uri="{FF2B5EF4-FFF2-40B4-BE49-F238E27FC236}">
                <a16:creationId xmlns:a16="http://schemas.microsoft.com/office/drawing/2014/main" id="{E92ADFD3-1A87-3AEE-7E5F-8A25B9AD785F}"/>
              </a:ext>
            </a:extLst>
          </p:cNvPr>
          <p:cNvSpPr txBox="1"/>
          <p:nvPr/>
        </p:nvSpPr>
        <p:spPr>
          <a:xfrm>
            <a:off x="594360" y="1225296"/>
            <a:ext cx="9052560" cy="427809"/>
          </a:xfrm>
          <a:prstGeom prst="rect">
            <a:avLst/>
          </a:prstGeom>
          <a:noFill/>
        </p:spPr>
        <p:txBody>
          <a:bodyPr vert="horz" wrap="square" lIns="36576" tIns="18288" rIns="36576" bIns="18288" rtlCol="0">
            <a:spAutoFit/>
          </a:bodyPr>
          <a:lstStyle/>
          <a:p>
            <a:r>
              <a:rPr lang="en-US" sz="1270">
                <a:solidFill>
                  <a:srgbClr val="605E5C"/>
                </a:solidFill>
                <a:latin typeface="Aptos" panose="020B0004020202020204" pitchFamily="34" charset="0"/>
              </a:rPr>
              <a:t>Foundry catalog assets plus AzureML SDK resources powered the demo. Gemma was not available through this serverless fine-tuning path, so training ran on AzureML managed A100 compute.</a:t>
            </a:r>
          </a:p>
        </p:txBody>
      </p:sp>
      <p:sp>
        <p:nvSpPr>
          <p:cNvPr id="7" name="Rectangle: Rounded Corners 6">
            <a:extLst>
              <a:ext uri="{FF2B5EF4-FFF2-40B4-BE49-F238E27FC236}">
                <a16:creationId xmlns:a16="http://schemas.microsoft.com/office/drawing/2014/main" id="{719AA68B-830E-DAF7-0BC8-429F31D58BCD}"/>
              </a:ext>
            </a:extLst>
          </p:cNvPr>
          <p:cNvSpPr/>
          <p:nvPr/>
        </p:nvSpPr>
        <p:spPr>
          <a:xfrm>
            <a:off x="713232" y="1755648"/>
            <a:ext cx="1965960" cy="1005840"/>
          </a:xfrm>
          <a:prstGeom prst="roundRect">
            <a:avLst/>
          </a:prstGeom>
          <a:solidFill>
            <a:srgbClr val="D7EB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51208D-ECD4-1668-C875-ADA3103272E0}"/>
              </a:ext>
            </a:extLst>
          </p:cNvPr>
          <p:cNvSpPr txBox="1"/>
          <p:nvPr/>
        </p:nvSpPr>
        <p:spPr>
          <a:xfrm>
            <a:off x="914400" y="2029968"/>
            <a:ext cx="1536192" cy="375487"/>
          </a:xfrm>
          <a:prstGeom prst="rect">
            <a:avLst/>
          </a:prstGeom>
          <a:noFill/>
        </p:spPr>
        <p:txBody>
          <a:bodyPr vert="horz" wrap="square" lIns="36576" tIns="18288" rIns="36576" bIns="18288" rtlCol="0">
            <a:spAutoFit/>
          </a:bodyPr>
          <a:lstStyle/>
          <a:p>
            <a:pPr algn="ctr"/>
            <a:r>
              <a:rPr lang="en-US" sz="1100" b="1">
                <a:solidFill>
                  <a:srgbClr val="004578"/>
                </a:solidFill>
                <a:latin typeface="Segoe UI" panose="020B0502040204020203" pitchFamily="34" charset="0"/>
              </a:rPr>
              <a:t>Foundry / AML catalog</a:t>
            </a:r>
          </a:p>
        </p:txBody>
      </p:sp>
      <p:sp>
        <p:nvSpPr>
          <p:cNvPr id="9" name="TextBox 8">
            <a:extLst>
              <a:ext uri="{FF2B5EF4-FFF2-40B4-BE49-F238E27FC236}">
                <a16:creationId xmlns:a16="http://schemas.microsoft.com/office/drawing/2014/main" id="{B0D81154-EA11-3371-2147-01B1ED92F76F}"/>
              </a:ext>
            </a:extLst>
          </p:cNvPr>
          <p:cNvSpPr txBox="1"/>
          <p:nvPr/>
        </p:nvSpPr>
        <p:spPr>
          <a:xfrm>
            <a:off x="960120" y="2359152"/>
            <a:ext cx="1444752" cy="160044"/>
          </a:xfrm>
          <a:prstGeom prst="rect">
            <a:avLst/>
          </a:prstGeom>
          <a:noFill/>
        </p:spPr>
        <p:txBody>
          <a:bodyPr vert="horz" wrap="square" lIns="36576" tIns="18288" rIns="36576" bIns="18288" rtlCol="0">
            <a:spAutoFit/>
          </a:bodyPr>
          <a:lstStyle/>
          <a:p>
            <a:pPr algn="ctr"/>
            <a:r>
              <a:rPr lang="en-US" sz="800">
                <a:solidFill>
                  <a:srgbClr val="605E5C"/>
                </a:solidFill>
                <a:latin typeface="Segoe UI" panose="020B0502040204020203" pitchFamily="34" charset="0"/>
              </a:rPr>
              <a:t>Gemma base model asset</a:t>
            </a:r>
          </a:p>
        </p:txBody>
      </p:sp>
      <p:sp>
        <p:nvSpPr>
          <p:cNvPr id="10" name="Rectangle: Rounded Corners 9">
            <a:extLst>
              <a:ext uri="{FF2B5EF4-FFF2-40B4-BE49-F238E27FC236}">
                <a16:creationId xmlns:a16="http://schemas.microsoft.com/office/drawing/2014/main" id="{E6478E03-658F-8ED9-2EAD-5D4D170D3D8A}"/>
              </a:ext>
            </a:extLst>
          </p:cNvPr>
          <p:cNvSpPr/>
          <p:nvPr/>
        </p:nvSpPr>
        <p:spPr>
          <a:xfrm>
            <a:off x="3182112" y="1755648"/>
            <a:ext cx="1965960" cy="1005840"/>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C3814C3-81F7-E1C2-30AB-4B3696249042}"/>
              </a:ext>
            </a:extLst>
          </p:cNvPr>
          <p:cNvSpPr txBox="1"/>
          <p:nvPr/>
        </p:nvSpPr>
        <p:spPr>
          <a:xfrm>
            <a:off x="3456432" y="2029968"/>
            <a:ext cx="1371600" cy="375487"/>
          </a:xfrm>
          <a:prstGeom prst="rect">
            <a:avLst/>
          </a:prstGeom>
          <a:noFill/>
        </p:spPr>
        <p:txBody>
          <a:bodyPr vert="horz" wrap="square" lIns="36576" tIns="18288" rIns="36576" bIns="18288" rtlCol="0">
            <a:spAutoFit/>
          </a:bodyPr>
          <a:lstStyle/>
          <a:p>
            <a:pPr algn="ctr"/>
            <a:r>
              <a:rPr lang="en-US" sz="1100" b="1">
                <a:solidFill>
                  <a:srgbClr val="107C10"/>
                </a:solidFill>
                <a:latin typeface="Segoe UI" panose="020B0502040204020203" pitchFamily="34" charset="0"/>
              </a:rPr>
              <a:t>AzureML workspace</a:t>
            </a:r>
          </a:p>
        </p:txBody>
      </p:sp>
      <p:sp>
        <p:nvSpPr>
          <p:cNvPr id="12" name="TextBox 11">
            <a:extLst>
              <a:ext uri="{FF2B5EF4-FFF2-40B4-BE49-F238E27FC236}">
                <a16:creationId xmlns:a16="http://schemas.microsoft.com/office/drawing/2014/main" id="{55DF3FDA-A7B9-1B25-12D9-7D7E72BC7850}"/>
              </a:ext>
            </a:extLst>
          </p:cNvPr>
          <p:cNvSpPr txBox="1"/>
          <p:nvPr/>
        </p:nvSpPr>
        <p:spPr>
          <a:xfrm>
            <a:off x="3474720" y="2359152"/>
            <a:ext cx="1371600" cy="160044"/>
          </a:xfrm>
          <a:prstGeom prst="rect">
            <a:avLst/>
          </a:prstGeom>
          <a:noFill/>
        </p:spPr>
        <p:txBody>
          <a:bodyPr vert="horz" wrap="square" lIns="36576" tIns="18288" rIns="36576" bIns="18288" rtlCol="0">
            <a:spAutoFit/>
          </a:bodyPr>
          <a:lstStyle/>
          <a:p>
            <a:pPr algn="ctr"/>
            <a:r>
              <a:rPr lang="en-US" sz="800">
                <a:solidFill>
                  <a:srgbClr val="605E5C"/>
                </a:solidFill>
                <a:latin typeface="Segoe UI" panose="020B0502040204020203" pitchFamily="34" charset="0"/>
              </a:rPr>
              <a:t>jobs, data, models, lineage</a:t>
            </a:r>
          </a:p>
        </p:txBody>
      </p:sp>
      <p:sp>
        <p:nvSpPr>
          <p:cNvPr id="13" name="Rectangle: Rounded Corners 12">
            <a:extLst>
              <a:ext uri="{FF2B5EF4-FFF2-40B4-BE49-F238E27FC236}">
                <a16:creationId xmlns:a16="http://schemas.microsoft.com/office/drawing/2014/main" id="{B182E097-E012-9F9C-FAAE-E93081C062C7}"/>
              </a:ext>
            </a:extLst>
          </p:cNvPr>
          <p:cNvSpPr/>
          <p:nvPr/>
        </p:nvSpPr>
        <p:spPr>
          <a:xfrm>
            <a:off x="5650992" y="1755648"/>
            <a:ext cx="1965960" cy="1005840"/>
          </a:xfrm>
          <a:prstGeom prst="roundRect">
            <a:avLst/>
          </a:prstGeom>
          <a:solidFill>
            <a:srgbClr val="EDE7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79B200E-E55C-D445-8942-0CD210B4CD8C}"/>
              </a:ext>
            </a:extLst>
          </p:cNvPr>
          <p:cNvSpPr txBox="1"/>
          <p:nvPr/>
        </p:nvSpPr>
        <p:spPr>
          <a:xfrm>
            <a:off x="6062472" y="2029968"/>
            <a:ext cx="1051560" cy="206210"/>
          </a:xfrm>
          <a:prstGeom prst="rect">
            <a:avLst/>
          </a:prstGeom>
          <a:noFill/>
        </p:spPr>
        <p:txBody>
          <a:bodyPr vert="horz" wrap="square" lIns="36576" tIns="18288" rIns="36576" bIns="18288" rtlCol="0">
            <a:spAutoFit/>
          </a:bodyPr>
          <a:lstStyle/>
          <a:p>
            <a:pPr algn="ctr"/>
            <a:r>
              <a:rPr lang="en-US" sz="1100" b="1">
                <a:solidFill>
                  <a:srgbClr val="5C2D91"/>
                </a:solidFill>
                <a:latin typeface="Segoe UI" panose="020B0502040204020203" pitchFamily="34" charset="0"/>
              </a:rPr>
              <a:t>A100 compute</a:t>
            </a:r>
          </a:p>
        </p:txBody>
      </p:sp>
      <p:sp>
        <p:nvSpPr>
          <p:cNvPr id="15" name="TextBox 14">
            <a:extLst>
              <a:ext uri="{FF2B5EF4-FFF2-40B4-BE49-F238E27FC236}">
                <a16:creationId xmlns:a16="http://schemas.microsoft.com/office/drawing/2014/main" id="{C25DBC9F-D676-DA58-8204-E759E03AA73A}"/>
              </a:ext>
            </a:extLst>
          </p:cNvPr>
          <p:cNvSpPr txBox="1"/>
          <p:nvPr/>
        </p:nvSpPr>
        <p:spPr>
          <a:xfrm>
            <a:off x="5870448" y="2359152"/>
            <a:ext cx="1508760" cy="150811"/>
          </a:xfrm>
          <a:prstGeom prst="rect">
            <a:avLst/>
          </a:prstGeom>
          <a:noFill/>
        </p:spPr>
        <p:txBody>
          <a:bodyPr vert="horz" wrap="square" lIns="36576" tIns="18288" rIns="36576" bIns="18288" rtlCol="0">
            <a:spAutoFit/>
          </a:bodyPr>
          <a:lstStyle/>
          <a:p>
            <a:pPr algn="ctr"/>
            <a:r>
              <a:rPr lang="en-US" sz="740">
                <a:solidFill>
                  <a:srgbClr val="605E5C"/>
                </a:solidFill>
                <a:latin typeface="Segoe UI" panose="020B0502040204020203" pitchFamily="34" charset="0"/>
              </a:rPr>
              <a:t>Standard_NC24ads_A100_v4</a:t>
            </a:r>
          </a:p>
        </p:txBody>
      </p:sp>
      <p:sp>
        <p:nvSpPr>
          <p:cNvPr id="16" name="Rectangle: Rounded Corners 15">
            <a:extLst>
              <a:ext uri="{FF2B5EF4-FFF2-40B4-BE49-F238E27FC236}">
                <a16:creationId xmlns:a16="http://schemas.microsoft.com/office/drawing/2014/main" id="{969E4829-F5EE-AD89-AEF3-3C934F3ADE05}"/>
              </a:ext>
            </a:extLst>
          </p:cNvPr>
          <p:cNvSpPr/>
          <p:nvPr/>
        </p:nvSpPr>
        <p:spPr>
          <a:xfrm>
            <a:off x="8119872" y="1755648"/>
            <a:ext cx="1965960" cy="1005840"/>
          </a:xfrm>
          <a:prstGeom prst="roundRect">
            <a:avLst/>
          </a:prstGeom>
          <a:solidFill>
            <a:srgbClr val="FFF4C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E5F3EA6-BC82-E9FD-B544-F454AB9A5225}"/>
              </a:ext>
            </a:extLst>
          </p:cNvPr>
          <p:cNvSpPr txBox="1"/>
          <p:nvPr/>
        </p:nvSpPr>
        <p:spPr>
          <a:xfrm>
            <a:off x="8641080" y="2029968"/>
            <a:ext cx="914400" cy="206210"/>
          </a:xfrm>
          <a:prstGeom prst="rect">
            <a:avLst/>
          </a:prstGeom>
          <a:noFill/>
        </p:spPr>
        <p:txBody>
          <a:bodyPr vert="horz" wrap="square" lIns="36576" tIns="18288" rIns="36576" bIns="18288" rtlCol="0">
            <a:spAutoFit/>
          </a:bodyPr>
          <a:lstStyle/>
          <a:p>
            <a:pPr algn="ctr"/>
            <a:r>
              <a:rPr lang="en-US" sz="1100" b="1">
                <a:solidFill>
                  <a:srgbClr val="8A4B00"/>
                </a:solidFill>
                <a:latin typeface="Segoe UI" panose="020B0502040204020203" pitchFamily="34" charset="0"/>
              </a:rPr>
              <a:t>Key Vault</a:t>
            </a:r>
          </a:p>
        </p:txBody>
      </p:sp>
      <p:sp>
        <p:nvSpPr>
          <p:cNvPr id="18" name="TextBox 17">
            <a:extLst>
              <a:ext uri="{FF2B5EF4-FFF2-40B4-BE49-F238E27FC236}">
                <a16:creationId xmlns:a16="http://schemas.microsoft.com/office/drawing/2014/main" id="{A0A4C977-9735-64EC-65E1-FC66B059E2F0}"/>
              </a:ext>
            </a:extLst>
          </p:cNvPr>
          <p:cNvSpPr txBox="1"/>
          <p:nvPr/>
        </p:nvSpPr>
        <p:spPr>
          <a:xfrm>
            <a:off x="8549640" y="2359152"/>
            <a:ext cx="1051560" cy="160044"/>
          </a:xfrm>
          <a:prstGeom prst="rect">
            <a:avLst/>
          </a:prstGeom>
          <a:noFill/>
        </p:spPr>
        <p:txBody>
          <a:bodyPr vert="horz" wrap="square" lIns="36576" tIns="18288" rIns="36576" bIns="18288" rtlCol="0">
            <a:spAutoFit/>
          </a:bodyPr>
          <a:lstStyle/>
          <a:p>
            <a:pPr algn="ctr"/>
            <a:r>
              <a:rPr lang="en-US" sz="800">
                <a:solidFill>
                  <a:srgbClr val="605E5C"/>
                </a:solidFill>
                <a:latin typeface="Segoe UI" panose="020B0502040204020203" pitchFamily="34" charset="0"/>
              </a:rPr>
              <a:t>HF token / secrets</a:t>
            </a:r>
          </a:p>
        </p:txBody>
      </p:sp>
      <p:cxnSp>
        <p:nvCxnSpPr>
          <p:cNvPr id="19" name="Straight Connector 18">
            <a:extLst>
              <a:ext uri="{FF2B5EF4-FFF2-40B4-BE49-F238E27FC236}">
                <a16:creationId xmlns:a16="http://schemas.microsoft.com/office/drawing/2014/main" id="{7EAF9D0F-FBF1-6F2C-1E67-A6DA8B320866}"/>
              </a:ext>
            </a:extLst>
          </p:cNvPr>
          <p:cNvCxnSpPr/>
          <p:nvPr/>
        </p:nvCxnSpPr>
        <p:spPr>
          <a:xfrm>
            <a:off x="2697480" y="2258568"/>
            <a:ext cx="457200" cy="0"/>
          </a:xfrm>
          <a:prstGeom prst="line">
            <a:avLst/>
          </a:prstGeom>
          <a:ln w="3175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C5EC327-1205-2D0E-03FC-EE0DDED2BD35}"/>
              </a:ext>
            </a:extLst>
          </p:cNvPr>
          <p:cNvCxnSpPr/>
          <p:nvPr/>
        </p:nvCxnSpPr>
        <p:spPr>
          <a:xfrm>
            <a:off x="5166360" y="2258568"/>
            <a:ext cx="457200" cy="0"/>
          </a:xfrm>
          <a:prstGeom prst="line">
            <a:avLst/>
          </a:prstGeom>
          <a:ln w="31750">
            <a:solidFill>
              <a:srgbClr val="107C10"/>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E7A8B7D4-91F0-340C-DE76-747700BFAF76}"/>
              </a:ext>
            </a:extLst>
          </p:cNvPr>
          <p:cNvCxnSpPr/>
          <p:nvPr/>
        </p:nvCxnSpPr>
        <p:spPr>
          <a:xfrm>
            <a:off x="7635240" y="2258568"/>
            <a:ext cx="457200" cy="0"/>
          </a:xfrm>
          <a:prstGeom prst="line">
            <a:avLst/>
          </a:prstGeom>
          <a:ln w="31750">
            <a:solidFill>
              <a:srgbClr val="5C2D91"/>
            </a:solidFill>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4C41DBC3-9DA4-42BC-8447-57DD876FC8E7}"/>
              </a:ext>
            </a:extLst>
          </p:cNvPr>
          <p:cNvSpPr/>
          <p:nvPr/>
        </p:nvSpPr>
        <p:spPr>
          <a:xfrm>
            <a:off x="1115568" y="3520440"/>
            <a:ext cx="9509760" cy="2029968"/>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B9284E3-A0DA-600F-9466-F14462D1AB20}"/>
              </a:ext>
            </a:extLst>
          </p:cNvPr>
          <p:cNvSpPr txBox="1"/>
          <p:nvPr/>
        </p:nvSpPr>
        <p:spPr>
          <a:xfrm>
            <a:off x="1417320" y="3822192"/>
            <a:ext cx="2560320" cy="252377"/>
          </a:xfrm>
          <a:prstGeom prst="rect">
            <a:avLst/>
          </a:prstGeom>
          <a:noFill/>
        </p:spPr>
        <p:txBody>
          <a:bodyPr vert="horz" wrap="square" lIns="36576" tIns="18288" rIns="36576" bIns="18288" rtlCol="0">
            <a:spAutoFit/>
          </a:bodyPr>
          <a:lstStyle/>
          <a:p>
            <a:r>
              <a:rPr lang="en-US" sz="1400" b="1">
                <a:solidFill>
                  <a:srgbClr val="201F1E"/>
                </a:solidFill>
                <a:latin typeface="Segoe UI" panose="020B0502040204020203" pitchFamily="34" charset="0"/>
              </a:rPr>
              <a:t>What the SDK scripts did</a:t>
            </a:r>
          </a:p>
        </p:txBody>
      </p:sp>
      <p:sp>
        <p:nvSpPr>
          <p:cNvPr id="24" name="TextBox 23">
            <a:extLst>
              <a:ext uri="{FF2B5EF4-FFF2-40B4-BE49-F238E27FC236}">
                <a16:creationId xmlns:a16="http://schemas.microsoft.com/office/drawing/2014/main" id="{BCC25CFF-7C92-186E-B687-E1C71CE3C6BD}"/>
              </a:ext>
            </a:extLst>
          </p:cNvPr>
          <p:cNvSpPr txBox="1"/>
          <p:nvPr/>
        </p:nvSpPr>
        <p:spPr>
          <a:xfrm>
            <a:off x="1444752" y="4315968"/>
            <a:ext cx="2011680" cy="178510"/>
          </a:xfrm>
          <a:prstGeom prst="rect">
            <a:avLst/>
          </a:prstGeom>
          <a:noFill/>
        </p:spPr>
        <p:txBody>
          <a:bodyPr vert="horz" wrap="square" lIns="36576" tIns="18288" rIns="36576" bIns="18288" rtlCol="0">
            <a:spAutoFit/>
          </a:bodyPr>
          <a:lstStyle/>
          <a:p>
            <a:r>
              <a:rPr lang="it-IT" sz="920" b="1">
                <a:solidFill>
                  <a:srgbClr val="004578"/>
                </a:solidFill>
                <a:latin typeface="Consolas" panose="020B0609020204030204" pitchFamily="49" charset="0"/>
              </a:rPr>
              <a:t>src/02_prepare_data.py</a:t>
            </a:r>
            <a:endParaRPr lang="en-US" sz="920" b="1">
              <a:solidFill>
                <a:srgbClr val="004578"/>
              </a:solidFill>
              <a:latin typeface="Consolas" panose="020B0609020204030204" pitchFamily="49" charset="0"/>
            </a:endParaRPr>
          </a:p>
        </p:txBody>
      </p:sp>
      <p:sp>
        <p:nvSpPr>
          <p:cNvPr id="25" name="TextBox 24">
            <a:extLst>
              <a:ext uri="{FF2B5EF4-FFF2-40B4-BE49-F238E27FC236}">
                <a16:creationId xmlns:a16="http://schemas.microsoft.com/office/drawing/2014/main" id="{9ADFF34A-A8FC-CD2A-652A-2ADD2EC61525}"/>
              </a:ext>
            </a:extLst>
          </p:cNvPr>
          <p:cNvSpPr txBox="1"/>
          <p:nvPr/>
        </p:nvSpPr>
        <p:spPr>
          <a:xfrm>
            <a:off x="3429000" y="4297680"/>
            <a:ext cx="6217920"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Registered synthetic train/validation data as an AML asset.</a:t>
            </a:r>
          </a:p>
        </p:txBody>
      </p:sp>
      <p:sp>
        <p:nvSpPr>
          <p:cNvPr id="26" name="TextBox 25">
            <a:extLst>
              <a:ext uri="{FF2B5EF4-FFF2-40B4-BE49-F238E27FC236}">
                <a16:creationId xmlns:a16="http://schemas.microsoft.com/office/drawing/2014/main" id="{BE70070A-7A49-2A00-09F6-4E67375CA1FE}"/>
              </a:ext>
            </a:extLst>
          </p:cNvPr>
          <p:cNvSpPr txBox="1"/>
          <p:nvPr/>
        </p:nvSpPr>
        <p:spPr>
          <a:xfrm>
            <a:off x="1444752" y="4663440"/>
            <a:ext cx="2103120" cy="178510"/>
          </a:xfrm>
          <a:prstGeom prst="rect">
            <a:avLst/>
          </a:prstGeom>
          <a:noFill/>
        </p:spPr>
        <p:txBody>
          <a:bodyPr vert="horz" wrap="square" lIns="36576" tIns="18288" rIns="36576" bIns="18288" rtlCol="0">
            <a:spAutoFit/>
          </a:bodyPr>
          <a:lstStyle/>
          <a:p>
            <a:r>
              <a:rPr lang="en-US" sz="920" b="1">
                <a:solidFill>
                  <a:srgbClr val="004578"/>
                </a:solidFill>
                <a:latin typeface="Consolas" panose="020B0609020204030204" pitchFamily="49" charset="0"/>
              </a:rPr>
              <a:t>src/03_submit_training_job.py</a:t>
            </a:r>
          </a:p>
        </p:txBody>
      </p:sp>
      <p:sp>
        <p:nvSpPr>
          <p:cNvPr id="27" name="TextBox 26">
            <a:extLst>
              <a:ext uri="{FF2B5EF4-FFF2-40B4-BE49-F238E27FC236}">
                <a16:creationId xmlns:a16="http://schemas.microsoft.com/office/drawing/2014/main" id="{4A7F6781-E4EB-00C1-1586-08A43AE3BF72}"/>
              </a:ext>
            </a:extLst>
          </p:cNvPr>
          <p:cNvSpPr txBox="1"/>
          <p:nvPr/>
        </p:nvSpPr>
        <p:spPr>
          <a:xfrm>
            <a:off x="3429000" y="4645152"/>
            <a:ext cx="6355080"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Submitted a command job to A100 compute with custom CUDA/Transformers/TRL environment.</a:t>
            </a:r>
          </a:p>
        </p:txBody>
      </p:sp>
      <p:sp>
        <p:nvSpPr>
          <p:cNvPr id="28" name="TextBox 27">
            <a:extLst>
              <a:ext uri="{FF2B5EF4-FFF2-40B4-BE49-F238E27FC236}">
                <a16:creationId xmlns:a16="http://schemas.microsoft.com/office/drawing/2014/main" id="{41600E4B-BA1F-AF0B-459C-59E69FB823E3}"/>
              </a:ext>
            </a:extLst>
          </p:cNvPr>
          <p:cNvSpPr txBox="1"/>
          <p:nvPr/>
        </p:nvSpPr>
        <p:spPr>
          <a:xfrm>
            <a:off x="1444752" y="5010912"/>
            <a:ext cx="2267712" cy="178510"/>
          </a:xfrm>
          <a:prstGeom prst="rect">
            <a:avLst/>
          </a:prstGeom>
          <a:noFill/>
        </p:spPr>
        <p:txBody>
          <a:bodyPr vert="horz" wrap="square" lIns="36576" tIns="18288" rIns="36576" bIns="18288" rtlCol="0">
            <a:spAutoFit/>
          </a:bodyPr>
          <a:lstStyle/>
          <a:p>
            <a:r>
              <a:rPr lang="en-US" sz="920" b="1">
                <a:solidFill>
                  <a:srgbClr val="004578"/>
                </a:solidFill>
                <a:latin typeface="Consolas" panose="020B0609020204030204" pitchFamily="49" charset="0"/>
              </a:rPr>
              <a:t>src/04_register_and_deploy.py</a:t>
            </a:r>
          </a:p>
        </p:txBody>
      </p:sp>
      <p:sp>
        <p:nvSpPr>
          <p:cNvPr id="29" name="TextBox 28">
            <a:extLst>
              <a:ext uri="{FF2B5EF4-FFF2-40B4-BE49-F238E27FC236}">
                <a16:creationId xmlns:a16="http://schemas.microsoft.com/office/drawing/2014/main" id="{448F4FB3-0177-EB8A-0E90-7BDC654497B6}"/>
              </a:ext>
            </a:extLst>
          </p:cNvPr>
          <p:cNvSpPr txBox="1"/>
          <p:nvPr/>
        </p:nvSpPr>
        <p:spPr>
          <a:xfrm>
            <a:off x="3429000" y="4992624"/>
            <a:ext cx="6126480" cy="183127"/>
          </a:xfrm>
          <a:prstGeom prst="rect">
            <a:avLst/>
          </a:prstGeom>
          <a:noFill/>
        </p:spPr>
        <p:txBody>
          <a:bodyPr vert="horz" wrap="square" lIns="36576" tIns="18288" rIns="36576" bIns="18288" rtlCol="0">
            <a:spAutoFit/>
          </a:bodyPr>
          <a:lstStyle/>
          <a:p>
            <a:r>
              <a:rPr lang="en-US" sz="950">
                <a:solidFill>
                  <a:srgbClr val="605E5C"/>
                </a:solidFill>
                <a:latin typeface="Segoe UI" panose="020B0502040204020203" pitchFamily="34" charset="0"/>
              </a:rPr>
              <a:t>Registered adapter, packaged base+LoRA, and deployed a managed online endpoint.</a:t>
            </a:r>
          </a:p>
        </p:txBody>
      </p:sp>
    </p:spTree>
    <p:extLst>
      <p:ext uri="{BB962C8B-B14F-4D97-AF65-F5344CB8AC3E}">
        <p14:creationId xmlns:p14="http://schemas.microsoft.com/office/powerpoint/2010/main" val="429368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3C1FA6-1233-CEE9-132B-EA01B203EC51}"/>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EF4360-BDCC-20E1-3A0F-0C8C60F2491F}"/>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0C036AD2-7AC5-0027-CC62-64F14E6C806C}"/>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Fine-tuning details: what trained on the A100</a:t>
            </a:r>
          </a:p>
        </p:txBody>
      </p:sp>
      <p:sp>
        <p:nvSpPr>
          <p:cNvPr id="5" name="TextBox 4">
            <a:extLst>
              <a:ext uri="{FF2B5EF4-FFF2-40B4-BE49-F238E27FC236}">
                <a16:creationId xmlns:a16="http://schemas.microsoft.com/office/drawing/2014/main" id="{F92DFC31-E0D9-AD4B-E715-9E993FEF0093}"/>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TextBox 5">
            <a:extLst>
              <a:ext uri="{FF2B5EF4-FFF2-40B4-BE49-F238E27FC236}">
                <a16:creationId xmlns:a16="http://schemas.microsoft.com/office/drawing/2014/main" id="{4C437191-811F-2AC8-E0DA-28AC019EC1DB}"/>
              </a:ext>
            </a:extLst>
          </p:cNvPr>
          <p:cNvSpPr txBox="1"/>
          <p:nvPr/>
        </p:nvSpPr>
        <p:spPr>
          <a:xfrm>
            <a:off x="594360" y="1143000"/>
            <a:ext cx="8046720" cy="443198"/>
          </a:xfrm>
          <a:prstGeom prst="rect">
            <a:avLst/>
          </a:prstGeom>
          <a:noFill/>
        </p:spPr>
        <p:txBody>
          <a:bodyPr vert="horz" wrap="square" lIns="36576" tIns="18288" rIns="36576" bIns="18288" rtlCol="0">
            <a:spAutoFit/>
          </a:bodyPr>
          <a:lstStyle/>
          <a:p>
            <a:r>
              <a:rPr lang="en-US" sz="1320">
                <a:solidFill>
                  <a:srgbClr val="605E5C"/>
                </a:solidFill>
                <a:latin typeface="Aptos" panose="020B0004020202020204" pitchFamily="34" charset="0"/>
              </a:rPr>
              <a:t>The job runs inside AzureML. The laptop only submits and monitors; the GPU node loads the model, applies LoRA, trains, and writes artifacts.</a:t>
            </a:r>
          </a:p>
        </p:txBody>
      </p:sp>
      <p:sp>
        <p:nvSpPr>
          <p:cNvPr id="7" name="Rectangle: Rounded Corners 6">
            <a:extLst>
              <a:ext uri="{FF2B5EF4-FFF2-40B4-BE49-F238E27FC236}">
                <a16:creationId xmlns:a16="http://schemas.microsoft.com/office/drawing/2014/main" id="{C0DB6A49-69D0-AAF8-89CE-4DCA8B8CF5DA}"/>
              </a:ext>
            </a:extLst>
          </p:cNvPr>
          <p:cNvSpPr/>
          <p:nvPr/>
        </p:nvSpPr>
        <p:spPr>
          <a:xfrm>
            <a:off x="713232" y="1773936"/>
            <a:ext cx="2834640" cy="41605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59492F6-8D35-922F-AF2C-9A150E4A2669}"/>
              </a:ext>
            </a:extLst>
          </p:cNvPr>
          <p:cNvSpPr txBox="1"/>
          <p:nvPr/>
        </p:nvSpPr>
        <p:spPr>
          <a:xfrm>
            <a:off x="987552" y="2057400"/>
            <a:ext cx="1463040" cy="267766"/>
          </a:xfrm>
          <a:prstGeom prst="rect">
            <a:avLst/>
          </a:prstGeom>
          <a:noFill/>
        </p:spPr>
        <p:txBody>
          <a:bodyPr vert="horz" wrap="square" lIns="36576" tIns="18288" rIns="36576" bIns="18288" rtlCol="0">
            <a:spAutoFit/>
          </a:bodyPr>
          <a:lstStyle/>
          <a:p>
            <a:r>
              <a:rPr lang="en-US" sz="1500" b="1">
                <a:solidFill>
                  <a:srgbClr val="004578"/>
                </a:solidFill>
                <a:latin typeface="Segoe UI" panose="020B0502040204020203" pitchFamily="34" charset="0"/>
              </a:rPr>
              <a:t>Model load</a:t>
            </a:r>
          </a:p>
        </p:txBody>
      </p:sp>
      <p:sp>
        <p:nvSpPr>
          <p:cNvPr id="9" name="TextBox 8">
            <a:extLst>
              <a:ext uri="{FF2B5EF4-FFF2-40B4-BE49-F238E27FC236}">
                <a16:creationId xmlns:a16="http://schemas.microsoft.com/office/drawing/2014/main" id="{E04F5F5A-95A2-723B-D80F-34CE50B0CEAD}"/>
              </a:ext>
            </a:extLst>
          </p:cNvPr>
          <p:cNvSpPr txBox="1"/>
          <p:nvPr/>
        </p:nvSpPr>
        <p:spPr>
          <a:xfrm>
            <a:off x="987552" y="2578608"/>
            <a:ext cx="2011680" cy="763286"/>
          </a:xfrm>
          <a:prstGeom prst="rect">
            <a:avLst/>
          </a:prstGeom>
          <a:noFill/>
        </p:spPr>
        <p:txBody>
          <a:bodyPr vert="horz" wrap="square" lIns="36576" tIns="18288" rIns="36576" bIns="18288" rtlCol="0">
            <a:spAutoFit/>
          </a:bodyPr>
          <a:lstStyle/>
          <a:p>
            <a:r>
              <a:rPr lang="en-US" sz="1180">
                <a:solidFill>
                  <a:srgbClr val="201F1E"/>
                </a:solidFill>
                <a:latin typeface="Aptos" panose="020B0004020202020204" pitchFamily="34" charset="0"/>
              </a:rPr>
              <a:t>Gemma 4B-class SLM</a:t>
            </a:r>
          </a:p>
          <a:p>
            <a:r>
              <a:rPr lang="en-US" sz="1180">
                <a:solidFill>
                  <a:srgbClr val="201F1E"/>
                </a:solidFill>
                <a:latin typeface="Aptos" panose="020B0004020202020204" pitchFamily="34" charset="0"/>
              </a:rPr>
              <a:t>AzureML catalog mount</a:t>
            </a:r>
          </a:p>
          <a:p>
            <a:r>
              <a:rPr lang="en-US" sz="1180">
                <a:solidFill>
                  <a:srgbClr val="201F1E"/>
                </a:solidFill>
                <a:latin typeface="Aptos" panose="020B0004020202020204" pitchFamily="34" charset="0"/>
              </a:rPr>
              <a:t>bf16 on GPU</a:t>
            </a:r>
          </a:p>
          <a:p>
            <a:r>
              <a:rPr lang="en-US" sz="1180">
                <a:solidFill>
                  <a:srgbClr val="201F1E"/>
                </a:solidFill>
                <a:latin typeface="Aptos" panose="020B0004020202020204" pitchFamily="34" charset="0"/>
              </a:rPr>
              <a:t>scaled dot-product attention</a:t>
            </a:r>
          </a:p>
        </p:txBody>
      </p:sp>
      <p:sp>
        <p:nvSpPr>
          <p:cNvPr id="10" name="Rectangle: Rounded Corners 9">
            <a:extLst>
              <a:ext uri="{FF2B5EF4-FFF2-40B4-BE49-F238E27FC236}">
                <a16:creationId xmlns:a16="http://schemas.microsoft.com/office/drawing/2014/main" id="{ACE7ECC2-489A-7AFA-878B-42F438A5AAA9}"/>
              </a:ext>
            </a:extLst>
          </p:cNvPr>
          <p:cNvSpPr/>
          <p:nvPr/>
        </p:nvSpPr>
        <p:spPr>
          <a:xfrm>
            <a:off x="3767328" y="1773936"/>
            <a:ext cx="2834640" cy="41605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78B99F-A1DB-74EE-8BDA-2CA8A4778150}"/>
              </a:ext>
            </a:extLst>
          </p:cNvPr>
          <p:cNvSpPr txBox="1"/>
          <p:nvPr/>
        </p:nvSpPr>
        <p:spPr>
          <a:xfrm>
            <a:off x="4041648" y="2057400"/>
            <a:ext cx="1463040" cy="267766"/>
          </a:xfrm>
          <a:prstGeom prst="rect">
            <a:avLst/>
          </a:prstGeom>
          <a:noFill/>
        </p:spPr>
        <p:txBody>
          <a:bodyPr vert="horz" wrap="square" lIns="36576" tIns="18288" rIns="36576" bIns="18288" rtlCol="0">
            <a:spAutoFit/>
          </a:bodyPr>
          <a:lstStyle/>
          <a:p>
            <a:r>
              <a:rPr lang="en-US" sz="1500" b="1">
                <a:solidFill>
                  <a:srgbClr val="5C2D91"/>
                </a:solidFill>
                <a:latin typeface="Segoe UI" panose="020B0502040204020203" pitchFamily="34" charset="0"/>
              </a:rPr>
              <a:t>LoRA config</a:t>
            </a:r>
          </a:p>
        </p:txBody>
      </p:sp>
      <p:sp>
        <p:nvSpPr>
          <p:cNvPr id="12" name="TextBox 11">
            <a:extLst>
              <a:ext uri="{FF2B5EF4-FFF2-40B4-BE49-F238E27FC236}">
                <a16:creationId xmlns:a16="http://schemas.microsoft.com/office/drawing/2014/main" id="{644051CF-FC33-3BAB-D465-FF0EF7B9BBA6}"/>
              </a:ext>
            </a:extLst>
          </p:cNvPr>
          <p:cNvSpPr txBox="1"/>
          <p:nvPr/>
        </p:nvSpPr>
        <p:spPr>
          <a:xfrm>
            <a:off x="4041648" y="2578608"/>
            <a:ext cx="2057400" cy="944874"/>
          </a:xfrm>
          <a:prstGeom prst="rect">
            <a:avLst/>
          </a:prstGeom>
          <a:noFill/>
        </p:spPr>
        <p:txBody>
          <a:bodyPr vert="horz" wrap="square" lIns="36576" tIns="18288" rIns="36576" bIns="18288" rtlCol="0">
            <a:spAutoFit/>
          </a:bodyPr>
          <a:lstStyle/>
          <a:p>
            <a:r>
              <a:rPr lang="en-US" sz="1180">
                <a:solidFill>
                  <a:srgbClr val="201F1E"/>
                </a:solidFill>
                <a:latin typeface="Aptos" panose="020B0004020202020204" pitchFamily="34" charset="0"/>
              </a:rPr>
              <a:t>Rank 32</a:t>
            </a:r>
          </a:p>
          <a:p>
            <a:r>
              <a:rPr lang="en-US" sz="1180">
                <a:solidFill>
                  <a:srgbClr val="201F1E"/>
                </a:solidFill>
                <a:latin typeface="Aptos" panose="020B0004020202020204" pitchFamily="34" charset="0"/>
              </a:rPr>
              <a:t>Alpha 64</a:t>
            </a:r>
          </a:p>
          <a:p>
            <a:r>
              <a:rPr lang="en-US" sz="1180">
                <a:solidFill>
                  <a:srgbClr val="201F1E"/>
                </a:solidFill>
                <a:latin typeface="Aptos" panose="020B0004020202020204" pitchFamily="34" charset="0"/>
              </a:rPr>
              <a:t>Dropout 0.05</a:t>
            </a:r>
          </a:p>
          <a:p>
            <a:r>
              <a:rPr lang="en-US" sz="1180">
                <a:solidFill>
                  <a:srgbClr val="201F1E"/>
                </a:solidFill>
                <a:latin typeface="Aptos" panose="020B0004020202020204" pitchFamily="34" charset="0"/>
              </a:rPr>
              <a:t>Target: q/k/v/o + MLP projections</a:t>
            </a:r>
          </a:p>
        </p:txBody>
      </p:sp>
      <p:sp>
        <p:nvSpPr>
          <p:cNvPr id="13" name="Rectangle: Rounded Corners 12">
            <a:extLst>
              <a:ext uri="{FF2B5EF4-FFF2-40B4-BE49-F238E27FC236}">
                <a16:creationId xmlns:a16="http://schemas.microsoft.com/office/drawing/2014/main" id="{75ABB54F-FD6E-35C9-01C9-A1D631A36592}"/>
              </a:ext>
            </a:extLst>
          </p:cNvPr>
          <p:cNvSpPr/>
          <p:nvPr/>
        </p:nvSpPr>
        <p:spPr>
          <a:xfrm>
            <a:off x="6812280" y="1773936"/>
            <a:ext cx="2697481" cy="416052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AE3294B-601D-D71D-C152-01BA4F572B9D}"/>
              </a:ext>
            </a:extLst>
          </p:cNvPr>
          <p:cNvSpPr txBox="1"/>
          <p:nvPr/>
        </p:nvSpPr>
        <p:spPr>
          <a:xfrm>
            <a:off x="7086600" y="2057400"/>
            <a:ext cx="1234440" cy="267766"/>
          </a:xfrm>
          <a:prstGeom prst="rect">
            <a:avLst/>
          </a:prstGeom>
          <a:noFill/>
        </p:spPr>
        <p:txBody>
          <a:bodyPr vert="horz" wrap="square" lIns="36576" tIns="18288" rIns="36576" bIns="18288" rtlCol="0">
            <a:spAutoFit/>
          </a:bodyPr>
          <a:lstStyle/>
          <a:p>
            <a:r>
              <a:rPr lang="en-US" sz="1500" b="1">
                <a:solidFill>
                  <a:srgbClr val="107C10"/>
                </a:solidFill>
                <a:latin typeface="Segoe UI" panose="020B0502040204020203" pitchFamily="34" charset="0"/>
              </a:rPr>
              <a:t>Trainer</a:t>
            </a:r>
          </a:p>
        </p:txBody>
      </p:sp>
      <p:sp>
        <p:nvSpPr>
          <p:cNvPr id="15" name="TextBox 14">
            <a:extLst>
              <a:ext uri="{FF2B5EF4-FFF2-40B4-BE49-F238E27FC236}">
                <a16:creationId xmlns:a16="http://schemas.microsoft.com/office/drawing/2014/main" id="{1ABCE875-3BA1-6400-FB97-1E511C273A98}"/>
              </a:ext>
            </a:extLst>
          </p:cNvPr>
          <p:cNvSpPr txBox="1"/>
          <p:nvPr/>
        </p:nvSpPr>
        <p:spPr>
          <a:xfrm>
            <a:off x="7086600" y="2578608"/>
            <a:ext cx="1828800" cy="944874"/>
          </a:xfrm>
          <a:prstGeom prst="rect">
            <a:avLst/>
          </a:prstGeom>
          <a:noFill/>
        </p:spPr>
        <p:txBody>
          <a:bodyPr vert="horz" wrap="square" lIns="36576" tIns="18288" rIns="36576" bIns="18288" rtlCol="0">
            <a:spAutoFit/>
          </a:bodyPr>
          <a:lstStyle/>
          <a:p>
            <a:r>
              <a:rPr lang="en-US" sz="1180">
                <a:solidFill>
                  <a:srgbClr val="201F1E"/>
                </a:solidFill>
                <a:latin typeface="Aptos" panose="020B0004020202020204" pitchFamily="34" charset="0"/>
              </a:rPr>
              <a:t>TRL SFTTrainer</a:t>
            </a:r>
          </a:p>
          <a:p>
            <a:r>
              <a:rPr lang="en-US" sz="1180">
                <a:solidFill>
                  <a:srgbClr val="201F1E"/>
                </a:solidFill>
                <a:latin typeface="Aptos" panose="020B0004020202020204" pitchFamily="34" charset="0"/>
              </a:rPr>
              <a:t>chat template</a:t>
            </a:r>
          </a:p>
          <a:p>
            <a:r>
              <a:rPr lang="en-US" sz="1180">
                <a:solidFill>
                  <a:srgbClr val="201F1E"/>
                </a:solidFill>
                <a:latin typeface="Aptos" panose="020B0004020202020204" pitchFamily="34" charset="0"/>
              </a:rPr>
              <a:t>8 epochs</a:t>
            </a:r>
          </a:p>
          <a:p>
            <a:r>
              <a:rPr lang="en-US" sz="1180">
                <a:solidFill>
                  <a:srgbClr val="201F1E"/>
                </a:solidFill>
                <a:latin typeface="Aptos" panose="020B0004020202020204" pitchFamily="34" charset="0"/>
              </a:rPr>
              <a:t>batch 2 x grad accum 4</a:t>
            </a:r>
          </a:p>
          <a:p>
            <a:r>
              <a:rPr lang="en-US" sz="1180">
                <a:solidFill>
                  <a:srgbClr val="201F1E"/>
                </a:solidFill>
                <a:latin typeface="Aptos" panose="020B0004020202020204" pitchFamily="34" charset="0"/>
              </a:rPr>
              <a:t>cosine LR schedule</a:t>
            </a:r>
          </a:p>
        </p:txBody>
      </p:sp>
      <p:sp>
        <p:nvSpPr>
          <p:cNvPr id="16" name="Rectangle: Rounded Corners 15">
            <a:extLst>
              <a:ext uri="{FF2B5EF4-FFF2-40B4-BE49-F238E27FC236}">
                <a16:creationId xmlns:a16="http://schemas.microsoft.com/office/drawing/2014/main" id="{78822711-B233-7114-9086-748F7C70B006}"/>
              </a:ext>
            </a:extLst>
          </p:cNvPr>
          <p:cNvSpPr/>
          <p:nvPr/>
        </p:nvSpPr>
        <p:spPr>
          <a:xfrm>
            <a:off x="9738360" y="1773936"/>
            <a:ext cx="1691640" cy="4160520"/>
          </a:xfrm>
          <a:prstGeom prst="roundRect">
            <a:avLst/>
          </a:prstGeom>
          <a:solidFill>
            <a:srgbClr val="2524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CACE3DE-FCE3-28BA-E125-BB763EA0D228}"/>
              </a:ext>
            </a:extLst>
          </p:cNvPr>
          <p:cNvSpPr txBox="1"/>
          <p:nvPr/>
        </p:nvSpPr>
        <p:spPr>
          <a:xfrm>
            <a:off x="10104120" y="2057400"/>
            <a:ext cx="914400" cy="267766"/>
          </a:xfrm>
          <a:prstGeom prst="rect">
            <a:avLst/>
          </a:prstGeom>
          <a:noFill/>
        </p:spPr>
        <p:txBody>
          <a:bodyPr vert="horz" wrap="square" lIns="36576" tIns="18288" rIns="36576" bIns="18288" rtlCol="0">
            <a:spAutoFit/>
          </a:bodyPr>
          <a:lstStyle/>
          <a:p>
            <a:pPr algn="ctr"/>
            <a:r>
              <a:rPr lang="en-US" sz="1500" b="1">
                <a:solidFill>
                  <a:srgbClr val="FFFFFF"/>
                </a:solidFill>
                <a:latin typeface="Segoe UI" panose="020B0502040204020203" pitchFamily="34" charset="0"/>
              </a:rPr>
              <a:t>Output</a:t>
            </a:r>
          </a:p>
        </p:txBody>
      </p:sp>
      <p:sp>
        <p:nvSpPr>
          <p:cNvPr id="18" name="TextBox 17">
            <a:extLst>
              <a:ext uri="{FF2B5EF4-FFF2-40B4-BE49-F238E27FC236}">
                <a16:creationId xmlns:a16="http://schemas.microsoft.com/office/drawing/2014/main" id="{124B0B97-A8AD-7064-44CB-52A5614ED888}"/>
              </a:ext>
            </a:extLst>
          </p:cNvPr>
          <p:cNvSpPr txBox="1"/>
          <p:nvPr/>
        </p:nvSpPr>
        <p:spPr>
          <a:xfrm>
            <a:off x="9948672" y="2706624"/>
            <a:ext cx="1252728" cy="701731"/>
          </a:xfrm>
          <a:prstGeom prst="rect">
            <a:avLst/>
          </a:prstGeom>
          <a:noFill/>
        </p:spPr>
        <p:txBody>
          <a:bodyPr vert="horz" wrap="square" lIns="36576" tIns="18288" rIns="36576" bIns="18288" rtlCol="0">
            <a:spAutoFit/>
          </a:bodyPr>
          <a:lstStyle/>
          <a:p>
            <a:pPr algn="ctr"/>
            <a:r>
              <a:rPr lang="en-US" sz="1080" b="1">
                <a:solidFill>
                  <a:srgbClr val="D7EBFF"/>
                </a:solidFill>
                <a:latin typeface="Aptos" panose="020B0004020202020204" pitchFamily="34" charset="0"/>
              </a:rPr>
              <a:t>LoRA adapter</a:t>
            </a:r>
          </a:p>
          <a:p>
            <a:pPr algn="ctr"/>
            <a:r>
              <a:rPr lang="en-US" sz="1080" b="1">
                <a:solidFill>
                  <a:srgbClr val="D7EBFF"/>
                </a:solidFill>
                <a:latin typeface="Aptos" panose="020B0004020202020204" pitchFamily="34" charset="0"/>
              </a:rPr>
              <a:t>metadata</a:t>
            </a:r>
          </a:p>
          <a:p>
            <a:pPr algn="ctr"/>
            <a:r>
              <a:rPr lang="en-US" sz="1080" b="1">
                <a:solidFill>
                  <a:srgbClr val="D7EBFF"/>
                </a:solidFill>
                <a:latin typeface="Aptos" panose="020B0004020202020204" pitchFamily="34" charset="0"/>
              </a:rPr>
              <a:t>registered model</a:t>
            </a:r>
          </a:p>
          <a:p>
            <a:pPr algn="ctr"/>
            <a:r>
              <a:rPr lang="en-US" sz="1080" b="1">
                <a:solidFill>
                  <a:srgbClr val="D7EBFF"/>
                </a:solidFill>
                <a:latin typeface="Aptos" panose="020B0004020202020204" pitchFamily="34" charset="0"/>
              </a:rPr>
              <a:t>deploy package</a:t>
            </a:r>
          </a:p>
        </p:txBody>
      </p:sp>
      <p:cxnSp>
        <p:nvCxnSpPr>
          <p:cNvPr id="19" name="Straight Connector 18">
            <a:extLst>
              <a:ext uri="{FF2B5EF4-FFF2-40B4-BE49-F238E27FC236}">
                <a16:creationId xmlns:a16="http://schemas.microsoft.com/office/drawing/2014/main" id="{83147C7A-DEBB-4E42-9F31-E4FB29E9F60F}"/>
              </a:ext>
            </a:extLst>
          </p:cNvPr>
          <p:cNvCxnSpPr/>
          <p:nvPr/>
        </p:nvCxnSpPr>
        <p:spPr>
          <a:xfrm>
            <a:off x="3566160" y="3749040"/>
            <a:ext cx="164592"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333B2E8-FBCC-7940-F1AB-76BC300BFEBB}"/>
              </a:ext>
            </a:extLst>
          </p:cNvPr>
          <p:cNvCxnSpPr/>
          <p:nvPr/>
        </p:nvCxnSpPr>
        <p:spPr>
          <a:xfrm>
            <a:off x="6620256" y="3749040"/>
            <a:ext cx="164592" cy="0"/>
          </a:xfrm>
          <a:prstGeom prst="line">
            <a:avLst/>
          </a:prstGeom>
          <a:ln w="25400">
            <a:solidFill>
              <a:srgbClr val="5C2D9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B0E2CEF-5E24-758A-5261-0C412BC89AD9}"/>
              </a:ext>
            </a:extLst>
          </p:cNvPr>
          <p:cNvCxnSpPr/>
          <p:nvPr/>
        </p:nvCxnSpPr>
        <p:spPr>
          <a:xfrm>
            <a:off x="9528048" y="3749040"/>
            <a:ext cx="182880" cy="0"/>
          </a:xfrm>
          <a:prstGeom prst="line">
            <a:avLst/>
          </a:prstGeom>
          <a:ln w="25400">
            <a:solidFill>
              <a:srgbClr val="107C10"/>
            </a:solidFill>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1F06B55-6B4C-2A0C-85EA-E37CA35E5089}"/>
              </a:ext>
            </a:extLst>
          </p:cNvPr>
          <p:cNvSpPr/>
          <p:nvPr/>
        </p:nvSpPr>
        <p:spPr>
          <a:xfrm>
            <a:off x="1261872" y="6181344"/>
            <a:ext cx="9646920" cy="256032"/>
          </a:xfrm>
          <a:prstGeom prst="roundRect">
            <a:avLst/>
          </a:prstGeom>
          <a:solidFill>
            <a:srgbClr val="D7EB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5F29286-28CF-9888-E38D-A30577D0BADF}"/>
              </a:ext>
            </a:extLst>
          </p:cNvPr>
          <p:cNvSpPr txBox="1"/>
          <p:nvPr/>
        </p:nvSpPr>
        <p:spPr>
          <a:xfrm>
            <a:off x="1417320" y="6263640"/>
            <a:ext cx="9326880" cy="156966"/>
          </a:xfrm>
          <a:prstGeom prst="rect">
            <a:avLst/>
          </a:prstGeom>
          <a:noFill/>
        </p:spPr>
        <p:txBody>
          <a:bodyPr vert="horz" wrap="square" lIns="36576" tIns="18288" rIns="36576" bIns="18288" rtlCol="0">
            <a:spAutoFit/>
          </a:bodyPr>
          <a:lstStyle/>
          <a:p>
            <a:pPr algn="ctr"/>
            <a:r>
              <a:rPr lang="en-US" sz="780" b="1">
                <a:solidFill>
                  <a:srgbClr val="004578"/>
                </a:solidFill>
                <a:latin typeface="Segoe UI" panose="020B0502040204020203" pitchFamily="34" charset="0"/>
              </a:rPr>
              <a:t>Memory shape: base weights ~8GB, LoRA trainable params small, total fits comfortably on a single A100 80GB.</a:t>
            </a:r>
          </a:p>
        </p:txBody>
      </p:sp>
    </p:spTree>
    <p:extLst>
      <p:ext uri="{BB962C8B-B14F-4D97-AF65-F5344CB8AC3E}">
        <p14:creationId xmlns:p14="http://schemas.microsoft.com/office/powerpoint/2010/main" val="2679890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1CB25D-B975-7EC5-C722-08EDE4B5C3FA}"/>
              </a:ext>
            </a:extLst>
          </p:cNvPr>
          <p:cNvSpPr/>
          <p:nvPr/>
        </p:nvSpPr>
        <p:spPr>
          <a:xfrm>
            <a:off x="0" y="0"/>
            <a:ext cx="12191695" cy="6858000"/>
          </a:xfrm>
          <a:prstGeom prst="rect">
            <a:avLst/>
          </a:prstGeom>
          <a:solidFill>
            <a:srgbClr val="F7F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ACFB86-AE5E-11D8-FAD3-6F39FE95C329}"/>
              </a:ext>
            </a:extLst>
          </p:cNvPr>
          <p:cNvSpPr txBox="1"/>
          <p:nvPr/>
        </p:nvSpPr>
        <p:spPr>
          <a:xfrm>
            <a:off x="502920" y="228600"/>
            <a:ext cx="6400800" cy="183127"/>
          </a:xfrm>
          <a:prstGeom prst="rect">
            <a:avLst/>
          </a:prstGeom>
          <a:noFill/>
        </p:spPr>
        <p:txBody>
          <a:bodyPr vert="horz" wrap="square" lIns="36576" tIns="18288" rIns="36576" bIns="18288" rtlCol="0">
            <a:spAutoFit/>
          </a:bodyPr>
          <a:lstStyle/>
          <a:p>
            <a:r>
              <a:rPr lang="en-US" sz="950" b="1">
                <a:solidFill>
                  <a:srgbClr val="0078D4"/>
                </a:solidFill>
                <a:latin typeface="Segoe UI" panose="020B0502040204020203" pitchFamily="34" charset="0"/>
              </a:rPr>
              <a:t>Molina EIM | Gemma 4B-class SLM fine-tuning demo</a:t>
            </a:r>
          </a:p>
        </p:txBody>
      </p:sp>
      <p:sp>
        <p:nvSpPr>
          <p:cNvPr id="4" name="TextBox 3">
            <a:extLst>
              <a:ext uri="{FF2B5EF4-FFF2-40B4-BE49-F238E27FC236}">
                <a16:creationId xmlns:a16="http://schemas.microsoft.com/office/drawing/2014/main" id="{9800313A-9BB5-5422-A035-D6893C32EE05}"/>
              </a:ext>
            </a:extLst>
          </p:cNvPr>
          <p:cNvSpPr txBox="1"/>
          <p:nvPr/>
        </p:nvSpPr>
        <p:spPr>
          <a:xfrm>
            <a:off x="502920" y="502920"/>
            <a:ext cx="8046720" cy="483209"/>
          </a:xfrm>
          <a:prstGeom prst="rect">
            <a:avLst/>
          </a:prstGeom>
          <a:noFill/>
        </p:spPr>
        <p:txBody>
          <a:bodyPr vert="horz" wrap="square" lIns="36576" tIns="18288" rIns="36576" bIns="18288" rtlCol="0">
            <a:spAutoFit/>
          </a:bodyPr>
          <a:lstStyle/>
          <a:p>
            <a:r>
              <a:rPr lang="en-US" sz="2900" b="1">
                <a:solidFill>
                  <a:srgbClr val="201F1E"/>
                </a:solidFill>
                <a:latin typeface="Aptos Display" panose="020B0004020202020204" pitchFamily="34" charset="0"/>
              </a:rPr>
              <a:t>Live serving: one endpoint, two behaviors</a:t>
            </a:r>
          </a:p>
        </p:txBody>
      </p:sp>
      <p:sp>
        <p:nvSpPr>
          <p:cNvPr id="5" name="TextBox 4">
            <a:extLst>
              <a:ext uri="{FF2B5EF4-FFF2-40B4-BE49-F238E27FC236}">
                <a16:creationId xmlns:a16="http://schemas.microsoft.com/office/drawing/2014/main" id="{5F6B534F-8159-437F-AA30-B530B64EC908}"/>
              </a:ext>
            </a:extLst>
          </p:cNvPr>
          <p:cNvSpPr txBox="1"/>
          <p:nvPr/>
        </p:nvSpPr>
        <p:spPr>
          <a:xfrm>
            <a:off x="9646920" y="256032"/>
            <a:ext cx="2057400" cy="167738"/>
          </a:xfrm>
          <a:prstGeom prst="rect">
            <a:avLst/>
          </a:prstGeom>
          <a:noFill/>
        </p:spPr>
        <p:txBody>
          <a:bodyPr vert="horz" wrap="square" lIns="36576" tIns="18288" rIns="36576" bIns="18288" rtlCol="0">
            <a:spAutoFit/>
          </a:bodyPr>
          <a:lstStyle/>
          <a:p>
            <a:pPr algn="r"/>
            <a:r>
              <a:rPr lang="en-US" sz="850">
                <a:solidFill>
                  <a:srgbClr val="605E5C"/>
                </a:solidFill>
                <a:latin typeface="Segoe UI" panose="020B0502040204020203" pitchFamily="34" charset="0"/>
              </a:rPr>
              <a:t>Microsoft AI + AzureML</a:t>
            </a:r>
          </a:p>
        </p:txBody>
      </p:sp>
      <p:sp>
        <p:nvSpPr>
          <p:cNvPr id="6" name="TextBox 5">
            <a:extLst>
              <a:ext uri="{FF2B5EF4-FFF2-40B4-BE49-F238E27FC236}">
                <a16:creationId xmlns:a16="http://schemas.microsoft.com/office/drawing/2014/main" id="{8BAEA880-60F4-77FC-7498-7B73DF3C67AC}"/>
              </a:ext>
            </a:extLst>
          </p:cNvPr>
          <p:cNvSpPr txBox="1"/>
          <p:nvPr/>
        </p:nvSpPr>
        <p:spPr>
          <a:xfrm>
            <a:off x="594360" y="1143000"/>
            <a:ext cx="8412480" cy="443198"/>
          </a:xfrm>
          <a:prstGeom prst="rect">
            <a:avLst/>
          </a:prstGeom>
          <a:noFill/>
        </p:spPr>
        <p:txBody>
          <a:bodyPr vert="horz" wrap="square" lIns="36576" tIns="18288" rIns="36576" bIns="18288" rtlCol="0">
            <a:spAutoFit/>
          </a:bodyPr>
          <a:lstStyle/>
          <a:p>
            <a:r>
              <a:rPr lang="en-US" sz="1320">
                <a:solidFill>
                  <a:srgbClr val="605E5C"/>
                </a:solidFill>
                <a:latin typeface="Aptos" panose="020B0004020202020204" pitchFamily="34" charset="0"/>
              </a:rPr>
              <a:t>The Streamlit demo calls the same AzureML endpoint twice: base behavior with the adapter disabled, and fine-tuned behavior with the adapter enabled.</a:t>
            </a:r>
          </a:p>
        </p:txBody>
      </p:sp>
      <p:sp>
        <p:nvSpPr>
          <p:cNvPr id="7" name="Rectangle: Rounded Corners 6">
            <a:extLst>
              <a:ext uri="{FF2B5EF4-FFF2-40B4-BE49-F238E27FC236}">
                <a16:creationId xmlns:a16="http://schemas.microsoft.com/office/drawing/2014/main" id="{6DE11E28-E5E1-8500-8435-4064A0DAD306}"/>
              </a:ext>
            </a:extLst>
          </p:cNvPr>
          <p:cNvSpPr/>
          <p:nvPr/>
        </p:nvSpPr>
        <p:spPr>
          <a:xfrm>
            <a:off x="749808" y="1874520"/>
            <a:ext cx="3063240" cy="352044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FEB2255-708B-519E-8B48-2D6B6B107C5F}"/>
              </a:ext>
            </a:extLst>
          </p:cNvPr>
          <p:cNvSpPr txBox="1"/>
          <p:nvPr/>
        </p:nvSpPr>
        <p:spPr>
          <a:xfrm>
            <a:off x="1042416" y="2167128"/>
            <a:ext cx="1188720" cy="267766"/>
          </a:xfrm>
          <a:prstGeom prst="rect">
            <a:avLst/>
          </a:prstGeom>
          <a:noFill/>
        </p:spPr>
        <p:txBody>
          <a:bodyPr vert="horz" wrap="square" lIns="36576" tIns="18288" rIns="36576" bIns="18288" rtlCol="0">
            <a:spAutoFit/>
          </a:bodyPr>
          <a:lstStyle/>
          <a:p>
            <a:r>
              <a:rPr lang="en-US" sz="1500" b="1">
                <a:solidFill>
                  <a:srgbClr val="004578"/>
                </a:solidFill>
                <a:latin typeface="Segoe UI" panose="020B0502040204020203" pitchFamily="34" charset="0"/>
              </a:rPr>
              <a:t>Base call</a:t>
            </a:r>
          </a:p>
        </p:txBody>
      </p:sp>
      <p:sp>
        <p:nvSpPr>
          <p:cNvPr id="9" name="TextBox 8">
            <a:extLst>
              <a:ext uri="{FF2B5EF4-FFF2-40B4-BE49-F238E27FC236}">
                <a16:creationId xmlns:a16="http://schemas.microsoft.com/office/drawing/2014/main" id="{2B6AD7DC-45C6-CAC4-C79F-70614DE892E9}"/>
              </a:ext>
            </a:extLst>
          </p:cNvPr>
          <p:cNvSpPr txBox="1"/>
          <p:nvPr/>
        </p:nvSpPr>
        <p:spPr>
          <a:xfrm>
            <a:off x="1042416" y="2615184"/>
            <a:ext cx="1737360" cy="198516"/>
          </a:xfrm>
          <a:prstGeom prst="rect">
            <a:avLst/>
          </a:prstGeom>
          <a:noFill/>
        </p:spPr>
        <p:txBody>
          <a:bodyPr vert="horz" wrap="square" lIns="36576" tIns="18288" rIns="36576" bIns="18288" rtlCol="0">
            <a:spAutoFit/>
          </a:bodyPr>
          <a:lstStyle/>
          <a:p>
            <a:r>
              <a:rPr lang="en-US" sz="1050" b="1">
                <a:solidFill>
                  <a:srgbClr val="004578"/>
                </a:solidFill>
                <a:latin typeface="Consolas" panose="020B0609020204030204" pitchFamily="49" charset="0"/>
              </a:rPr>
              <a:t>use_adapter=false</a:t>
            </a:r>
          </a:p>
        </p:txBody>
      </p:sp>
      <p:sp>
        <p:nvSpPr>
          <p:cNvPr id="10" name="TextBox 9">
            <a:extLst>
              <a:ext uri="{FF2B5EF4-FFF2-40B4-BE49-F238E27FC236}">
                <a16:creationId xmlns:a16="http://schemas.microsoft.com/office/drawing/2014/main" id="{46B16CFE-1199-94FA-AF6F-4AA2BE465B67}"/>
              </a:ext>
            </a:extLst>
          </p:cNvPr>
          <p:cNvSpPr txBox="1"/>
          <p:nvPr/>
        </p:nvSpPr>
        <p:spPr>
          <a:xfrm>
            <a:off x="1042416" y="3054096"/>
            <a:ext cx="2240280" cy="614014"/>
          </a:xfrm>
          <a:prstGeom prst="rect">
            <a:avLst/>
          </a:prstGeom>
          <a:noFill/>
        </p:spPr>
        <p:txBody>
          <a:bodyPr vert="horz" wrap="square" lIns="36576" tIns="18288" rIns="36576" bIns="18288" rtlCol="0">
            <a:spAutoFit/>
          </a:bodyPr>
          <a:lstStyle/>
          <a:p>
            <a:r>
              <a:rPr lang="en-US" sz="1250">
                <a:solidFill>
                  <a:srgbClr val="605E5C"/>
                </a:solidFill>
                <a:latin typeface="Aptos" panose="020B0004020202020204" pitchFamily="34" charset="0"/>
              </a:rPr>
              <a:t>Good general reasoning, but often brittle selectors and incomplete workflow steps.</a:t>
            </a:r>
          </a:p>
        </p:txBody>
      </p:sp>
      <p:sp>
        <p:nvSpPr>
          <p:cNvPr id="11" name="Rectangle: Rounded Corners 10">
            <a:extLst>
              <a:ext uri="{FF2B5EF4-FFF2-40B4-BE49-F238E27FC236}">
                <a16:creationId xmlns:a16="http://schemas.microsoft.com/office/drawing/2014/main" id="{0B5D2931-26F1-CDED-9064-2E055B7FC25F}"/>
              </a:ext>
            </a:extLst>
          </p:cNvPr>
          <p:cNvSpPr/>
          <p:nvPr/>
        </p:nvSpPr>
        <p:spPr>
          <a:xfrm>
            <a:off x="4526280" y="1691640"/>
            <a:ext cx="3063240" cy="3886200"/>
          </a:xfrm>
          <a:prstGeom prst="roundRect">
            <a:avLst/>
          </a:prstGeom>
          <a:solidFill>
            <a:srgbClr val="2524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9507EFA-5257-EB6C-ACAA-30BB4A361E90}"/>
              </a:ext>
            </a:extLst>
          </p:cNvPr>
          <p:cNvSpPr txBox="1"/>
          <p:nvPr/>
        </p:nvSpPr>
        <p:spPr>
          <a:xfrm>
            <a:off x="4892040" y="2029968"/>
            <a:ext cx="2331720" cy="498598"/>
          </a:xfrm>
          <a:prstGeom prst="rect">
            <a:avLst/>
          </a:prstGeom>
          <a:noFill/>
        </p:spPr>
        <p:txBody>
          <a:bodyPr vert="horz" wrap="square" lIns="36576" tIns="18288" rIns="36576" bIns="18288" rtlCol="0">
            <a:spAutoFit/>
          </a:bodyPr>
          <a:lstStyle/>
          <a:p>
            <a:pPr algn="ctr"/>
            <a:r>
              <a:rPr lang="en-US" sz="1500" b="1">
                <a:solidFill>
                  <a:srgbClr val="FFFFFF"/>
                </a:solidFill>
                <a:latin typeface="Aptos Display" panose="020B0004020202020204" pitchFamily="34" charset="0"/>
              </a:rPr>
              <a:t>AzureML managed online endpoint</a:t>
            </a:r>
          </a:p>
        </p:txBody>
      </p:sp>
      <p:sp>
        <p:nvSpPr>
          <p:cNvPr id="13" name="Oval 12">
            <a:extLst>
              <a:ext uri="{FF2B5EF4-FFF2-40B4-BE49-F238E27FC236}">
                <a16:creationId xmlns:a16="http://schemas.microsoft.com/office/drawing/2014/main" id="{29CC9A9F-FEFF-11C5-F31B-59BF4AB7499B}"/>
              </a:ext>
            </a:extLst>
          </p:cNvPr>
          <p:cNvSpPr/>
          <p:nvPr/>
        </p:nvSpPr>
        <p:spPr>
          <a:xfrm>
            <a:off x="5257800" y="2788920"/>
            <a:ext cx="713232" cy="713232"/>
          </a:xfrm>
          <a:prstGeom prst="ellipse">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7BE589E-3DD9-E21D-5388-348360200101}"/>
              </a:ext>
            </a:extLst>
          </p:cNvPr>
          <p:cNvSpPr/>
          <p:nvPr/>
        </p:nvSpPr>
        <p:spPr>
          <a:xfrm>
            <a:off x="6144768" y="2788920"/>
            <a:ext cx="713232" cy="713232"/>
          </a:xfrm>
          <a:prstGeom prst="ellipse">
            <a:avLst/>
          </a:prstGeom>
          <a:solidFill>
            <a:srgbClr val="5C2D9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AC96129-E6E8-05A8-6539-7A8ED94AD14D}"/>
              </a:ext>
            </a:extLst>
          </p:cNvPr>
          <p:cNvSpPr/>
          <p:nvPr/>
        </p:nvSpPr>
        <p:spPr>
          <a:xfrm>
            <a:off x="6565392" y="3529584"/>
            <a:ext cx="713232" cy="713232"/>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780BE5F-C0D2-F777-7FBF-732DC8D0E3C8}"/>
              </a:ext>
            </a:extLst>
          </p:cNvPr>
          <p:cNvSpPr/>
          <p:nvPr/>
        </p:nvSpPr>
        <p:spPr>
          <a:xfrm>
            <a:off x="5669280" y="3529584"/>
            <a:ext cx="713232" cy="713232"/>
          </a:xfrm>
          <a:prstGeom prst="ellipse">
            <a:avLst/>
          </a:prstGeom>
          <a:solidFill>
            <a:srgbClr val="0383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30A038F-EC9D-99F8-396E-01F16461EF29}"/>
              </a:ext>
            </a:extLst>
          </p:cNvPr>
          <p:cNvSpPr txBox="1"/>
          <p:nvPr/>
        </p:nvSpPr>
        <p:spPr>
          <a:xfrm>
            <a:off x="5641848" y="3182112"/>
            <a:ext cx="1051560" cy="498598"/>
          </a:xfrm>
          <a:prstGeom prst="rect">
            <a:avLst/>
          </a:prstGeom>
          <a:noFill/>
        </p:spPr>
        <p:txBody>
          <a:bodyPr vert="horz" wrap="square" lIns="36576" tIns="18288" rIns="36576" bIns="18288" rtlCol="0">
            <a:spAutoFit/>
          </a:bodyPr>
          <a:lstStyle/>
          <a:p>
            <a:pPr algn="ctr"/>
            <a:r>
              <a:rPr lang="en-US" sz="1500" b="1">
                <a:solidFill>
                  <a:srgbClr val="FFFFFF"/>
                </a:solidFill>
                <a:latin typeface="Aptos Display" panose="020B0004020202020204" pitchFamily="34" charset="0"/>
              </a:rPr>
              <a:t>base +</a:t>
            </a:r>
          </a:p>
          <a:p>
            <a:pPr algn="ctr"/>
            <a:r>
              <a:rPr lang="en-US" sz="1500" b="1">
                <a:solidFill>
                  <a:srgbClr val="FFFFFF"/>
                </a:solidFill>
                <a:latin typeface="Aptos Display" panose="020B0004020202020204" pitchFamily="34" charset="0"/>
              </a:rPr>
              <a:t>LoRA</a:t>
            </a:r>
          </a:p>
        </p:txBody>
      </p:sp>
      <p:sp>
        <p:nvSpPr>
          <p:cNvPr id="18" name="TextBox 17">
            <a:extLst>
              <a:ext uri="{FF2B5EF4-FFF2-40B4-BE49-F238E27FC236}">
                <a16:creationId xmlns:a16="http://schemas.microsoft.com/office/drawing/2014/main" id="{D4263B94-129A-9393-1D1B-D398E2C63E3B}"/>
              </a:ext>
            </a:extLst>
          </p:cNvPr>
          <p:cNvSpPr txBox="1"/>
          <p:nvPr/>
        </p:nvSpPr>
        <p:spPr>
          <a:xfrm>
            <a:off x="4983480" y="4498848"/>
            <a:ext cx="2240280" cy="461665"/>
          </a:xfrm>
          <a:prstGeom prst="rect">
            <a:avLst/>
          </a:prstGeom>
          <a:noFill/>
        </p:spPr>
        <p:txBody>
          <a:bodyPr vert="horz" wrap="square" lIns="36576" tIns="18288" rIns="36576" bIns="18288" rtlCol="0">
            <a:spAutoFit/>
          </a:bodyPr>
          <a:lstStyle/>
          <a:p>
            <a:pPr algn="ctr"/>
            <a:r>
              <a:rPr lang="en-US" sz="920">
                <a:solidFill>
                  <a:srgbClr val="D7EBFF"/>
                </a:solidFill>
                <a:latin typeface="Segoe UI" panose="020B0502040204020203" pitchFamily="34" charset="0"/>
              </a:rPr>
              <a:t>Deployment: ftadapter</a:t>
            </a:r>
          </a:p>
          <a:p>
            <a:pPr algn="ctr"/>
            <a:r>
              <a:rPr lang="en-US" sz="920">
                <a:solidFill>
                  <a:srgbClr val="D7EBFF"/>
                </a:solidFill>
                <a:latin typeface="Segoe UI" panose="020B0502040204020203" pitchFamily="34" charset="0"/>
              </a:rPr>
              <a:t>SKU: Standard_NC24ads_A100_v4</a:t>
            </a:r>
          </a:p>
          <a:p>
            <a:pPr algn="ctr"/>
            <a:r>
              <a:rPr lang="en-US" sz="920">
                <a:solidFill>
                  <a:srgbClr val="D7EBFF"/>
                </a:solidFill>
                <a:latin typeface="Segoe UI" panose="020B0502040204020203" pitchFamily="34" charset="0"/>
              </a:rPr>
              <a:t>Mode: catalog base + LoRA adapter</a:t>
            </a:r>
          </a:p>
        </p:txBody>
      </p:sp>
      <p:sp>
        <p:nvSpPr>
          <p:cNvPr id="19" name="Rectangle: Rounded Corners 18">
            <a:extLst>
              <a:ext uri="{FF2B5EF4-FFF2-40B4-BE49-F238E27FC236}">
                <a16:creationId xmlns:a16="http://schemas.microsoft.com/office/drawing/2014/main" id="{3DEEED32-9938-4B93-AE0E-9DFF740CBB0E}"/>
              </a:ext>
            </a:extLst>
          </p:cNvPr>
          <p:cNvSpPr/>
          <p:nvPr/>
        </p:nvSpPr>
        <p:spPr>
          <a:xfrm>
            <a:off x="8321040" y="1874520"/>
            <a:ext cx="3063240" cy="3520440"/>
          </a:xfrm>
          <a:prstGeom prst="roundRect">
            <a:avLst/>
          </a:prstGeom>
          <a:solidFill>
            <a:srgbClr val="FFFFFF"/>
          </a:solidFill>
          <a:ln w="6350">
            <a:solidFill>
              <a:srgbClr val="D2D0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459C56B-BDC5-08BE-D362-210081B61A55}"/>
              </a:ext>
            </a:extLst>
          </p:cNvPr>
          <p:cNvSpPr txBox="1"/>
          <p:nvPr/>
        </p:nvSpPr>
        <p:spPr>
          <a:xfrm>
            <a:off x="8613648" y="2167128"/>
            <a:ext cx="1600200" cy="267766"/>
          </a:xfrm>
          <a:prstGeom prst="rect">
            <a:avLst/>
          </a:prstGeom>
          <a:noFill/>
        </p:spPr>
        <p:txBody>
          <a:bodyPr vert="horz" wrap="square" lIns="36576" tIns="18288" rIns="36576" bIns="18288" rtlCol="0">
            <a:spAutoFit/>
          </a:bodyPr>
          <a:lstStyle/>
          <a:p>
            <a:r>
              <a:rPr lang="en-US" sz="1500" b="1">
                <a:solidFill>
                  <a:srgbClr val="107C10"/>
                </a:solidFill>
                <a:latin typeface="Segoe UI" panose="020B0502040204020203" pitchFamily="34" charset="0"/>
              </a:rPr>
              <a:t>Fine-tuned call</a:t>
            </a:r>
          </a:p>
        </p:txBody>
      </p:sp>
      <p:sp>
        <p:nvSpPr>
          <p:cNvPr id="21" name="TextBox 20">
            <a:extLst>
              <a:ext uri="{FF2B5EF4-FFF2-40B4-BE49-F238E27FC236}">
                <a16:creationId xmlns:a16="http://schemas.microsoft.com/office/drawing/2014/main" id="{10585C69-6240-A364-368B-5F56C3C3E485}"/>
              </a:ext>
            </a:extLst>
          </p:cNvPr>
          <p:cNvSpPr txBox="1"/>
          <p:nvPr/>
        </p:nvSpPr>
        <p:spPr>
          <a:xfrm>
            <a:off x="8613648" y="2615184"/>
            <a:ext cx="1737360" cy="198516"/>
          </a:xfrm>
          <a:prstGeom prst="rect">
            <a:avLst/>
          </a:prstGeom>
          <a:noFill/>
        </p:spPr>
        <p:txBody>
          <a:bodyPr vert="horz" wrap="square" lIns="36576" tIns="18288" rIns="36576" bIns="18288" rtlCol="0">
            <a:spAutoFit/>
          </a:bodyPr>
          <a:lstStyle/>
          <a:p>
            <a:r>
              <a:rPr lang="en-US" sz="1050" b="1">
                <a:solidFill>
                  <a:srgbClr val="107C10"/>
                </a:solidFill>
                <a:latin typeface="Consolas" panose="020B0609020204030204" pitchFamily="49" charset="0"/>
              </a:rPr>
              <a:t>use_adapter=true</a:t>
            </a:r>
          </a:p>
        </p:txBody>
      </p:sp>
      <p:sp>
        <p:nvSpPr>
          <p:cNvPr id="22" name="TextBox 21">
            <a:extLst>
              <a:ext uri="{FF2B5EF4-FFF2-40B4-BE49-F238E27FC236}">
                <a16:creationId xmlns:a16="http://schemas.microsoft.com/office/drawing/2014/main" id="{E24A5933-5E63-D86E-8618-A0989DD8BD14}"/>
              </a:ext>
            </a:extLst>
          </p:cNvPr>
          <p:cNvSpPr txBox="1"/>
          <p:nvPr/>
        </p:nvSpPr>
        <p:spPr>
          <a:xfrm>
            <a:off x="8613648" y="3054096"/>
            <a:ext cx="2240280" cy="614014"/>
          </a:xfrm>
          <a:prstGeom prst="rect">
            <a:avLst/>
          </a:prstGeom>
          <a:noFill/>
        </p:spPr>
        <p:txBody>
          <a:bodyPr vert="horz" wrap="square" lIns="36576" tIns="18288" rIns="36576" bIns="18288" rtlCol="0">
            <a:spAutoFit/>
          </a:bodyPr>
          <a:lstStyle/>
          <a:p>
            <a:r>
              <a:rPr lang="en-US" sz="1250">
                <a:solidFill>
                  <a:srgbClr val="605E5C"/>
                </a:solidFill>
                <a:latin typeface="Aptos" panose="020B0004020202020204" pitchFamily="34" charset="0"/>
              </a:rPr>
              <a:t>Learns the EIM contract: stable data-eim selectors, action order, and no prose.</a:t>
            </a:r>
          </a:p>
        </p:txBody>
      </p:sp>
      <p:cxnSp>
        <p:nvCxnSpPr>
          <p:cNvPr id="23" name="Straight Connector 22">
            <a:extLst>
              <a:ext uri="{FF2B5EF4-FFF2-40B4-BE49-F238E27FC236}">
                <a16:creationId xmlns:a16="http://schemas.microsoft.com/office/drawing/2014/main" id="{C86E6A0D-7D5D-6CA9-6BD2-64ABE546B60D}"/>
              </a:ext>
            </a:extLst>
          </p:cNvPr>
          <p:cNvCxnSpPr/>
          <p:nvPr/>
        </p:nvCxnSpPr>
        <p:spPr>
          <a:xfrm>
            <a:off x="3822192" y="3529584"/>
            <a:ext cx="658368" cy="0"/>
          </a:xfrm>
          <a:prstGeom prst="line">
            <a:avLst/>
          </a:prstGeom>
          <a:ln w="381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AA624DCF-5404-9FC2-374E-4543BD1FC751}"/>
              </a:ext>
            </a:extLst>
          </p:cNvPr>
          <p:cNvCxnSpPr/>
          <p:nvPr/>
        </p:nvCxnSpPr>
        <p:spPr>
          <a:xfrm>
            <a:off x="7607808" y="3529584"/>
            <a:ext cx="667512" cy="0"/>
          </a:xfrm>
          <a:prstGeom prst="line">
            <a:avLst/>
          </a:prstGeom>
          <a:ln w="38100">
            <a:solidFill>
              <a:srgbClr val="107C10"/>
            </a:solidFill>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7BFAB17E-964F-B2DF-D777-383945946A52}"/>
              </a:ext>
            </a:extLst>
          </p:cNvPr>
          <p:cNvSpPr/>
          <p:nvPr/>
        </p:nvSpPr>
        <p:spPr>
          <a:xfrm>
            <a:off x="1993392" y="5998464"/>
            <a:ext cx="8211312" cy="402336"/>
          </a:xfrm>
          <a:prstGeom prst="roundRect">
            <a:avLst/>
          </a:prstGeom>
          <a:solidFill>
            <a:srgbClr val="DFF6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CD11B8A-D5D5-0DD6-4DD5-62284C376588}"/>
              </a:ext>
            </a:extLst>
          </p:cNvPr>
          <p:cNvSpPr txBox="1"/>
          <p:nvPr/>
        </p:nvSpPr>
        <p:spPr>
          <a:xfrm>
            <a:off x="2176272" y="6126480"/>
            <a:ext cx="7845552" cy="172355"/>
          </a:xfrm>
          <a:prstGeom prst="rect">
            <a:avLst/>
          </a:prstGeom>
          <a:noFill/>
        </p:spPr>
        <p:txBody>
          <a:bodyPr vert="horz" wrap="square" lIns="36576" tIns="18288" rIns="36576" bIns="18288" rtlCol="0">
            <a:spAutoFit/>
          </a:bodyPr>
          <a:lstStyle/>
          <a:p>
            <a:pPr algn="ctr"/>
            <a:r>
              <a:rPr lang="en-US" sz="880" b="1">
                <a:solidFill>
                  <a:srgbClr val="107C10"/>
                </a:solidFill>
                <a:latin typeface="Segoe UI" panose="020B0502040204020203" pitchFamily="34" charset="0"/>
              </a:rPr>
              <a:t>Cost posture: one A100 endpoint for the demo, delete immediately afterward to stop hourly billing.</a:t>
            </a:r>
          </a:p>
        </p:txBody>
      </p:sp>
    </p:spTree>
    <p:extLst>
      <p:ext uri="{BB962C8B-B14F-4D97-AF65-F5344CB8AC3E}">
        <p14:creationId xmlns:p14="http://schemas.microsoft.com/office/powerpoint/2010/main" val="1001487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D6A5BD-6843-5135-50A9-FFEF9B2338EF}"/>
              </a:ext>
            </a:extLst>
          </p:cNvPr>
          <p:cNvSpPr/>
          <p:nvPr/>
        </p:nvSpPr>
        <p:spPr>
          <a:xfrm>
            <a:off x="0" y="0"/>
            <a:ext cx="12191695" cy="6858000"/>
          </a:xfrm>
          <a:prstGeom prst="rect">
            <a:avLst/>
          </a:prstGeom>
          <a:solidFill>
            <a:srgbClr val="25242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49724F9-FF7D-A7D7-E910-4E58FA05EDDB}"/>
              </a:ext>
            </a:extLst>
          </p:cNvPr>
          <p:cNvSpPr/>
          <p:nvPr/>
        </p:nvSpPr>
        <p:spPr>
          <a:xfrm>
            <a:off x="9875520" y="-868680"/>
            <a:ext cx="2743200" cy="2743200"/>
          </a:xfrm>
          <a:prstGeom prst="ellipse">
            <a:avLst/>
          </a:prstGeom>
          <a:solidFill>
            <a:srgbClr val="00B7C3">
              <a:alpha val="7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BA3E3AA-679B-1C38-E7D3-CA60023A3D87}"/>
              </a:ext>
            </a:extLst>
          </p:cNvPr>
          <p:cNvSpPr txBox="1"/>
          <p:nvPr/>
        </p:nvSpPr>
        <p:spPr>
          <a:xfrm>
            <a:off x="658367" y="658368"/>
            <a:ext cx="8043373" cy="513987"/>
          </a:xfrm>
          <a:prstGeom prst="rect">
            <a:avLst/>
          </a:prstGeom>
          <a:noFill/>
        </p:spPr>
        <p:txBody>
          <a:bodyPr vert="horz" wrap="square" lIns="36576" tIns="18288" rIns="36576" bIns="18288" rtlCol="0">
            <a:spAutoFit/>
          </a:bodyPr>
          <a:lstStyle/>
          <a:p>
            <a:r>
              <a:rPr lang="en-US" sz="3100" b="1">
                <a:solidFill>
                  <a:srgbClr val="FFFFFF"/>
                </a:solidFill>
                <a:latin typeface="Aptos Display" panose="020B0004020202020204" pitchFamily="34" charset="0"/>
              </a:rPr>
              <a:t>How the fine-tuned model solves the problem</a:t>
            </a:r>
          </a:p>
        </p:txBody>
      </p:sp>
      <p:sp>
        <p:nvSpPr>
          <p:cNvPr id="6" name="TextBox 5">
            <a:extLst>
              <a:ext uri="{FF2B5EF4-FFF2-40B4-BE49-F238E27FC236}">
                <a16:creationId xmlns:a16="http://schemas.microsoft.com/office/drawing/2014/main" id="{0B4636E1-D974-114B-910A-178F8E28C8AC}"/>
              </a:ext>
            </a:extLst>
          </p:cNvPr>
          <p:cNvSpPr txBox="1"/>
          <p:nvPr/>
        </p:nvSpPr>
        <p:spPr>
          <a:xfrm>
            <a:off x="658367" y="1512415"/>
            <a:ext cx="7566989" cy="252377"/>
          </a:xfrm>
          <a:prstGeom prst="rect">
            <a:avLst/>
          </a:prstGeom>
          <a:noFill/>
        </p:spPr>
        <p:txBody>
          <a:bodyPr vert="horz" wrap="square" lIns="36576" tIns="18288" rIns="36576" bIns="18288" rtlCol="0">
            <a:spAutoFit/>
          </a:bodyPr>
          <a:lstStyle/>
          <a:p>
            <a:r>
              <a:rPr lang="en-US" sz="1400">
                <a:solidFill>
                  <a:srgbClr val="D7EBFF"/>
                </a:solidFill>
                <a:latin typeface="Aptos" panose="020B0004020202020204" pitchFamily="34" charset="0"/>
              </a:rPr>
              <a:t>It turns the ask into a dependable workflow contract instead of a plausible web-action guess.</a:t>
            </a:r>
          </a:p>
        </p:txBody>
      </p:sp>
      <p:sp>
        <p:nvSpPr>
          <p:cNvPr id="7" name="Rectangle: Rounded Corners 6">
            <a:extLst>
              <a:ext uri="{FF2B5EF4-FFF2-40B4-BE49-F238E27FC236}">
                <a16:creationId xmlns:a16="http://schemas.microsoft.com/office/drawing/2014/main" id="{04014688-FA16-4D62-0B5E-B21FBFF9AC32}"/>
              </a:ext>
            </a:extLst>
          </p:cNvPr>
          <p:cNvSpPr/>
          <p:nvPr/>
        </p:nvSpPr>
        <p:spPr>
          <a:xfrm>
            <a:off x="804672" y="2240280"/>
            <a:ext cx="4754880" cy="1005840"/>
          </a:xfrm>
          <a:prstGeom prst="roundRect">
            <a:avLst/>
          </a:prstGeom>
          <a:solidFill>
            <a:srgbClr val="FFFFFF">
              <a:alpha val="97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0E2C1D1-A843-1221-7AE9-CFF8D9D675A3}"/>
              </a:ext>
            </a:extLst>
          </p:cNvPr>
          <p:cNvSpPr/>
          <p:nvPr/>
        </p:nvSpPr>
        <p:spPr>
          <a:xfrm>
            <a:off x="1005840" y="2468880"/>
            <a:ext cx="438912" cy="438912"/>
          </a:xfrm>
          <a:prstGeom prst="ellipse">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C601DC4-FC90-421F-B916-817E52C540AF}"/>
              </a:ext>
            </a:extLst>
          </p:cNvPr>
          <p:cNvSpPr txBox="1"/>
          <p:nvPr/>
        </p:nvSpPr>
        <p:spPr>
          <a:xfrm>
            <a:off x="1019556" y="2542032"/>
            <a:ext cx="41148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1</a:t>
            </a:r>
          </a:p>
        </p:txBody>
      </p:sp>
      <p:sp>
        <p:nvSpPr>
          <p:cNvPr id="10" name="TextBox 9">
            <a:extLst>
              <a:ext uri="{FF2B5EF4-FFF2-40B4-BE49-F238E27FC236}">
                <a16:creationId xmlns:a16="http://schemas.microsoft.com/office/drawing/2014/main" id="{90A96813-ACB0-FDEF-DC98-501B56C7B0B9}"/>
              </a:ext>
            </a:extLst>
          </p:cNvPr>
          <p:cNvSpPr txBox="1"/>
          <p:nvPr/>
        </p:nvSpPr>
        <p:spPr>
          <a:xfrm>
            <a:off x="1609344" y="2404872"/>
            <a:ext cx="3566160" cy="244682"/>
          </a:xfrm>
          <a:prstGeom prst="rect">
            <a:avLst/>
          </a:prstGeom>
          <a:noFill/>
        </p:spPr>
        <p:txBody>
          <a:bodyPr vert="horz" wrap="square" lIns="36576" tIns="18288" rIns="36576" bIns="18288" rtlCol="0">
            <a:spAutoFit/>
          </a:bodyPr>
          <a:lstStyle/>
          <a:p>
            <a:r>
              <a:rPr lang="en-US" sz="1350" b="1">
                <a:solidFill>
                  <a:srgbClr val="201F1E"/>
                </a:solidFill>
                <a:latin typeface="Segoe UI" panose="020B0502040204020203" pitchFamily="34" charset="0"/>
              </a:rPr>
              <a:t>Stable selectors</a:t>
            </a:r>
          </a:p>
        </p:txBody>
      </p:sp>
      <p:sp>
        <p:nvSpPr>
          <p:cNvPr id="11" name="TextBox 10">
            <a:extLst>
              <a:ext uri="{FF2B5EF4-FFF2-40B4-BE49-F238E27FC236}">
                <a16:creationId xmlns:a16="http://schemas.microsoft.com/office/drawing/2014/main" id="{84806425-4045-0D98-F262-94D15F745CC4}"/>
              </a:ext>
            </a:extLst>
          </p:cNvPr>
          <p:cNvSpPr txBox="1"/>
          <p:nvPr/>
        </p:nvSpPr>
        <p:spPr>
          <a:xfrm>
            <a:off x="1609344" y="2715768"/>
            <a:ext cx="3566160" cy="172355"/>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Uses [data-eim-*] contract selectors instead of generated IDs.</a:t>
            </a:r>
          </a:p>
        </p:txBody>
      </p:sp>
      <p:sp>
        <p:nvSpPr>
          <p:cNvPr id="12" name="Rectangle: Rounded Corners 11">
            <a:extLst>
              <a:ext uri="{FF2B5EF4-FFF2-40B4-BE49-F238E27FC236}">
                <a16:creationId xmlns:a16="http://schemas.microsoft.com/office/drawing/2014/main" id="{50241D87-61EF-9DDE-192B-A610F466E659}"/>
              </a:ext>
            </a:extLst>
          </p:cNvPr>
          <p:cNvSpPr/>
          <p:nvPr/>
        </p:nvSpPr>
        <p:spPr>
          <a:xfrm>
            <a:off x="6153912" y="2240280"/>
            <a:ext cx="4754880" cy="1005840"/>
          </a:xfrm>
          <a:prstGeom prst="roundRect">
            <a:avLst/>
          </a:prstGeom>
          <a:solidFill>
            <a:srgbClr val="FFFFFF">
              <a:alpha val="97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311B486-D50A-C757-2217-F6396C4A9142}"/>
              </a:ext>
            </a:extLst>
          </p:cNvPr>
          <p:cNvSpPr/>
          <p:nvPr/>
        </p:nvSpPr>
        <p:spPr>
          <a:xfrm>
            <a:off x="6355080" y="2468880"/>
            <a:ext cx="438912" cy="438912"/>
          </a:xfrm>
          <a:prstGeom prst="ellipse">
            <a:avLst/>
          </a:prstGeom>
          <a:solidFill>
            <a:srgbClr val="0383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2721FCF-DF1A-06B0-DA6A-45B7B50880AE}"/>
              </a:ext>
            </a:extLst>
          </p:cNvPr>
          <p:cNvSpPr txBox="1"/>
          <p:nvPr/>
        </p:nvSpPr>
        <p:spPr>
          <a:xfrm>
            <a:off x="6368796" y="2542032"/>
            <a:ext cx="41148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2</a:t>
            </a:r>
          </a:p>
        </p:txBody>
      </p:sp>
      <p:sp>
        <p:nvSpPr>
          <p:cNvPr id="15" name="TextBox 14">
            <a:extLst>
              <a:ext uri="{FF2B5EF4-FFF2-40B4-BE49-F238E27FC236}">
                <a16:creationId xmlns:a16="http://schemas.microsoft.com/office/drawing/2014/main" id="{63C38DDF-0434-8C97-BBE0-8C8247823BFB}"/>
              </a:ext>
            </a:extLst>
          </p:cNvPr>
          <p:cNvSpPr txBox="1"/>
          <p:nvPr/>
        </p:nvSpPr>
        <p:spPr>
          <a:xfrm>
            <a:off x="6958584" y="2404872"/>
            <a:ext cx="3566160" cy="244682"/>
          </a:xfrm>
          <a:prstGeom prst="rect">
            <a:avLst/>
          </a:prstGeom>
          <a:noFill/>
        </p:spPr>
        <p:txBody>
          <a:bodyPr vert="horz" wrap="square" lIns="36576" tIns="18288" rIns="36576" bIns="18288" rtlCol="0">
            <a:spAutoFit/>
          </a:bodyPr>
          <a:lstStyle/>
          <a:p>
            <a:r>
              <a:rPr lang="en-US" sz="1350" b="1">
                <a:solidFill>
                  <a:srgbClr val="201F1E"/>
                </a:solidFill>
                <a:latin typeface="Segoe UI" panose="020B0502040204020203" pitchFamily="34" charset="0"/>
              </a:rPr>
              <a:t>Workflow order</a:t>
            </a:r>
          </a:p>
        </p:txBody>
      </p:sp>
      <p:sp>
        <p:nvSpPr>
          <p:cNvPr id="16" name="TextBox 15">
            <a:extLst>
              <a:ext uri="{FF2B5EF4-FFF2-40B4-BE49-F238E27FC236}">
                <a16:creationId xmlns:a16="http://schemas.microsoft.com/office/drawing/2014/main" id="{AE9D496A-9124-B8C8-35C7-95FD6031085B}"/>
              </a:ext>
            </a:extLst>
          </p:cNvPr>
          <p:cNvSpPr txBox="1"/>
          <p:nvPr/>
        </p:nvSpPr>
        <p:spPr>
          <a:xfrm>
            <a:off x="6958584" y="2715768"/>
            <a:ext cx="3566160" cy="307777"/>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Opens the right workspace, fills fields, runs checks, submits in sequence.</a:t>
            </a:r>
          </a:p>
        </p:txBody>
      </p:sp>
      <p:sp>
        <p:nvSpPr>
          <p:cNvPr id="17" name="Rectangle: Rounded Corners 16">
            <a:extLst>
              <a:ext uri="{FF2B5EF4-FFF2-40B4-BE49-F238E27FC236}">
                <a16:creationId xmlns:a16="http://schemas.microsoft.com/office/drawing/2014/main" id="{639E6B27-BCAC-F99C-59FC-D981691A6590}"/>
              </a:ext>
            </a:extLst>
          </p:cNvPr>
          <p:cNvSpPr/>
          <p:nvPr/>
        </p:nvSpPr>
        <p:spPr>
          <a:xfrm>
            <a:off x="804672" y="3657600"/>
            <a:ext cx="4754880" cy="1005840"/>
          </a:xfrm>
          <a:prstGeom prst="roundRect">
            <a:avLst/>
          </a:prstGeom>
          <a:solidFill>
            <a:srgbClr val="FFFFFF">
              <a:alpha val="97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47928C1-C7E2-6146-7416-CB2A948B22C7}"/>
              </a:ext>
            </a:extLst>
          </p:cNvPr>
          <p:cNvSpPr/>
          <p:nvPr/>
        </p:nvSpPr>
        <p:spPr>
          <a:xfrm>
            <a:off x="1005840" y="3886200"/>
            <a:ext cx="438912" cy="438912"/>
          </a:xfrm>
          <a:prstGeom prst="ellipse">
            <a:avLst/>
          </a:prstGeom>
          <a:solidFill>
            <a:srgbClr val="107C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5C63D0C-317F-43A8-6F87-137C76F81746}"/>
              </a:ext>
            </a:extLst>
          </p:cNvPr>
          <p:cNvSpPr txBox="1"/>
          <p:nvPr/>
        </p:nvSpPr>
        <p:spPr>
          <a:xfrm>
            <a:off x="1019556" y="3959352"/>
            <a:ext cx="41148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3</a:t>
            </a:r>
          </a:p>
        </p:txBody>
      </p:sp>
      <p:sp>
        <p:nvSpPr>
          <p:cNvPr id="20" name="TextBox 19">
            <a:extLst>
              <a:ext uri="{FF2B5EF4-FFF2-40B4-BE49-F238E27FC236}">
                <a16:creationId xmlns:a16="http://schemas.microsoft.com/office/drawing/2014/main" id="{5B95E2D8-19DF-D00F-3C62-050138175B1E}"/>
              </a:ext>
            </a:extLst>
          </p:cNvPr>
          <p:cNvSpPr txBox="1"/>
          <p:nvPr/>
        </p:nvSpPr>
        <p:spPr>
          <a:xfrm>
            <a:off x="1609344" y="3822192"/>
            <a:ext cx="3566160" cy="244682"/>
          </a:xfrm>
          <a:prstGeom prst="rect">
            <a:avLst/>
          </a:prstGeom>
          <a:noFill/>
        </p:spPr>
        <p:txBody>
          <a:bodyPr vert="horz" wrap="square" lIns="36576" tIns="18288" rIns="36576" bIns="18288" rtlCol="0">
            <a:spAutoFit/>
          </a:bodyPr>
          <a:lstStyle/>
          <a:p>
            <a:r>
              <a:rPr lang="en-US" sz="1350" b="1">
                <a:solidFill>
                  <a:srgbClr val="201F1E"/>
                </a:solidFill>
                <a:latin typeface="Segoe UI" panose="020B0502040204020203" pitchFamily="34" charset="0"/>
              </a:rPr>
              <a:t>Machine-readable</a:t>
            </a:r>
          </a:p>
        </p:txBody>
      </p:sp>
      <p:sp>
        <p:nvSpPr>
          <p:cNvPr id="21" name="TextBox 20">
            <a:extLst>
              <a:ext uri="{FF2B5EF4-FFF2-40B4-BE49-F238E27FC236}">
                <a16:creationId xmlns:a16="http://schemas.microsoft.com/office/drawing/2014/main" id="{F886CC88-9BFE-C826-40CB-979748EABAB0}"/>
              </a:ext>
            </a:extLst>
          </p:cNvPr>
          <p:cNvSpPr txBox="1"/>
          <p:nvPr/>
        </p:nvSpPr>
        <p:spPr>
          <a:xfrm>
            <a:off x="1609344" y="4133088"/>
            <a:ext cx="3566160" cy="172355"/>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Returns JSON only, so downstream automation can parse and replay.</a:t>
            </a:r>
          </a:p>
        </p:txBody>
      </p:sp>
      <p:sp>
        <p:nvSpPr>
          <p:cNvPr id="22" name="Rectangle: Rounded Corners 21">
            <a:extLst>
              <a:ext uri="{FF2B5EF4-FFF2-40B4-BE49-F238E27FC236}">
                <a16:creationId xmlns:a16="http://schemas.microsoft.com/office/drawing/2014/main" id="{783355BE-79EE-5102-0988-AF370A4EF91D}"/>
              </a:ext>
            </a:extLst>
          </p:cNvPr>
          <p:cNvSpPr/>
          <p:nvPr/>
        </p:nvSpPr>
        <p:spPr>
          <a:xfrm>
            <a:off x="6153912" y="3657600"/>
            <a:ext cx="4754880" cy="1005840"/>
          </a:xfrm>
          <a:prstGeom prst="roundRect">
            <a:avLst/>
          </a:prstGeom>
          <a:solidFill>
            <a:srgbClr val="FFFFFF">
              <a:alpha val="97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B3DE963-8BF9-4CE7-F52B-C2207D7D3C2B}"/>
              </a:ext>
            </a:extLst>
          </p:cNvPr>
          <p:cNvSpPr/>
          <p:nvPr/>
        </p:nvSpPr>
        <p:spPr>
          <a:xfrm>
            <a:off x="6355080" y="3886200"/>
            <a:ext cx="438912" cy="438912"/>
          </a:xfrm>
          <a:prstGeom prst="ellipse">
            <a:avLst/>
          </a:prstGeom>
          <a:solidFill>
            <a:srgbClr val="FF8C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C9A5C2D-7F66-BE58-DD4C-15AC5FC6FFA7}"/>
              </a:ext>
            </a:extLst>
          </p:cNvPr>
          <p:cNvSpPr txBox="1"/>
          <p:nvPr/>
        </p:nvSpPr>
        <p:spPr>
          <a:xfrm>
            <a:off x="6368796" y="3959352"/>
            <a:ext cx="411480" cy="190821"/>
          </a:xfrm>
          <a:prstGeom prst="rect">
            <a:avLst/>
          </a:prstGeom>
          <a:noFill/>
        </p:spPr>
        <p:txBody>
          <a:bodyPr vert="horz" wrap="square" lIns="36576" tIns="18288" rIns="36576" bIns="18288" rtlCol="0">
            <a:spAutoFit/>
          </a:bodyPr>
          <a:lstStyle/>
          <a:p>
            <a:pPr algn="ctr"/>
            <a:r>
              <a:rPr lang="en-US" sz="1000" b="1">
                <a:solidFill>
                  <a:srgbClr val="FFFFFF"/>
                </a:solidFill>
                <a:latin typeface="Segoe UI" panose="020B0502040204020203" pitchFamily="34" charset="0"/>
              </a:rPr>
              <a:t>4</a:t>
            </a:r>
          </a:p>
        </p:txBody>
      </p:sp>
      <p:sp>
        <p:nvSpPr>
          <p:cNvPr id="25" name="TextBox 24">
            <a:extLst>
              <a:ext uri="{FF2B5EF4-FFF2-40B4-BE49-F238E27FC236}">
                <a16:creationId xmlns:a16="http://schemas.microsoft.com/office/drawing/2014/main" id="{71CA7505-0D2F-D02E-D28D-F7CB004F5187}"/>
              </a:ext>
            </a:extLst>
          </p:cNvPr>
          <p:cNvSpPr txBox="1"/>
          <p:nvPr/>
        </p:nvSpPr>
        <p:spPr>
          <a:xfrm>
            <a:off x="6958584" y="3822192"/>
            <a:ext cx="3566160" cy="244682"/>
          </a:xfrm>
          <a:prstGeom prst="rect">
            <a:avLst/>
          </a:prstGeom>
          <a:noFill/>
        </p:spPr>
        <p:txBody>
          <a:bodyPr vert="horz" wrap="square" lIns="36576" tIns="18288" rIns="36576" bIns="18288" rtlCol="0">
            <a:spAutoFit/>
          </a:bodyPr>
          <a:lstStyle/>
          <a:p>
            <a:r>
              <a:rPr lang="en-US" sz="1350" b="1">
                <a:solidFill>
                  <a:srgbClr val="201F1E"/>
                </a:solidFill>
                <a:latin typeface="Segoe UI" panose="020B0502040204020203" pitchFamily="34" charset="0"/>
              </a:rPr>
              <a:t>Governed path</a:t>
            </a:r>
          </a:p>
        </p:txBody>
      </p:sp>
      <p:sp>
        <p:nvSpPr>
          <p:cNvPr id="26" name="TextBox 25">
            <a:extLst>
              <a:ext uri="{FF2B5EF4-FFF2-40B4-BE49-F238E27FC236}">
                <a16:creationId xmlns:a16="http://schemas.microsoft.com/office/drawing/2014/main" id="{799E6379-9581-00A6-464C-AEC3924AA138}"/>
              </a:ext>
            </a:extLst>
          </p:cNvPr>
          <p:cNvSpPr txBox="1"/>
          <p:nvPr/>
        </p:nvSpPr>
        <p:spPr>
          <a:xfrm>
            <a:off x="6958584" y="4133088"/>
            <a:ext cx="3566160" cy="172355"/>
          </a:xfrm>
          <a:prstGeom prst="rect">
            <a:avLst/>
          </a:prstGeom>
          <a:noFill/>
        </p:spPr>
        <p:txBody>
          <a:bodyPr vert="horz" wrap="square" lIns="36576" tIns="18288" rIns="36576" bIns="18288" rtlCol="0">
            <a:spAutoFit/>
          </a:bodyPr>
          <a:lstStyle/>
          <a:p>
            <a:r>
              <a:rPr lang="en-US" sz="880">
                <a:solidFill>
                  <a:srgbClr val="605E5C"/>
                </a:solidFill>
                <a:latin typeface="Segoe UI" panose="020B0502040204020203" pitchFamily="34" charset="0"/>
              </a:rPr>
              <a:t>Synthetic data, AzureML lineage, model registration, endpoint cleanup.</a:t>
            </a:r>
          </a:p>
        </p:txBody>
      </p:sp>
      <p:sp>
        <p:nvSpPr>
          <p:cNvPr id="27" name="Rectangle: Rounded Corners 26">
            <a:extLst>
              <a:ext uri="{FF2B5EF4-FFF2-40B4-BE49-F238E27FC236}">
                <a16:creationId xmlns:a16="http://schemas.microsoft.com/office/drawing/2014/main" id="{35D81C2D-51F4-8E7B-F385-214E3A7FEEC2}"/>
              </a:ext>
            </a:extLst>
          </p:cNvPr>
          <p:cNvSpPr/>
          <p:nvPr/>
        </p:nvSpPr>
        <p:spPr>
          <a:xfrm>
            <a:off x="1828800" y="5650992"/>
            <a:ext cx="8549640" cy="502920"/>
          </a:xfrm>
          <a:prstGeom prst="roundRect">
            <a:avLst/>
          </a:prstGeom>
          <a:solidFill>
            <a:srgbClr val="0045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BDBE892-330E-FBAE-D4DA-0C4286565B7B}"/>
              </a:ext>
            </a:extLst>
          </p:cNvPr>
          <p:cNvSpPr txBox="1"/>
          <p:nvPr/>
        </p:nvSpPr>
        <p:spPr>
          <a:xfrm>
            <a:off x="2029968" y="5833872"/>
            <a:ext cx="8138160" cy="183127"/>
          </a:xfrm>
          <a:prstGeom prst="rect">
            <a:avLst/>
          </a:prstGeom>
          <a:noFill/>
        </p:spPr>
        <p:txBody>
          <a:bodyPr vert="horz" wrap="square" lIns="36576" tIns="18288" rIns="36576" bIns="18288" rtlCol="0">
            <a:spAutoFit/>
          </a:bodyPr>
          <a:lstStyle/>
          <a:p>
            <a:pPr algn="ctr"/>
            <a:r>
              <a:rPr lang="en-US" sz="950" b="1">
                <a:solidFill>
                  <a:srgbClr val="FFFFFF"/>
                </a:solidFill>
                <a:latin typeface="Segoe UI" panose="020B0502040204020203" pitchFamily="34" charset="0"/>
              </a:rPr>
              <a:t>Recommended next step: pick one real EIM flow, define graders, curate safe examples, rerun the same baseline -&gt; fine-tune -&gt; eval loop.</a:t>
            </a:r>
          </a:p>
        </p:txBody>
      </p:sp>
    </p:spTree>
    <p:extLst>
      <p:ext uri="{BB962C8B-B14F-4D97-AF65-F5344CB8AC3E}">
        <p14:creationId xmlns:p14="http://schemas.microsoft.com/office/powerpoint/2010/main" val="1024807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2658</Words>
  <Application>Microsoft Office PowerPoint</Application>
  <PresentationFormat>Widescreen</PresentationFormat>
  <Paragraphs>299</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Padhya</dc:creator>
  <cp:lastModifiedBy>Jay Padhya</cp:lastModifiedBy>
  <cp:revision>1</cp:revision>
  <dcterms:created xsi:type="dcterms:W3CDTF">2026-06-02T17:14:13Z</dcterms:created>
  <dcterms:modified xsi:type="dcterms:W3CDTF">2026-06-02T19:40:13Z</dcterms:modified>
</cp:coreProperties>
</file>