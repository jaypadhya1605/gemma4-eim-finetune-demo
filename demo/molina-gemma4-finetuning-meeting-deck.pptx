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13FEA-81B6-445C-9404-0178CC21B6BB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9480B8-F977-4B6B-B59D-82F3C4CA76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45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1. I will start with the headline: this is a Gemma 4B-class fine-tuning demo for a browser-action agent.</a:t>
            </a:r>
          </a:p>
          <a:p>
            <a:r>
              <a:rPr lang="en-US"/>
              <a:t>The business question is whether a small open model can learn a reliable EIM workflow behavior.</a:t>
            </a:r>
          </a:p>
          <a:p>
            <a:r>
              <a:rPr lang="en-US"/>
              <a:t>The demo uses AzureML managed compute, synthetic data only, and a LoRA adapter.</a:t>
            </a:r>
          </a:p>
          <a:p>
            <a:r>
              <a:rPr lang="en-US"/>
              <a:t>The output we care about is not prose. It is a JSON action plan that another system can execute.</a:t>
            </a:r>
          </a:p>
          <a:p>
            <a:r>
              <a:rPr lang="en-US"/>
              <a:t>I will walk through the baseline, the fine-tuning method, the data, the Azure resources, and the before-after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3956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2. The problem is that browsing agents need repeatable actions, not just good-sounding answers.</a:t>
            </a:r>
          </a:p>
          <a:p>
            <a:r>
              <a:rPr lang="en-US"/>
              <a:t>The user gives a goal, such as opening a prior authorization and submitting it after a policy check.</a:t>
            </a:r>
          </a:p>
          <a:p>
            <a:r>
              <a:rPr lang="en-US"/>
              <a:t>The model sees a compact page state, usually a DOM snippet with both generated IDs and stable attributes.</a:t>
            </a:r>
          </a:p>
          <a:p>
            <a:r>
              <a:rPr lang="en-US"/>
              <a:t>The model must return the action contract: click, type, or extract in strict JSON.</a:t>
            </a:r>
          </a:p>
          <a:p>
            <a:r>
              <a:rPr lang="en-US"/>
              <a:t>This matters because Molina needs repeatable, auditable, low-variance workflow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03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3. This demo is scoped narrowly on purpose.</a:t>
            </a:r>
          </a:p>
          <a:p>
            <a:r>
              <a:rPr lang="en-US"/>
              <a:t>We test a workflow contract: DOM plus instruction in, JSON action plan out.</a:t>
            </a:r>
          </a:p>
          <a:p>
            <a:r>
              <a:rPr lang="en-US"/>
              <a:t>We use base Gemma as the small-model baseline to see what it can do before training.</a:t>
            </a:r>
          </a:p>
          <a:p>
            <a:r>
              <a:rPr lang="en-US"/>
              <a:t>We use synthetic healthcare-shaped data so no Molina PHI is involved.</a:t>
            </a:r>
          </a:p>
          <a:p>
            <a:r>
              <a:rPr lang="en-US"/>
              <a:t>We score objective checks: valid JSON, schema, stable selectors, workflow navigation, required actions, and order.</a:t>
            </a:r>
          </a:p>
          <a:p>
            <a:r>
              <a:rPr lang="en-US"/>
              <a:t>The Azure path is AzureML because this Gemma fine-tuning route is not using Foundry serverless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2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4. Base Gemma is not bad, but it misses the contract we need.</a:t>
            </a:r>
          </a:p>
          <a:p>
            <a:r>
              <a:rPr lang="en-US"/>
              <a:t>It can often produce valid JSON and understand that the task involves clicking, typing, and extracting.</a:t>
            </a:r>
          </a:p>
          <a:p>
            <a:r>
              <a:rPr lang="en-US"/>
              <a:t>Where it fails is the workflow discipline.</a:t>
            </a:r>
          </a:p>
          <a:p>
            <a:r>
              <a:rPr lang="en-US"/>
              <a:t>It may choose generated IDs like member-search-3430 instead of stable data-eim selectors.</a:t>
            </a:r>
          </a:p>
          <a:p>
            <a:r>
              <a:rPr lang="en-US"/>
              <a:t>It may skip opening the correct workspace or miss the exact order.</a:t>
            </a:r>
          </a:p>
          <a:p>
            <a:r>
              <a:rPr lang="en-US"/>
              <a:t>That is why prompting alone is not the full answer for this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639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5. I want to explain the numbers at the top of the app.</a:t>
            </a:r>
          </a:p>
          <a:p>
            <a:r>
              <a:rPr lang="en-US"/>
              <a:t>Base Gemma winner eval is 37 out of 112.</a:t>
            </a:r>
          </a:p>
          <a:p>
            <a:r>
              <a:rPr lang="en-US"/>
              <a:t>Fine-tuned winner eval is 71 out of 112.</a:t>
            </a:r>
          </a:p>
          <a:p>
            <a:r>
              <a:rPr lang="en-US"/>
              <a:t>These are not generic model accuracy numbers; they are a workflow scorecard.</a:t>
            </a:r>
          </a:p>
          <a:p>
            <a:r>
              <a:rPr lang="en-US"/>
              <a:t>The app evaluated 16 held-out browser-action prompts, and each prompt had 7 scored checks, so 16 times 7 equals 112 possible pass points.</a:t>
            </a:r>
          </a:p>
          <a:p>
            <a:r>
              <a:rPr lang="en-US"/>
              <a:t>Base Gemma passed 37 of those checks, while fine-tuned Gemma passed 71.</a:t>
            </a:r>
          </a:p>
          <a:p>
            <a:r>
              <a:rPr lang="en-US"/>
              <a:t>That is a lift of 34 checks, or roughly 30 percentage points.</a:t>
            </a:r>
          </a:p>
          <a:p>
            <a:r>
              <a:rPr lang="en-US"/>
              <a:t>The right way to phrase this is: fine-tuning materially improved the model's ability to follow the EIM action contract.</a:t>
            </a:r>
          </a:p>
          <a:p>
            <a:r>
              <a:rPr lang="en-US"/>
              <a:t>The caveat is that this is a synthetic workflow benchmark, not a production readiness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16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6. The small SLM succeeds natively on general understanding.</a:t>
            </a:r>
          </a:p>
          <a:p>
            <a:r>
              <a:rPr lang="en-US"/>
              <a:t>It can parse healthcare-ish instructions and compact HTML or DOM snippets.</a:t>
            </a:r>
          </a:p>
          <a:p>
            <a:r>
              <a:rPr lang="en-US"/>
              <a:t>It usually understands click, type, and extract as action types.</a:t>
            </a:r>
          </a:p>
          <a:p>
            <a:r>
              <a:rPr lang="en-US"/>
              <a:t>But native behavior is still inconsistent for automation.</a:t>
            </a:r>
          </a:p>
          <a:p>
            <a:r>
              <a:rPr lang="en-US"/>
              <a:t>For a browser agent, a near miss still fails if the selector is brittle or the response includes extra prose.</a:t>
            </a:r>
          </a:p>
          <a:p>
            <a:r>
              <a:rPr lang="en-US"/>
              <a:t>So the measured gap is behavior consistency, not raw model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559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7. Fine-tuning is the right lever because the gap is behavioral.</a:t>
            </a:r>
          </a:p>
          <a:p>
            <a:r>
              <a:rPr lang="en-US"/>
              <a:t>We are not teaching Molina medical policy to the model.</a:t>
            </a:r>
          </a:p>
          <a:p>
            <a:r>
              <a:rPr lang="en-US"/>
              <a:t>We are teaching the model how to respond when it sees a page state and a user instruction.</a:t>
            </a:r>
          </a:p>
          <a:p>
            <a:r>
              <a:rPr lang="en-US"/>
              <a:t>LoRA keeps the base Gemma model frozen and trains a small adapter on top.</a:t>
            </a:r>
          </a:p>
          <a:p>
            <a:r>
              <a:rPr lang="en-US"/>
              <a:t>That adapter learns stable selectors, workflow ordering, and JSON-only discipline.</a:t>
            </a:r>
          </a:p>
          <a:p>
            <a:r>
              <a:rPr lang="en-US"/>
              <a:t>This keeps the experiment cheaper and makes the behavior swappable by workflow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318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8. Here is the end-to-end process flow.</a:t>
            </a:r>
          </a:p>
          <a:p>
            <a:r>
              <a:rPr lang="en-US"/>
              <a:t>First, we generate deterministic synthetic JSONL examples.</a:t>
            </a:r>
          </a:p>
          <a:p>
            <a:r>
              <a:rPr lang="en-US"/>
              <a:t>Second, we prepare or package the data for AzureML.</a:t>
            </a:r>
          </a:p>
          <a:p>
            <a:r>
              <a:rPr lang="en-US"/>
              <a:t>Third, the AzureML SDK submits a command job to the A100 cluster.</a:t>
            </a:r>
          </a:p>
          <a:p>
            <a:r>
              <a:rPr lang="en-US"/>
              <a:t>Fourth, training.py loads Gemma, applies LoRA, and runs supervised fine-tuning.</a:t>
            </a:r>
          </a:p>
          <a:p>
            <a:r>
              <a:rPr lang="en-US"/>
              <a:t>Fifth, the adapter is registered and deployed.</a:t>
            </a:r>
          </a:p>
          <a:p>
            <a:r>
              <a:rPr lang="en-US"/>
              <a:t>Finally, the Streamlit app compares base and tuned behavior on the same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538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9. This is the data used for training.</a:t>
            </a:r>
          </a:p>
          <a:p>
            <a:r>
              <a:rPr lang="en-US"/>
              <a:t>The current winner profile uses 96 training records, 24 validation records, and 16 holdout eval prompts.</a:t>
            </a:r>
          </a:p>
          <a:p>
            <a:r>
              <a:rPr lang="en-US"/>
              <a:t>Each record is a messages object: system instruction, user DOM plus instruction, and assistant JSON answer.</a:t>
            </a:r>
          </a:p>
          <a:p>
            <a:r>
              <a:rPr lang="en-US"/>
              <a:t>The values are fake: fake member IDs, fake authorization IDs, and fake claims.</a:t>
            </a:r>
          </a:p>
          <a:p>
            <a:r>
              <a:rPr lang="en-US"/>
              <a:t>The reason for synthetic data is safety and control.</a:t>
            </a:r>
          </a:p>
          <a:p>
            <a:r>
              <a:rPr lang="en-US"/>
              <a:t>We are proving the workflow pattern without exposing Molina production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9492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10. These are the technical resources behind the demo.</a:t>
            </a:r>
          </a:p>
          <a:p>
            <a:r>
              <a:rPr lang="en-US"/>
              <a:t>Foundry and AzureML catalog assets provide the Gemma base model reference.</a:t>
            </a:r>
          </a:p>
          <a:p>
            <a:r>
              <a:rPr lang="en-US"/>
              <a:t>AzureML provides the workspace, jobs, data assets, model registry, lineage, and managed online endpoint.</a:t>
            </a:r>
          </a:p>
          <a:p>
            <a:r>
              <a:rPr lang="en-US"/>
              <a:t>A100 compute runs the actual training job.</a:t>
            </a:r>
          </a:p>
          <a:p>
            <a:r>
              <a:rPr lang="en-US"/>
              <a:t>Key Vault is the production pattern for gated model tokens and secrets.</a:t>
            </a:r>
          </a:p>
          <a:p>
            <a:r>
              <a:rPr lang="en-US"/>
              <a:t>The SDK scripts are control-plane wrappers: prepare data, submit training, register the adapter, and deploy the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471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11. This is what trains on the A100.</a:t>
            </a:r>
          </a:p>
          <a:p>
            <a:r>
              <a:rPr lang="en-US"/>
              <a:t>The laptop does not fine-tune the model. It only submits and monitors the AzureML job.</a:t>
            </a:r>
          </a:p>
          <a:p>
            <a:r>
              <a:rPr lang="en-US"/>
              <a:t>Inside the job, Transformers loads the Gemma base model in bf16.</a:t>
            </a:r>
          </a:p>
          <a:p>
            <a:r>
              <a:rPr lang="en-US"/>
              <a:t>PEFT applies LoRA with rank 32 and alpha 64 in the current winner profile.</a:t>
            </a:r>
          </a:p>
          <a:p>
            <a:r>
              <a:rPr lang="en-US"/>
              <a:t>The target modules are attention projections and MLP projections: q, k, v, o, gate, up, and down.</a:t>
            </a:r>
          </a:p>
          <a:p>
            <a:r>
              <a:rPr lang="en-US"/>
              <a:t>TRL SFTTrainer applies the chat template and trains on the assistant JSON examples.</a:t>
            </a:r>
          </a:p>
          <a:p>
            <a:r>
              <a:rPr lang="en-US"/>
              <a:t>The output is a LoRA adapter plus metadata, not a full model retrain.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2579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12. This is the fine-tuning code path in plain English.</a:t>
            </a:r>
          </a:p>
          <a:p>
            <a:r>
              <a:rPr lang="en-US"/>
              <a:t>Step one, Transformers loads the base Gemma model from the catalog mount or model path.</a:t>
            </a:r>
          </a:p>
          <a:p>
            <a:r>
              <a:rPr lang="en-US"/>
              <a:t>Step two, PEFT injects LoRA trainable matrices into selected layers while the base weights stay frozen.</a:t>
            </a:r>
          </a:p>
          <a:p>
            <a:r>
              <a:rPr lang="en-US"/>
              <a:t>Step three, SFTTrainer trains against the message records: system, user DOM, and assistant JSON.</a:t>
            </a:r>
          </a:p>
          <a:p>
            <a:r>
              <a:rPr lang="en-US"/>
              <a:t>Step four, the job saves the adapter to outputs/lora_adapter.</a:t>
            </a:r>
          </a:p>
          <a:p>
            <a:r>
              <a:rPr lang="en-US"/>
              <a:t>The key point is that fine-tuning changes the response behavior through the adapter, not by rewriting the whole base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91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13. The live serving pattern uses one endpoint and two behaviors.</a:t>
            </a:r>
          </a:p>
          <a:p>
            <a:r>
              <a:rPr lang="en-US"/>
              <a:t>The endpoint loads the base model and the LoRA adapter.</a:t>
            </a:r>
          </a:p>
          <a:p>
            <a:r>
              <a:rPr lang="en-US"/>
              <a:t>When use_adapter is false, we see base Gemma behavior.</a:t>
            </a:r>
          </a:p>
          <a:p>
            <a:r>
              <a:rPr lang="en-US"/>
              <a:t>When use_adapter is true, we see the fine-tuned behavior.</a:t>
            </a:r>
          </a:p>
          <a:p>
            <a:r>
              <a:rPr lang="en-US"/>
              <a:t>That gives a clean side-by-side comparison without paying for two GPU endpoints.</a:t>
            </a:r>
          </a:p>
          <a:p>
            <a:r>
              <a:rPr lang="en-US"/>
              <a:t>After the demo, delete the endpoint to stop A100 hourly billing.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553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14. The conclusion is that the fine-tuned model solves the narrow contract better.</a:t>
            </a:r>
          </a:p>
          <a:p>
            <a:r>
              <a:rPr lang="en-US"/>
              <a:t>It learns to use stable data-eim selectors instead of generated IDs.</a:t>
            </a:r>
          </a:p>
          <a:p>
            <a:r>
              <a:rPr lang="en-US"/>
              <a:t>It learns workflow order, such as opening the workspace before acting inside it.</a:t>
            </a:r>
          </a:p>
          <a:p>
            <a:r>
              <a:rPr lang="en-US"/>
              <a:t>It keeps the response machine-readable by returning JSON only.</a:t>
            </a:r>
          </a:p>
          <a:p>
            <a:r>
              <a:rPr lang="en-US"/>
              <a:t>It remains governed through synthetic data, AzureML lineage, model registration, and endpoint cleanup.</a:t>
            </a:r>
          </a:p>
          <a:p>
            <a:r>
              <a:rPr lang="en-US"/>
              <a:t>The recommended next step is one real Molina workflow, safe examples, agreed graders, and the same baseline to fine-tune to eval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9480B8-F977-4B6B-B59D-82F3C4CA762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760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E2844-ED46-2C99-8C7C-C61E8324D6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2EDD59-3E1E-0CE6-8E85-FA7EB62E1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663AC-65D7-DA54-28A0-C496AD61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8F2E30-1BB3-84DB-5482-98646122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91EFB-A54D-DC81-E725-9738039C9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125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C390-61B8-7C23-4D80-43A02AA6B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28421-D412-9F8F-36F6-302AAB8A5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7161C-CECE-E157-101E-515A0F7F6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5BECB-7D02-C40E-3C4C-24E1FCA1D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304183-FEB4-25EC-6B8F-A42518FE0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61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40B2F-DE05-40B3-56D5-47CECC957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3A6C90-7768-7AC0-700F-9FE1614E6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DF412-A5F0-B044-5651-E0817102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991BB-4428-702C-1F30-C65A9F64A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630A1-F0F6-E11A-218E-15A9F2773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244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B1E55-63AC-6B56-6445-09FD76079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C7837-2F28-A2DD-70FF-97EB91A47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D0A27-1872-8BD3-A3EE-9A6DD4D9D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B7D5D-CDEB-33DC-402C-00965200C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63EBA-5F84-B736-D8FF-A6526DB96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EEE1B-82B3-A078-8886-35402AA7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88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9B77-546F-F370-09A7-6E1A7E539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2DB2D7-761B-8692-A623-A2B54CEDB3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2494B-2D69-174F-C56B-C241110F26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5B405F-1264-7965-97B7-6945CA4646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1CA05-9859-809A-A8C2-210654E51D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A772C8-F047-D10A-E7EE-800409BB3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7BD89F-4ED5-E4D4-29DC-C00DD34CC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926A9E-9A11-95D9-C25B-2129D848B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942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932BD-9276-70A4-C112-5F39288A5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90F20F-3FCF-75E3-DB50-E4E8E7BBB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4733EA-D5C0-2764-5CC5-60F2C151A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009DEA-D33E-CC65-D96E-72AB93AAB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50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52CCC-93F6-C932-AC43-31E9B3F03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3B67D0-65BF-761D-8EB7-14EA5B142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887F2-4F07-DD34-C86E-B4DCAF058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49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7E1A2-BCE6-3CF0-9AC1-6FCC96EF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C9554-507C-88FD-932B-94311AC29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346550-3792-21C5-8ECD-3FE12857A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F0C21-5C0F-E219-D93E-79A7DE569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FD7DE4-1F73-E911-C749-16084E8CC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75DAF-73DB-5209-5D14-A8351238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987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CD405-59E6-557C-8179-A178675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4D232D-F5E6-973E-121A-E3204E62E7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46343-A87D-84E8-8620-8E4C7E02DC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5D026-EF57-B252-405C-44F330CDD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F36D07-ED71-3653-FDBE-5C89E2CB4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B91C4F-1A4C-3CBE-3A81-18BB7B9B9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08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9F088-8C46-CADD-04F0-EC3415D0D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2B7AD7-712B-CD12-D531-FC09CC578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CBC899-2780-B2CB-4D66-E2B0CC300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71F00-42C4-8D37-2599-283A8E5B8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D94BF-DB5D-1924-F895-F92063916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0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BECC14-6545-5549-F27C-C01E6C1E4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B4B822-C729-CA4B-804F-E690146D2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CE77E-A70E-8D32-B997-320CB0F7A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827179-73AE-D335-AE5F-1669778A3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B27BC-8ED2-DF03-16F8-2C2856B7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66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4D422-F8D1-9E3A-0CCC-AC993D3E0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C2FAC-39AD-050C-AC0F-66483E7DB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8DD0B5-5E4F-4BB7-0423-FBE0AD5D01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876BC-5042-4160-9BF3-6442F78F9B71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886DA-D009-5C34-3DFC-7730BEABC0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20A11-B4DF-DB46-CB46-04E22BD0D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374B3E-4B8A-4201-9F42-5D6B1E68E1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95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D3BF82-5C74-41FA-A639-612EF960C94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90E4B38-7F11-3344-B26D-FFCD15C62419}"/>
              </a:ext>
            </a:extLst>
          </p:cNvPr>
          <p:cNvSpPr/>
          <p:nvPr/>
        </p:nvSpPr>
        <p:spPr>
          <a:xfrm>
            <a:off x="8549640" y="-1005840"/>
            <a:ext cx="3749040" cy="3749040"/>
          </a:xfrm>
          <a:prstGeom prst="ellipse">
            <a:avLst/>
          </a:prstGeom>
          <a:solidFill>
            <a:srgbClr val="0078D4">
              <a:alpha val="8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A6E187C-695C-19A5-C3FD-A8C9BA007E6A}"/>
              </a:ext>
            </a:extLst>
          </p:cNvPr>
          <p:cNvSpPr/>
          <p:nvPr/>
        </p:nvSpPr>
        <p:spPr>
          <a:xfrm>
            <a:off x="9921240" y="4069080"/>
            <a:ext cx="2377440" cy="2377440"/>
          </a:xfrm>
          <a:prstGeom prst="ellipse">
            <a:avLst/>
          </a:prstGeom>
          <a:solidFill>
            <a:srgbClr val="00B7C3">
              <a:alpha val="7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29221D-DC58-2474-E9EE-AEE10CF13E36}"/>
              </a:ext>
            </a:extLst>
          </p:cNvPr>
          <p:cNvSpPr txBox="1"/>
          <p:nvPr/>
        </p:nvSpPr>
        <p:spPr>
          <a:xfrm>
            <a:off x="594360" y="502920"/>
            <a:ext cx="20116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00" b="1">
                <a:solidFill>
                  <a:srgbClr val="00B7C3"/>
                </a:solidFill>
                <a:latin typeface="Segoe UI" panose="020B0502040204020203" pitchFamily="34" charset="0"/>
              </a:rPr>
              <a:t>Molina EIM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7A8E3-0C9E-36FF-2F0C-13BB1BF38015}"/>
              </a:ext>
            </a:extLst>
          </p:cNvPr>
          <p:cNvSpPr txBox="1"/>
          <p:nvPr/>
        </p:nvSpPr>
        <p:spPr>
          <a:xfrm>
            <a:off x="594360" y="1051560"/>
            <a:ext cx="6858000" cy="10833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3400" b="1">
                <a:solidFill>
                  <a:srgbClr val="FFFFFF"/>
                </a:solidFill>
                <a:latin typeface="Aptos Display" panose="020B0004020202020204" pitchFamily="34" charset="0"/>
              </a:rPr>
              <a:t>Gemma 4B-class fine-tuning for a browser-action agent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178DCC-6621-A2E8-952F-213CB0DA90A6}"/>
              </a:ext>
            </a:extLst>
          </p:cNvPr>
          <p:cNvSpPr txBox="1"/>
          <p:nvPr/>
        </p:nvSpPr>
        <p:spPr>
          <a:xfrm>
            <a:off x="621792" y="2395728"/>
            <a:ext cx="6035040" cy="72943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>
                <a:solidFill>
                  <a:srgbClr val="D7EBFF"/>
                </a:solidFill>
                <a:latin typeface="Aptos" panose="020B0004020202020204" pitchFamily="34" charset="0"/>
              </a:rPr>
              <a:t>A customer-ready walkthrough: problem framing, base-model gap, LoRA fine-tuning, synthetic data, AzureML resources, and the before/after demo result.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C7BF1ED-DE79-9DBE-32D2-2DC77A735E4C}"/>
              </a:ext>
            </a:extLst>
          </p:cNvPr>
          <p:cNvSpPr/>
          <p:nvPr/>
        </p:nvSpPr>
        <p:spPr>
          <a:xfrm>
            <a:off x="621792" y="3383280"/>
            <a:ext cx="1920240" cy="310896"/>
          </a:xfrm>
          <a:prstGeom prst="roundRect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C2DCBE-9D9B-EB03-6491-B7983ACDE896}"/>
              </a:ext>
            </a:extLst>
          </p:cNvPr>
          <p:cNvSpPr txBox="1"/>
          <p:nvPr/>
        </p:nvSpPr>
        <p:spPr>
          <a:xfrm>
            <a:off x="713232" y="3442716"/>
            <a:ext cx="17373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AzureML managed compute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88E89D-F4FF-891A-D456-90BF82786FD4}"/>
              </a:ext>
            </a:extLst>
          </p:cNvPr>
          <p:cNvSpPr/>
          <p:nvPr/>
        </p:nvSpPr>
        <p:spPr>
          <a:xfrm>
            <a:off x="2697480" y="3383280"/>
            <a:ext cx="1600200" cy="310896"/>
          </a:xfrm>
          <a:prstGeom prst="roundRect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D534FF-DA10-303C-1B55-A8AF7ABD7180}"/>
              </a:ext>
            </a:extLst>
          </p:cNvPr>
          <p:cNvSpPr txBox="1"/>
          <p:nvPr/>
        </p:nvSpPr>
        <p:spPr>
          <a:xfrm>
            <a:off x="2788920" y="3442716"/>
            <a:ext cx="14173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Synthetic data only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15713B2-8AA7-CD05-9806-A86EBA5959C6}"/>
              </a:ext>
            </a:extLst>
          </p:cNvPr>
          <p:cNvSpPr/>
          <p:nvPr/>
        </p:nvSpPr>
        <p:spPr>
          <a:xfrm>
            <a:off x="4443984" y="3383280"/>
            <a:ext cx="1234440" cy="310896"/>
          </a:xfrm>
          <a:prstGeom prst="roundRect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5BEAF2-0112-AF35-B2C5-DC42C314BFDB}"/>
              </a:ext>
            </a:extLst>
          </p:cNvPr>
          <p:cNvSpPr txBox="1"/>
          <p:nvPr/>
        </p:nvSpPr>
        <p:spPr>
          <a:xfrm>
            <a:off x="4535424" y="3442716"/>
            <a:ext cx="10515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LoRA adapter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1F1808A-58BD-041A-334A-3228CF5A8A79}"/>
              </a:ext>
            </a:extLst>
          </p:cNvPr>
          <p:cNvSpPr/>
          <p:nvPr/>
        </p:nvSpPr>
        <p:spPr>
          <a:xfrm>
            <a:off x="7406640" y="1261872"/>
            <a:ext cx="3566160" cy="3429000"/>
          </a:xfrm>
          <a:prstGeom prst="roundRect">
            <a:avLst/>
          </a:prstGeom>
          <a:solidFill>
            <a:srgbClr val="11100F"/>
          </a:solidFill>
          <a:ln w="6350">
            <a:solidFill>
              <a:srgbClr val="605E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5F1B465-BE42-9781-FFF4-4E7D53400E03}"/>
              </a:ext>
            </a:extLst>
          </p:cNvPr>
          <p:cNvSpPr/>
          <p:nvPr/>
        </p:nvSpPr>
        <p:spPr>
          <a:xfrm>
            <a:off x="7726680" y="1627632"/>
            <a:ext cx="2926081" cy="384048"/>
          </a:xfrm>
          <a:prstGeom prst="roundRect">
            <a:avLst/>
          </a:prstGeom>
          <a:solidFill>
            <a:srgbClr val="0045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09B9D9-3BE9-7BA4-7B9A-1EA3EF919B0C}"/>
              </a:ext>
            </a:extLst>
          </p:cNvPr>
          <p:cNvSpPr txBox="1"/>
          <p:nvPr/>
        </p:nvSpPr>
        <p:spPr>
          <a:xfrm>
            <a:off x="7900416" y="1709928"/>
            <a:ext cx="24688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 b="1">
                <a:solidFill>
                  <a:srgbClr val="FFFFFF"/>
                </a:solidFill>
                <a:latin typeface="Segoe UI" panose="020B0502040204020203" pitchFamily="34" charset="0"/>
              </a:rPr>
              <a:t>Browser Agent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692FB97-6642-B1F6-B399-8892B7169890}"/>
              </a:ext>
            </a:extLst>
          </p:cNvPr>
          <p:cNvSpPr/>
          <p:nvPr/>
        </p:nvSpPr>
        <p:spPr>
          <a:xfrm>
            <a:off x="7726680" y="2240280"/>
            <a:ext cx="1234440" cy="475488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7F4312-BAD7-1B6C-B55B-5638555CA54C}"/>
              </a:ext>
            </a:extLst>
          </p:cNvPr>
          <p:cNvSpPr txBox="1"/>
          <p:nvPr/>
        </p:nvSpPr>
        <p:spPr>
          <a:xfrm>
            <a:off x="8046720" y="2395728"/>
            <a:ext cx="59436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004578"/>
                </a:solidFill>
                <a:latin typeface="Segoe UI" panose="020B0502040204020203" pitchFamily="34" charset="0"/>
              </a:rPr>
              <a:t>DOM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84A4855-790C-36CD-37BD-0A5B4C53AE91}"/>
              </a:ext>
            </a:extLst>
          </p:cNvPr>
          <p:cNvSpPr/>
          <p:nvPr/>
        </p:nvSpPr>
        <p:spPr>
          <a:xfrm>
            <a:off x="9189720" y="2240280"/>
            <a:ext cx="1234440" cy="475488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D25EC5-1D29-BB60-31AB-66E2063C428C}"/>
              </a:ext>
            </a:extLst>
          </p:cNvPr>
          <p:cNvSpPr txBox="1"/>
          <p:nvPr/>
        </p:nvSpPr>
        <p:spPr>
          <a:xfrm>
            <a:off x="9464040" y="2395728"/>
            <a:ext cx="68580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5C2D91"/>
                </a:solidFill>
                <a:latin typeface="Segoe UI" panose="020B0502040204020203" pitchFamily="34" charset="0"/>
              </a:rPr>
              <a:t>Intent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D652652-2E65-7586-DDD8-5D28B8D680C8}"/>
              </a:ext>
            </a:extLst>
          </p:cNvPr>
          <p:cNvCxnSpPr/>
          <p:nvPr/>
        </p:nvCxnSpPr>
        <p:spPr>
          <a:xfrm>
            <a:off x="8979408" y="2468880"/>
            <a:ext cx="192024" cy="0"/>
          </a:xfrm>
          <a:prstGeom prst="line">
            <a:avLst/>
          </a:prstGeom>
          <a:ln w="20320">
            <a:solidFill>
              <a:srgbClr val="8A88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968504-1394-5D8C-2857-49C1AD4273C1}"/>
              </a:ext>
            </a:extLst>
          </p:cNvPr>
          <p:cNvSpPr/>
          <p:nvPr/>
        </p:nvSpPr>
        <p:spPr>
          <a:xfrm>
            <a:off x="8275320" y="3246120"/>
            <a:ext cx="1627632" cy="585216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609BBB-D50C-7DA9-FC3F-4BEDD14BC8E5}"/>
              </a:ext>
            </a:extLst>
          </p:cNvPr>
          <p:cNvSpPr txBox="1"/>
          <p:nvPr/>
        </p:nvSpPr>
        <p:spPr>
          <a:xfrm>
            <a:off x="8449056" y="3456432"/>
            <a:ext cx="1280160" cy="17543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00" b="1">
                <a:solidFill>
                  <a:srgbClr val="107C10"/>
                </a:solidFill>
                <a:latin typeface="Segoe UI" panose="020B0502040204020203" pitchFamily="34" charset="0"/>
              </a:rPr>
              <a:t>JSON actions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1EB97C3-403F-04C0-6469-95CF57778710}"/>
              </a:ext>
            </a:extLst>
          </p:cNvPr>
          <p:cNvCxnSpPr/>
          <p:nvPr/>
        </p:nvCxnSpPr>
        <p:spPr>
          <a:xfrm>
            <a:off x="8339328" y="2761488"/>
            <a:ext cx="466344" cy="457200"/>
          </a:xfrm>
          <a:prstGeom prst="line">
            <a:avLst/>
          </a:prstGeom>
          <a:ln w="2794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F5327E-87F3-4FB2-8BD6-281AD035D39D}"/>
              </a:ext>
            </a:extLst>
          </p:cNvPr>
          <p:cNvCxnSpPr/>
          <p:nvPr/>
        </p:nvCxnSpPr>
        <p:spPr>
          <a:xfrm flipH="1">
            <a:off x="9326880" y="2761488"/>
            <a:ext cx="484632" cy="457200"/>
          </a:xfrm>
          <a:prstGeom prst="line">
            <a:avLst/>
          </a:prstGeom>
          <a:ln w="2794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E95747-AAB1-76F8-8A17-5DCB4841CB06}"/>
              </a:ext>
            </a:extLst>
          </p:cNvPr>
          <p:cNvSpPr txBox="1"/>
          <p:nvPr/>
        </p:nvSpPr>
        <p:spPr>
          <a:xfrm>
            <a:off x="621792" y="6144768"/>
            <a:ext cx="484632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C8C6C4"/>
                </a:solidFill>
                <a:latin typeface="Segoe UI" panose="020B0502040204020203" pitchFamily="34" charset="0"/>
              </a:rPr>
              <a:t>Prepared for Chirag, Dhanshri, and EIM team</a:t>
            </a:r>
          </a:p>
        </p:txBody>
      </p:sp>
    </p:spTree>
    <p:extLst>
      <p:ext uri="{BB962C8B-B14F-4D97-AF65-F5344CB8AC3E}">
        <p14:creationId xmlns:p14="http://schemas.microsoft.com/office/powerpoint/2010/main" val="2868685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F8D728-7B3E-4BF0-810D-C950CD9F006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E95F1C-7914-56F6-198D-0C73C6FEB811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C9A00-3B0D-3236-A28A-E3B297277AF6}"/>
              </a:ext>
            </a:extLst>
          </p:cNvPr>
          <p:cNvSpPr txBox="1"/>
          <p:nvPr/>
        </p:nvSpPr>
        <p:spPr>
          <a:xfrm>
            <a:off x="502920" y="502920"/>
            <a:ext cx="8046720" cy="92948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The problem: browsing agents need repeatable 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6BA4C3-9CA0-073C-3515-79E1C683A31B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1154AC-F265-7E8B-43D2-C8592745744D}"/>
              </a:ext>
            </a:extLst>
          </p:cNvPr>
          <p:cNvSpPr txBox="1"/>
          <p:nvPr/>
        </p:nvSpPr>
        <p:spPr>
          <a:xfrm>
            <a:off x="594360" y="1234440"/>
            <a:ext cx="5669280" cy="68326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>
                <a:solidFill>
                  <a:srgbClr val="605E5C"/>
                </a:solidFill>
                <a:latin typeface="Aptos" panose="020B0004020202020204" pitchFamily="34" charset="0"/>
              </a:rPr>
              <a:t>Chirag's ask maps to a browser-control agent: read a page state, understand the user's intent, and return a precise machine-executable action plan.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CD2584-45A4-E781-66EE-F000D8B98731}"/>
              </a:ext>
            </a:extLst>
          </p:cNvPr>
          <p:cNvSpPr/>
          <p:nvPr/>
        </p:nvSpPr>
        <p:spPr>
          <a:xfrm>
            <a:off x="6858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2C6521-7D10-07FF-B48F-65F237C060BA}"/>
              </a:ext>
            </a:extLst>
          </p:cNvPr>
          <p:cNvSpPr txBox="1"/>
          <p:nvPr/>
        </p:nvSpPr>
        <p:spPr>
          <a:xfrm>
            <a:off x="9144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0078D4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171CD0-481B-63E7-173F-A86C9412EF66}"/>
              </a:ext>
            </a:extLst>
          </p:cNvPr>
          <p:cNvSpPr txBox="1"/>
          <p:nvPr/>
        </p:nvSpPr>
        <p:spPr>
          <a:xfrm>
            <a:off x="1234440" y="2212848"/>
            <a:ext cx="137160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User goal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A7342E-902C-BD4F-1C17-D2230038DBF3}"/>
              </a:ext>
            </a:extLst>
          </p:cNvPr>
          <p:cNvSpPr txBox="1"/>
          <p:nvPr/>
        </p:nvSpPr>
        <p:spPr>
          <a:xfrm>
            <a:off x="914400" y="2770632"/>
            <a:ext cx="1783080" cy="126803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600" b="1">
                <a:solidFill>
                  <a:srgbClr val="004578"/>
                </a:solidFill>
                <a:latin typeface="Aptos" panose="020B0004020202020204" pitchFamily="34" charset="0"/>
              </a:rPr>
              <a:t>Open a prior authorization, run policy check, submit in the right order.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A75C93-8705-8685-ED1C-CD22B2680C31}"/>
              </a:ext>
            </a:extLst>
          </p:cNvPr>
          <p:cNvSpPr/>
          <p:nvPr/>
        </p:nvSpPr>
        <p:spPr>
          <a:xfrm>
            <a:off x="36576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CE9C69-536E-BDDE-FF46-8925BB18201B}"/>
              </a:ext>
            </a:extLst>
          </p:cNvPr>
          <p:cNvSpPr txBox="1"/>
          <p:nvPr/>
        </p:nvSpPr>
        <p:spPr>
          <a:xfrm>
            <a:off x="38862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038387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61D026-8E3D-37E0-CF65-A3C6D7A4BC40}"/>
              </a:ext>
            </a:extLst>
          </p:cNvPr>
          <p:cNvSpPr txBox="1"/>
          <p:nvPr/>
        </p:nvSpPr>
        <p:spPr>
          <a:xfrm>
            <a:off x="4206240" y="2212848"/>
            <a:ext cx="137160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Page 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E03D32-FD17-EB3F-8493-25E0A4F6AC79}"/>
              </a:ext>
            </a:extLst>
          </p:cNvPr>
          <p:cNvSpPr txBox="1"/>
          <p:nvPr/>
        </p:nvSpPr>
        <p:spPr>
          <a:xfrm>
            <a:off x="3931920" y="2779776"/>
            <a:ext cx="1737360" cy="96026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38387"/>
                </a:solidFill>
                <a:latin typeface="Aptos" panose="020B0004020202020204" pitchFamily="34" charset="0"/>
              </a:rPr>
              <a:t>DOM snippet with noisy IDs plus stable data-eim attributes.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625A86C-1872-3312-C07A-2913B2492782}"/>
              </a:ext>
            </a:extLst>
          </p:cNvPr>
          <p:cNvSpPr/>
          <p:nvPr/>
        </p:nvSpPr>
        <p:spPr>
          <a:xfrm>
            <a:off x="6629400" y="2011680"/>
            <a:ext cx="233172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7B2EF6-300D-E936-5FE7-BF57772B3C7B}"/>
              </a:ext>
            </a:extLst>
          </p:cNvPr>
          <p:cNvSpPr txBox="1"/>
          <p:nvPr/>
        </p:nvSpPr>
        <p:spPr>
          <a:xfrm>
            <a:off x="6858000" y="2249424"/>
            <a:ext cx="256032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107C10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B01279-5596-ADCD-32D2-CCBD5BB54447}"/>
              </a:ext>
            </a:extLst>
          </p:cNvPr>
          <p:cNvSpPr txBox="1"/>
          <p:nvPr/>
        </p:nvSpPr>
        <p:spPr>
          <a:xfrm>
            <a:off x="7178040" y="2212848"/>
            <a:ext cx="155448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Action contract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A54882-1CD8-7478-21D1-C58850B73A5B}"/>
              </a:ext>
            </a:extLst>
          </p:cNvPr>
          <p:cNvSpPr txBox="1"/>
          <p:nvPr/>
        </p:nvSpPr>
        <p:spPr>
          <a:xfrm>
            <a:off x="6903720" y="2770632"/>
            <a:ext cx="1783080" cy="96026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Aptos" panose="020B0004020202020204" pitchFamily="34" charset="0"/>
              </a:rPr>
              <a:t>Return only JSON: click, type, extract - no prose, no markdown.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1476A85-2A4E-053F-E487-301EB27E346E}"/>
              </a:ext>
            </a:extLst>
          </p:cNvPr>
          <p:cNvSpPr/>
          <p:nvPr/>
        </p:nvSpPr>
        <p:spPr>
          <a:xfrm>
            <a:off x="9601200" y="2011680"/>
            <a:ext cx="1874520" cy="228600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6C6C20-20C6-622A-D90C-8FFD23F29C67}"/>
              </a:ext>
            </a:extLst>
          </p:cNvPr>
          <p:cNvSpPr txBox="1"/>
          <p:nvPr/>
        </p:nvSpPr>
        <p:spPr>
          <a:xfrm>
            <a:off x="9829800" y="2267712"/>
            <a:ext cx="14173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Segoe UI" panose="020B0502040204020203" pitchFamily="34" charset="0"/>
              </a:rPr>
              <a:t>Why it matters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575E7B-3C0C-0683-453B-C54BE8FC09C2}"/>
              </a:ext>
            </a:extLst>
          </p:cNvPr>
          <p:cNvSpPr txBox="1"/>
          <p:nvPr/>
        </p:nvSpPr>
        <p:spPr>
          <a:xfrm>
            <a:off x="9893808" y="2770632"/>
            <a:ext cx="1234440" cy="119109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Repeatable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Auditable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Low variance</a:t>
            </a:r>
          </a:p>
          <a:p>
            <a:pPr algn="ctr"/>
            <a:r>
              <a:rPr lang="en-US" sz="1500" b="1">
                <a:solidFill>
                  <a:srgbClr val="D7EBFF"/>
                </a:solidFill>
                <a:latin typeface="Aptos" panose="020B0004020202020204" pitchFamily="34" charset="0"/>
              </a:rPr>
              <a:t>Workflow-safe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131859F-2DA3-E255-D7FC-ACFA2BB477DD}"/>
              </a:ext>
            </a:extLst>
          </p:cNvPr>
          <p:cNvCxnSpPr/>
          <p:nvPr/>
        </p:nvCxnSpPr>
        <p:spPr>
          <a:xfrm>
            <a:off x="3035808" y="3154680"/>
            <a:ext cx="576072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96D51A0-8492-E988-0335-4E9D974795BE}"/>
              </a:ext>
            </a:extLst>
          </p:cNvPr>
          <p:cNvCxnSpPr/>
          <p:nvPr/>
        </p:nvCxnSpPr>
        <p:spPr>
          <a:xfrm>
            <a:off x="6007608" y="3154680"/>
            <a:ext cx="576072" cy="0"/>
          </a:xfrm>
          <a:prstGeom prst="line">
            <a:avLst/>
          </a:prstGeom>
          <a:ln w="31750">
            <a:solidFill>
              <a:srgbClr val="00B7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1E97FF-438C-79E2-F039-2D7CE7522556}"/>
              </a:ext>
            </a:extLst>
          </p:cNvPr>
          <p:cNvCxnSpPr/>
          <p:nvPr/>
        </p:nvCxnSpPr>
        <p:spPr>
          <a:xfrm>
            <a:off x="8979408" y="3154680"/>
            <a:ext cx="576072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6230565-6E5C-A0A8-0843-A6CDE4ABCEEC}"/>
              </a:ext>
            </a:extLst>
          </p:cNvPr>
          <p:cNvSpPr/>
          <p:nvPr/>
        </p:nvSpPr>
        <p:spPr>
          <a:xfrm>
            <a:off x="68580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11E18B-F0F5-7565-DC89-49EEB4BF1AD6}"/>
              </a:ext>
            </a:extLst>
          </p:cNvPr>
          <p:cNvSpPr txBox="1"/>
          <p:nvPr/>
        </p:nvSpPr>
        <p:spPr>
          <a:xfrm>
            <a:off x="85039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JSON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793A51-2384-1E80-3594-B8481C4AE541}"/>
              </a:ext>
            </a:extLst>
          </p:cNvPr>
          <p:cNvSpPr txBox="1"/>
          <p:nvPr/>
        </p:nvSpPr>
        <p:spPr>
          <a:xfrm>
            <a:off x="850392" y="5522976"/>
            <a:ext cx="1865376" cy="3293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Output is executable, not just plausible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7DDCDC2-981D-974F-D633-71515D3CADFB}"/>
              </a:ext>
            </a:extLst>
          </p:cNvPr>
          <p:cNvSpPr/>
          <p:nvPr/>
        </p:nvSpPr>
        <p:spPr>
          <a:xfrm>
            <a:off x="324612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B31BE31-277B-9F03-46E5-6F3AD152EE83}"/>
              </a:ext>
            </a:extLst>
          </p:cNvPr>
          <p:cNvSpPr txBox="1"/>
          <p:nvPr/>
        </p:nvSpPr>
        <p:spPr>
          <a:xfrm>
            <a:off x="341071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data-eim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0A2199-21E1-A585-CA11-351B56D0F871}"/>
              </a:ext>
            </a:extLst>
          </p:cNvPr>
          <p:cNvSpPr txBox="1"/>
          <p:nvPr/>
        </p:nvSpPr>
        <p:spPr>
          <a:xfrm>
            <a:off x="3410712" y="5522976"/>
            <a:ext cx="1865376" cy="3293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Stable selectors survive UI-generated IDs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C43E75C-6AB3-6432-F5B1-40F30F536476}"/>
              </a:ext>
            </a:extLst>
          </p:cNvPr>
          <p:cNvSpPr/>
          <p:nvPr/>
        </p:nvSpPr>
        <p:spPr>
          <a:xfrm>
            <a:off x="580644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84D523-3BCF-3DB7-98B7-AAA82DEF7912}"/>
              </a:ext>
            </a:extLst>
          </p:cNvPr>
          <p:cNvSpPr txBox="1"/>
          <p:nvPr/>
        </p:nvSpPr>
        <p:spPr>
          <a:xfrm>
            <a:off x="597103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0 PHI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2B9CF9-BBD6-32B1-50CB-CB7A4A9CEEEA}"/>
              </a:ext>
            </a:extLst>
          </p:cNvPr>
          <p:cNvSpPr txBox="1"/>
          <p:nvPr/>
        </p:nvSpPr>
        <p:spPr>
          <a:xfrm>
            <a:off x="5971032" y="5522976"/>
            <a:ext cx="186537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Healthcare-safe demo data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5CD4BA5-1564-0D6D-FA2E-5768FD840BED}"/>
              </a:ext>
            </a:extLst>
          </p:cNvPr>
          <p:cNvSpPr/>
          <p:nvPr/>
        </p:nvSpPr>
        <p:spPr>
          <a:xfrm>
            <a:off x="8366760" y="4956048"/>
            <a:ext cx="219456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8605AE-8B45-6508-4ECC-5C2C62F14108}"/>
              </a:ext>
            </a:extLst>
          </p:cNvPr>
          <p:cNvSpPr txBox="1"/>
          <p:nvPr/>
        </p:nvSpPr>
        <p:spPr>
          <a:xfrm>
            <a:off x="8531352" y="5084064"/>
            <a:ext cx="186537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Pilot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59B9AC-8559-E53B-26FC-1FF5446B89BB}"/>
              </a:ext>
            </a:extLst>
          </p:cNvPr>
          <p:cNvSpPr txBox="1"/>
          <p:nvPr/>
        </p:nvSpPr>
        <p:spPr>
          <a:xfrm>
            <a:off x="8531352" y="5522976"/>
            <a:ext cx="186537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One narrow workflow first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00A68F-846C-6435-93F6-1C564C3A981F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02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8446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74F2EB-4006-518A-3C25-366322E058A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0883F8-7A6B-E30A-D2CD-EE1492373335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4FF392-5825-2F89-9D38-C3BADAE17558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What this demo considers - and why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834CCE-9674-5E25-2C61-03027887A0D1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B1F959-3B6F-77AB-306F-5B6567E9CE1F}"/>
              </a:ext>
            </a:extLst>
          </p:cNvPr>
          <p:cNvSpPr txBox="1"/>
          <p:nvPr/>
        </p:nvSpPr>
        <p:spPr>
          <a:xfrm>
            <a:off x="594360" y="1207008"/>
            <a:ext cx="813816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The goal is a disciplined answer to a narrow question: can a small SLM learn Molina/EIM browser-action behavior well enough to justify a pilot?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E293335-C21B-ED53-E397-954D36205524}"/>
              </a:ext>
            </a:extLst>
          </p:cNvPr>
          <p:cNvSpPr/>
          <p:nvPr/>
        </p:nvSpPr>
        <p:spPr>
          <a:xfrm>
            <a:off x="685800" y="18745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CCCAF-8814-B10C-3621-50EBFE62E55A}"/>
              </a:ext>
            </a:extLst>
          </p:cNvPr>
          <p:cNvSpPr/>
          <p:nvPr/>
        </p:nvSpPr>
        <p:spPr>
          <a:xfrm>
            <a:off x="868680" y="2093976"/>
            <a:ext cx="384048" cy="384048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EEF67-B655-0F6C-248C-B44821EE3B4E}"/>
              </a:ext>
            </a:extLst>
          </p:cNvPr>
          <p:cNvSpPr txBox="1"/>
          <p:nvPr/>
        </p:nvSpPr>
        <p:spPr>
          <a:xfrm>
            <a:off x="87782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8770B-C9B6-9C30-50B2-8AB4C46AFD2F}"/>
              </a:ext>
            </a:extLst>
          </p:cNvPr>
          <p:cNvSpPr txBox="1"/>
          <p:nvPr/>
        </p:nvSpPr>
        <p:spPr>
          <a:xfrm>
            <a:off x="139903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Workflow contract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0072E-7FAA-57C9-6548-0A3E4C774527}"/>
              </a:ext>
            </a:extLst>
          </p:cNvPr>
          <p:cNvSpPr txBox="1"/>
          <p:nvPr/>
        </p:nvSpPr>
        <p:spPr>
          <a:xfrm>
            <a:off x="139903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DOM + instruction in, JSON action plan out. This is the core browser-agent interface.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EBAC42-FAC3-1D8A-6B5E-62F3746FEC4B}"/>
              </a:ext>
            </a:extLst>
          </p:cNvPr>
          <p:cNvSpPr/>
          <p:nvPr/>
        </p:nvSpPr>
        <p:spPr>
          <a:xfrm>
            <a:off x="4434840" y="1874520"/>
            <a:ext cx="3246121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F50CF3-B806-BE7F-D61A-2E2D85FA3B04}"/>
              </a:ext>
            </a:extLst>
          </p:cNvPr>
          <p:cNvSpPr/>
          <p:nvPr/>
        </p:nvSpPr>
        <p:spPr>
          <a:xfrm>
            <a:off x="4617720" y="2093976"/>
            <a:ext cx="384048" cy="384048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68B22C-B665-188D-9BFC-AF4DAC6DDCA4}"/>
              </a:ext>
            </a:extLst>
          </p:cNvPr>
          <p:cNvSpPr txBox="1"/>
          <p:nvPr/>
        </p:nvSpPr>
        <p:spPr>
          <a:xfrm>
            <a:off x="462686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BFBBD7-33F4-2E5A-7B8B-646496482572}"/>
              </a:ext>
            </a:extLst>
          </p:cNvPr>
          <p:cNvSpPr txBox="1"/>
          <p:nvPr/>
        </p:nvSpPr>
        <p:spPr>
          <a:xfrm>
            <a:off x="514807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Small model baseline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47C4A4-868B-DFBE-947A-37DAC0140D11}"/>
              </a:ext>
            </a:extLst>
          </p:cNvPr>
          <p:cNvSpPr txBox="1"/>
          <p:nvPr/>
        </p:nvSpPr>
        <p:spPr>
          <a:xfrm>
            <a:off x="514807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Gemma 4B-class SLM can often parse the task, but generic behavior is inconsistent.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CB25DD6-F901-7022-0252-C93A10204D80}"/>
              </a:ext>
            </a:extLst>
          </p:cNvPr>
          <p:cNvSpPr/>
          <p:nvPr/>
        </p:nvSpPr>
        <p:spPr>
          <a:xfrm>
            <a:off x="8183880" y="18745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B846843-F74B-B476-EAB9-CF40DA4A700B}"/>
              </a:ext>
            </a:extLst>
          </p:cNvPr>
          <p:cNvSpPr/>
          <p:nvPr/>
        </p:nvSpPr>
        <p:spPr>
          <a:xfrm>
            <a:off x="8366760" y="2093976"/>
            <a:ext cx="384048" cy="384048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390BD5-A614-95D2-3A38-4A2A25163A64}"/>
              </a:ext>
            </a:extLst>
          </p:cNvPr>
          <p:cNvSpPr txBox="1"/>
          <p:nvPr/>
        </p:nvSpPr>
        <p:spPr>
          <a:xfrm>
            <a:off x="8375904" y="21579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E0A67D-4E21-764D-4235-59F48F4339F0}"/>
              </a:ext>
            </a:extLst>
          </p:cNvPr>
          <p:cNvSpPr txBox="1"/>
          <p:nvPr/>
        </p:nvSpPr>
        <p:spPr>
          <a:xfrm>
            <a:off x="8897112" y="20756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Synthetic training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BC7773-305C-81C4-EBB3-933C2DB4039A}"/>
              </a:ext>
            </a:extLst>
          </p:cNvPr>
          <p:cNvSpPr txBox="1"/>
          <p:nvPr/>
        </p:nvSpPr>
        <p:spPr>
          <a:xfrm>
            <a:off x="8897112" y="23774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Healthcare-shaped, deterministic, fake members and claims. No Molina PHI.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9B8DCAD-14BB-A51C-93D7-11C21ECF35B3}"/>
              </a:ext>
            </a:extLst>
          </p:cNvPr>
          <p:cNvSpPr/>
          <p:nvPr/>
        </p:nvSpPr>
        <p:spPr>
          <a:xfrm>
            <a:off x="685800" y="37033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AE31ED3-6AC6-454E-CC12-37150E42043B}"/>
              </a:ext>
            </a:extLst>
          </p:cNvPr>
          <p:cNvSpPr/>
          <p:nvPr/>
        </p:nvSpPr>
        <p:spPr>
          <a:xfrm>
            <a:off x="868680" y="3922776"/>
            <a:ext cx="384048" cy="384048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4FFC96-A707-2341-782B-E9BE0C02FBAC}"/>
              </a:ext>
            </a:extLst>
          </p:cNvPr>
          <p:cNvSpPr txBox="1"/>
          <p:nvPr/>
        </p:nvSpPr>
        <p:spPr>
          <a:xfrm>
            <a:off x="87782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D6ADCC-F651-5236-D5B2-818A5C477FEB}"/>
              </a:ext>
            </a:extLst>
          </p:cNvPr>
          <p:cNvSpPr txBox="1"/>
          <p:nvPr/>
        </p:nvSpPr>
        <p:spPr>
          <a:xfrm>
            <a:off x="139903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Objective checks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669BA1-64CE-5B87-511F-78138040C14E}"/>
              </a:ext>
            </a:extLst>
          </p:cNvPr>
          <p:cNvSpPr txBox="1"/>
          <p:nvPr/>
        </p:nvSpPr>
        <p:spPr>
          <a:xfrm>
            <a:off x="139903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Valid JSON, action schema, stable selectors, workflow navigation, required actions, order.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7D94A8E-87BD-B5A0-FA11-17BC038117B2}"/>
              </a:ext>
            </a:extLst>
          </p:cNvPr>
          <p:cNvSpPr/>
          <p:nvPr/>
        </p:nvSpPr>
        <p:spPr>
          <a:xfrm>
            <a:off x="4434840" y="3703320"/>
            <a:ext cx="3246121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F19ECC4-6CA4-7936-F419-FF61EDEAA6E1}"/>
              </a:ext>
            </a:extLst>
          </p:cNvPr>
          <p:cNvSpPr/>
          <p:nvPr/>
        </p:nvSpPr>
        <p:spPr>
          <a:xfrm>
            <a:off x="4617720" y="3922776"/>
            <a:ext cx="384048" cy="384048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B4322E-5700-BA3E-1D44-943791AEBBA0}"/>
              </a:ext>
            </a:extLst>
          </p:cNvPr>
          <p:cNvSpPr txBox="1"/>
          <p:nvPr/>
        </p:nvSpPr>
        <p:spPr>
          <a:xfrm>
            <a:off x="462686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7B5177-DFD3-6FBA-D21E-DE15AC587DF3}"/>
              </a:ext>
            </a:extLst>
          </p:cNvPr>
          <p:cNvSpPr txBox="1"/>
          <p:nvPr/>
        </p:nvSpPr>
        <p:spPr>
          <a:xfrm>
            <a:off x="514807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Azure execution path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466483-B57C-66AA-A3C0-A247DD1E76EE}"/>
              </a:ext>
            </a:extLst>
          </p:cNvPr>
          <p:cNvSpPr txBox="1"/>
          <p:nvPr/>
        </p:nvSpPr>
        <p:spPr>
          <a:xfrm>
            <a:off x="514807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A100 managed compute, AzureML job lineage, model registration, online endpoint.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F9A004F-40FC-015F-9539-D0A7080E2F00}"/>
              </a:ext>
            </a:extLst>
          </p:cNvPr>
          <p:cNvSpPr/>
          <p:nvPr/>
        </p:nvSpPr>
        <p:spPr>
          <a:xfrm>
            <a:off x="8183880" y="3703320"/>
            <a:ext cx="3246120" cy="1353312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22C4FED-B48E-17D6-9998-AEBA1191BC3E}"/>
              </a:ext>
            </a:extLst>
          </p:cNvPr>
          <p:cNvSpPr/>
          <p:nvPr/>
        </p:nvSpPr>
        <p:spPr>
          <a:xfrm>
            <a:off x="8366760" y="3922776"/>
            <a:ext cx="384048" cy="384048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4B938A5-9574-4DF4-94DC-C820CB783CBD}"/>
              </a:ext>
            </a:extLst>
          </p:cNvPr>
          <p:cNvSpPr txBox="1"/>
          <p:nvPr/>
        </p:nvSpPr>
        <p:spPr>
          <a:xfrm>
            <a:off x="8375904" y="3986784"/>
            <a:ext cx="36576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5BFF4C-A1F8-A763-5418-0ECF0334CB63}"/>
              </a:ext>
            </a:extLst>
          </p:cNvPr>
          <p:cNvSpPr txBox="1"/>
          <p:nvPr/>
        </p:nvSpPr>
        <p:spPr>
          <a:xfrm>
            <a:off x="8897112" y="3904488"/>
            <a:ext cx="22402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Cost and cleanup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1FA3C3-6591-F0C8-3B81-378115D2434B}"/>
              </a:ext>
            </a:extLst>
          </p:cNvPr>
          <p:cNvSpPr txBox="1"/>
          <p:nvPr/>
        </p:nvSpPr>
        <p:spPr>
          <a:xfrm>
            <a:off x="8897112" y="4206240"/>
            <a:ext cx="2267712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LoRA keeps training small; endpoint is deleted after demo to stop A100 billing.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AEF01-4803-8D5C-2931-3DB994AF4138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03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551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305FDF-D4B4-5123-FE78-335937479F5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32D5B2-DD2B-1B1C-1A2F-F06107D62C82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516BFF-0C87-D007-47CC-800AD72989BD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Base Gemma misses the EIM contract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8B0939-76A4-CF40-67EA-8504ACA7B101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6C052-795A-DC41-724B-1E756DD0FB4E}"/>
              </a:ext>
            </a:extLst>
          </p:cNvPr>
          <p:cNvSpPr txBox="1"/>
          <p:nvPr/>
        </p:nvSpPr>
        <p:spPr>
          <a:xfrm>
            <a:off x="594360" y="1188720"/>
            <a:ext cx="640080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In the live demo, the base model often gets surface structure right, but misses the stable EIM automation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533867-2A46-7731-AA3A-32F508C7352A}"/>
              </a:ext>
            </a:extLst>
          </p:cNvPr>
          <p:cNvSpPr/>
          <p:nvPr/>
        </p:nvSpPr>
        <p:spPr>
          <a:xfrm>
            <a:off x="685800" y="1755648"/>
            <a:ext cx="5212080" cy="39776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F58DDE-6E06-6D8C-5327-79903CA8D8A5}"/>
              </a:ext>
            </a:extLst>
          </p:cNvPr>
          <p:cNvSpPr txBox="1"/>
          <p:nvPr/>
        </p:nvSpPr>
        <p:spPr>
          <a:xfrm>
            <a:off x="960120" y="1993392"/>
            <a:ext cx="384048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004578"/>
                </a:solidFill>
                <a:latin typeface="Segoe UI" panose="020B0502040204020203" pitchFamily="34" charset="0"/>
              </a:rPr>
              <a:t>Base Gemma response pattern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BC704D-5A50-79E0-5CD3-28CFEB1D24BA}"/>
              </a:ext>
            </a:extLst>
          </p:cNvPr>
          <p:cNvSpPr txBox="1"/>
          <p:nvPr/>
        </p:nvSpPr>
        <p:spPr>
          <a:xfrm>
            <a:off x="960120" y="2432304"/>
            <a:ext cx="237744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107C10"/>
                </a:solidFill>
                <a:latin typeface="Segoe UI" panose="020B0502040204020203" pitchFamily="34" charset="0"/>
              </a:rPr>
              <a:t>Passes low-level format checks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22569C-E081-CD31-7E1C-EABB6FC2DD9C}"/>
              </a:ext>
            </a:extLst>
          </p:cNvPr>
          <p:cNvSpPr txBox="1"/>
          <p:nvPr/>
        </p:nvSpPr>
        <p:spPr>
          <a:xfrm>
            <a:off x="960120" y="2724912"/>
            <a:ext cx="2011680" cy="63709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Valid JSON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Action schema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Selector syntax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92CF57-9D26-4E03-29E2-EEC95614B8DF}"/>
              </a:ext>
            </a:extLst>
          </p:cNvPr>
          <p:cNvSpPr txBox="1"/>
          <p:nvPr/>
        </p:nvSpPr>
        <p:spPr>
          <a:xfrm>
            <a:off x="3246120" y="2432304"/>
            <a:ext cx="214884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D13438"/>
                </a:solidFill>
                <a:latin typeface="Segoe UI" panose="020B0502040204020203" pitchFamily="34" charset="0"/>
              </a:rPr>
              <a:t>Misses workflow checks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C16AD3-A34B-7EE9-5CD3-BF6CBEDD1A43}"/>
              </a:ext>
            </a:extLst>
          </p:cNvPr>
          <p:cNvSpPr txBox="1"/>
          <p:nvPr/>
        </p:nvSpPr>
        <p:spPr>
          <a:xfrm>
            <a:off x="3246120" y="2724912"/>
            <a:ext cx="2194560" cy="103720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Stable EIM selectors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Workflow navigation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Required actions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Correct order</a:t>
            </a:r>
          </a:p>
          <a:p>
            <a:r>
              <a:rPr lang="en-US" sz="1300">
                <a:solidFill>
                  <a:srgbClr val="201F1E"/>
                </a:solidFill>
                <a:latin typeface="Aptos" panose="020B0004020202020204" pitchFamily="34" charset="0"/>
              </a:rPr>
              <a:t>Exact match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DCAD18-7472-A512-E599-BAA2A7AB6DDB}"/>
              </a:ext>
            </a:extLst>
          </p:cNvPr>
          <p:cNvSpPr/>
          <p:nvPr/>
        </p:nvSpPr>
        <p:spPr>
          <a:xfrm>
            <a:off x="960120" y="4096512"/>
            <a:ext cx="4434840" cy="103327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55A283-8259-DC4F-8C5F-D711AA6EBCED}"/>
              </a:ext>
            </a:extLst>
          </p:cNvPr>
          <p:cNvSpPr txBox="1"/>
          <p:nvPr/>
        </p:nvSpPr>
        <p:spPr>
          <a:xfrm>
            <a:off x="1170432" y="4352544"/>
            <a:ext cx="374904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600" b="1">
                <a:solidFill>
                  <a:srgbClr val="004578"/>
                </a:solidFill>
                <a:latin typeface="Consolas" panose="020B0609020204030204" pitchFamily="49" charset="0"/>
              </a:rPr>
              <a:t>Example: #member-search-3430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97C06B-90AB-6FA8-FD66-57506C62AE0F}"/>
              </a:ext>
            </a:extLst>
          </p:cNvPr>
          <p:cNvSpPr txBox="1"/>
          <p:nvPr/>
        </p:nvSpPr>
        <p:spPr>
          <a:xfrm>
            <a:off x="1170432" y="4718304"/>
            <a:ext cx="379476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Works once, brittle when UI-generated IDs change.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59955AE-9020-2A76-7501-C3DAD46E02A0}"/>
              </a:ext>
            </a:extLst>
          </p:cNvPr>
          <p:cNvSpPr/>
          <p:nvPr/>
        </p:nvSpPr>
        <p:spPr>
          <a:xfrm>
            <a:off x="6446520" y="1755648"/>
            <a:ext cx="5074920" cy="39776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607FA5-E554-9609-A2B5-9F0C1B6B9A66}"/>
              </a:ext>
            </a:extLst>
          </p:cNvPr>
          <p:cNvSpPr txBox="1"/>
          <p:nvPr/>
        </p:nvSpPr>
        <p:spPr>
          <a:xfrm>
            <a:off x="6720840" y="1993392"/>
            <a:ext cx="356616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Response Score Breakdown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913C6D-A13F-2094-8C57-0773E1A8BCC9}"/>
              </a:ext>
            </a:extLst>
          </p:cNvPr>
          <p:cNvSpPr txBox="1"/>
          <p:nvPr/>
        </p:nvSpPr>
        <p:spPr>
          <a:xfrm>
            <a:off x="6720840" y="2395728"/>
            <a:ext cx="19659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Check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A39618-401D-88BB-79CF-FC5419C73222}"/>
              </a:ext>
            </a:extLst>
          </p:cNvPr>
          <p:cNvSpPr txBox="1"/>
          <p:nvPr/>
        </p:nvSpPr>
        <p:spPr>
          <a:xfrm>
            <a:off x="9326880" y="2395728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Base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DFBEF9-9851-BEF0-0469-D347A453001D}"/>
              </a:ext>
            </a:extLst>
          </p:cNvPr>
          <p:cNvSpPr txBox="1"/>
          <p:nvPr/>
        </p:nvSpPr>
        <p:spPr>
          <a:xfrm>
            <a:off x="10287000" y="2395728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605E5C"/>
                </a:solidFill>
                <a:latin typeface="Segoe UI" panose="020B0502040204020203" pitchFamily="34" charset="0"/>
              </a:rPr>
              <a:t>Tuned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89FE80-DDFC-E542-689F-50DA52E2830D}"/>
              </a:ext>
            </a:extLst>
          </p:cNvPr>
          <p:cNvSpPr txBox="1"/>
          <p:nvPr/>
        </p:nvSpPr>
        <p:spPr>
          <a:xfrm>
            <a:off x="6720840" y="2679192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Valid JSON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42036B0-99D8-4CB5-BC74-6F925963DF45}"/>
              </a:ext>
            </a:extLst>
          </p:cNvPr>
          <p:cNvSpPr/>
          <p:nvPr/>
        </p:nvSpPr>
        <p:spPr>
          <a:xfrm>
            <a:off x="9235440" y="264261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DD01D8-F668-6276-BA12-18342B619C52}"/>
              </a:ext>
            </a:extLst>
          </p:cNvPr>
          <p:cNvSpPr txBox="1"/>
          <p:nvPr/>
        </p:nvSpPr>
        <p:spPr>
          <a:xfrm>
            <a:off x="9272016" y="271119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8AEA67-1359-6782-C8E1-285EB1DE88B0}"/>
              </a:ext>
            </a:extLst>
          </p:cNvPr>
          <p:cNvSpPr/>
          <p:nvPr/>
        </p:nvSpPr>
        <p:spPr>
          <a:xfrm>
            <a:off x="10241280" y="264261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80780C-17CE-F56B-708D-03F51760F7D2}"/>
              </a:ext>
            </a:extLst>
          </p:cNvPr>
          <p:cNvSpPr txBox="1"/>
          <p:nvPr/>
        </p:nvSpPr>
        <p:spPr>
          <a:xfrm>
            <a:off x="10277856" y="271119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716C42-0568-C0AF-C18C-08FDE27EC0EA}"/>
              </a:ext>
            </a:extLst>
          </p:cNvPr>
          <p:cNvSpPr txBox="1"/>
          <p:nvPr/>
        </p:nvSpPr>
        <p:spPr>
          <a:xfrm>
            <a:off x="6720840" y="2990088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Action schema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DBBC85D-9622-50B1-4584-3040191D4812}"/>
              </a:ext>
            </a:extLst>
          </p:cNvPr>
          <p:cNvSpPr/>
          <p:nvPr/>
        </p:nvSpPr>
        <p:spPr>
          <a:xfrm>
            <a:off x="9235440" y="295351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394128-742E-E043-1B7D-F37C55DCC6BF}"/>
              </a:ext>
            </a:extLst>
          </p:cNvPr>
          <p:cNvSpPr txBox="1"/>
          <p:nvPr/>
        </p:nvSpPr>
        <p:spPr>
          <a:xfrm>
            <a:off x="9272016" y="302209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EED1F85-44C6-2055-8006-A6E20A0BD46B}"/>
              </a:ext>
            </a:extLst>
          </p:cNvPr>
          <p:cNvSpPr/>
          <p:nvPr/>
        </p:nvSpPr>
        <p:spPr>
          <a:xfrm>
            <a:off x="10241280" y="295351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9CC76B-D8FD-2393-587C-9686251273A3}"/>
              </a:ext>
            </a:extLst>
          </p:cNvPr>
          <p:cNvSpPr txBox="1"/>
          <p:nvPr/>
        </p:nvSpPr>
        <p:spPr>
          <a:xfrm>
            <a:off x="10277856" y="302209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797A5D-A1EF-7792-4CB6-0420867ED631}"/>
              </a:ext>
            </a:extLst>
          </p:cNvPr>
          <p:cNvSpPr txBox="1"/>
          <p:nvPr/>
        </p:nvSpPr>
        <p:spPr>
          <a:xfrm>
            <a:off x="6720840" y="3300984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Selector validity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25D7E64-9621-516B-18B1-EAAD4780AFB5}"/>
              </a:ext>
            </a:extLst>
          </p:cNvPr>
          <p:cNvSpPr/>
          <p:nvPr/>
        </p:nvSpPr>
        <p:spPr>
          <a:xfrm>
            <a:off x="9235440" y="326440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7A8F09-8D30-2E27-E915-A70467AB0BCA}"/>
              </a:ext>
            </a:extLst>
          </p:cNvPr>
          <p:cNvSpPr txBox="1"/>
          <p:nvPr/>
        </p:nvSpPr>
        <p:spPr>
          <a:xfrm>
            <a:off x="9272016" y="333298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5C249AB-9C83-DA61-70CC-9837397CA27E}"/>
              </a:ext>
            </a:extLst>
          </p:cNvPr>
          <p:cNvSpPr/>
          <p:nvPr/>
        </p:nvSpPr>
        <p:spPr>
          <a:xfrm>
            <a:off x="10241280" y="326440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9994E9-D131-5BA7-1002-333F103EF799}"/>
              </a:ext>
            </a:extLst>
          </p:cNvPr>
          <p:cNvSpPr txBox="1"/>
          <p:nvPr/>
        </p:nvSpPr>
        <p:spPr>
          <a:xfrm>
            <a:off x="10277856" y="333298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D0A167-7C5B-9134-C1D4-558F6F3427A8}"/>
              </a:ext>
            </a:extLst>
          </p:cNvPr>
          <p:cNvSpPr txBox="1"/>
          <p:nvPr/>
        </p:nvSpPr>
        <p:spPr>
          <a:xfrm>
            <a:off x="6720840" y="3611880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Stable EIM selectors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9E40B4D3-CF64-7ED3-D25A-C84ACEA37233}"/>
              </a:ext>
            </a:extLst>
          </p:cNvPr>
          <p:cNvSpPr/>
          <p:nvPr/>
        </p:nvSpPr>
        <p:spPr>
          <a:xfrm>
            <a:off x="9235440" y="3575304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BF1884-FA2E-A1F0-CEB8-DDBAB4855670}"/>
              </a:ext>
            </a:extLst>
          </p:cNvPr>
          <p:cNvSpPr txBox="1"/>
          <p:nvPr/>
        </p:nvSpPr>
        <p:spPr>
          <a:xfrm>
            <a:off x="9272016" y="3643884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C4304BBE-C4B5-31CD-8510-C2812AAA935C}"/>
              </a:ext>
            </a:extLst>
          </p:cNvPr>
          <p:cNvSpPr/>
          <p:nvPr/>
        </p:nvSpPr>
        <p:spPr>
          <a:xfrm>
            <a:off x="10241280" y="3575304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544320-3130-6583-58E0-38FC4CE30C5F}"/>
              </a:ext>
            </a:extLst>
          </p:cNvPr>
          <p:cNvSpPr txBox="1"/>
          <p:nvPr/>
        </p:nvSpPr>
        <p:spPr>
          <a:xfrm>
            <a:off x="10277856" y="3643884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8AD827-92C4-2649-138B-F04B7D5E19BD}"/>
              </a:ext>
            </a:extLst>
          </p:cNvPr>
          <p:cNvSpPr txBox="1"/>
          <p:nvPr/>
        </p:nvSpPr>
        <p:spPr>
          <a:xfrm>
            <a:off x="6720840" y="3922776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Workflow navigation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9C43820-AC61-4468-4ADE-23D87FC96F22}"/>
              </a:ext>
            </a:extLst>
          </p:cNvPr>
          <p:cNvSpPr/>
          <p:nvPr/>
        </p:nvSpPr>
        <p:spPr>
          <a:xfrm>
            <a:off x="9235440" y="3886200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FB691D-E545-EF7C-B0A1-BFE5624FB8BC}"/>
              </a:ext>
            </a:extLst>
          </p:cNvPr>
          <p:cNvSpPr txBox="1"/>
          <p:nvPr/>
        </p:nvSpPr>
        <p:spPr>
          <a:xfrm>
            <a:off x="9272016" y="3954780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1F27468F-DBD5-9026-4CDB-4900045CB192}"/>
              </a:ext>
            </a:extLst>
          </p:cNvPr>
          <p:cNvSpPr/>
          <p:nvPr/>
        </p:nvSpPr>
        <p:spPr>
          <a:xfrm>
            <a:off x="10241280" y="3886200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14F741-0A97-7062-1A28-486F5B15B065}"/>
              </a:ext>
            </a:extLst>
          </p:cNvPr>
          <p:cNvSpPr txBox="1"/>
          <p:nvPr/>
        </p:nvSpPr>
        <p:spPr>
          <a:xfrm>
            <a:off x="10277856" y="3954780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A5C85D-2830-361C-791F-1F0C5785208F}"/>
              </a:ext>
            </a:extLst>
          </p:cNvPr>
          <p:cNvSpPr txBox="1"/>
          <p:nvPr/>
        </p:nvSpPr>
        <p:spPr>
          <a:xfrm>
            <a:off x="6720840" y="4233672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Required actions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2B7A964-9116-312B-34C8-828B6580B262}"/>
              </a:ext>
            </a:extLst>
          </p:cNvPr>
          <p:cNvSpPr/>
          <p:nvPr/>
        </p:nvSpPr>
        <p:spPr>
          <a:xfrm>
            <a:off x="9235440" y="4197096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9B920E-446A-1D59-60B4-8329E858B6FC}"/>
              </a:ext>
            </a:extLst>
          </p:cNvPr>
          <p:cNvSpPr txBox="1"/>
          <p:nvPr/>
        </p:nvSpPr>
        <p:spPr>
          <a:xfrm>
            <a:off x="9272016" y="426567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832BA8D-4A33-2AF2-B79A-849D77D2EFDC}"/>
              </a:ext>
            </a:extLst>
          </p:cNvPr>
          <p:cNvSpPr/>
          <p:nvPr/>
        </p:nvSpPr>
        <p:spPr>
          <a:xfrm>
            <a:off x="10241280" y="4197096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1D9EE1-6FCB-7DEF-787A-4D6B19E6060A}"/>
              </a:ext>
            </a:extLst>
          </p:cNvPr>
          <p:cNvSpPr txBox="1"/>
          <p:nvPr/>
        </p:nvSpPr>
        <p:spPr>
          <a:xfrm>
            <a:off x="10277856" y="4265676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FD002-088B-32C8-DAD5-0EFEA46E0013}"/>
              </a:ext>
            </a:extLst>
          </p:cNvPr>
          <p:cNvSpPr txBox="1"/>
          <p:nvPr/>
        </p:nvSpPr>
        <p:spPr>
          <a:xfrm>
            <a:off x="6720840" y="4544568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Correct order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0E1666E-BAEF-8097-23CE-F4ABBBDFCD9E}"/>
              </a:ext>
            </a:extLst>
          </p:cNvPr>
          <p:cNvSpPr/>
          <p:nvPr/>
        </p:nvSpPr>
        <p:spPr>
          <a:xfrm>
            <a:off x="9235440" y="4507992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A8DD74-287D-8D2F-3371-D69108CCFEB2}"/>
              </a:ext>
            </a:extLst>
          </p:cNvPr>
          <p:cNvSpPr txBox="1"/>
          <p:nvPr/>
        </p:nvSpPr>
        <p:spPr>
          <a:xfrm>
            <a:off x="9272016" y="457657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F95D49C-78AC-B468-A6C5-4B4FB647CCE9}"/>
              </a:ext>
            </a:extLst>
          </p:cNvPr>
          <p:cNvSpPr/>
          <p:nvPr/>
        </p:nvSpPr>
        <p:spPr>
          <a:xfrm>
            <a:off x="10241280" y="4507992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33AA45-760F-7AFA-294B-2A004E5835B1}"/>
              </a:ext>
            </a:extLst>
          </p:cNvPr>
          <p:cNvSpPr txBox="1"/>
          <p:nvPr/>
        </p:nvSpPr>
        <p:spPr>
          <a:xfrm>
            <a:off x="10277856" y="4576572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706AE4-52B3-12E4-B819-D9CC7CCDD358}"/>
              </a:ext>
            </a:extLst>
          </p:cNvPr>
          <p:cNvSpPr txBox="1"/>
          <p:nvPr/>
        </p:nvSpPr>
        <p:spPr>
          <a:xfrm>
            <a:off x="6720840" y="4855464"/>
            <a:ext cx="23317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201F1E"/>
                </a:solidFill>
                <a:latin typeface="Segoe UI" panose="020B0502040204020203" pitchFamily="34" charset="0"/>
              </a:rPr>
              <a:t>Exact action match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D72E923-EC1F-E756-4F33-06F9D701504F}"/>
              </a:ext>
            </a:extLst>
          </p:cNvPr>
          <p:cNvSpPr/>
          <p:nvPr/>
        </p:nvSpPr>
        <p:spPr>
          <a:xfrm>
            <a:off x="9235440" y="4818888"/>
            <a:ext cx="758952" cy="329184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1CFE7A-33CE-E72F-7E7B-104293228D37}"/>
              </a:ext>
            </a:extLst>
          </p:cNvPr>
          <p:cNvSpPr txBox="1"/>
          <p:nvPr/>
        </p:nvSpPr>
        <p:spPr>
          <a:xfrm>
            <a:off x="9272016" y="488746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D13438"/>
                </a:solidFill>
                <a:latin typeface="Segoe UI" panose="020B0502040204020203" pitchFamily="34" charset="0"/>
              </a:rPr>
              <a:t>Miss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FD3CF0A-5E11-6FC1-5061-23864917328A}"/>
              </a:ext>
            </a:extLst>
          </p:cNvPr>
          <p:cNvSpPr/>
          <p:nvPr/>
        </p:nvSpPr>
        <p:spPr>
          <a:xfrm>
            <a:off x="10241280" y="4818888"/>
            <a:ext cx="758952" cy="329184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950C7D-4A28-44A3-4437-F1F7FC3FAFB8}"/>
              </a:ext>
            </a:extLst>
          </p:cNvPr>
          <p:cNvSpPr txBox="1"/>
          <p:nvPr/>
        </p:nvSpPr>
        <p:spPr>
          <a:xfrm>
            <a:off x="10277856" y="4887468"/>
            <a:ext cx="6858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Pass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BD97130-0E30-935C-044B-D3FF595E9DC5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04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5003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F5CDBF-D8AB-8EAB-FAEA-E1E47C0135C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49B6EF-4CBC-C346-8C2C-3DDDE449B61C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A275FD-4C4B-C301-2C22-754E2D5E8D6F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What 37/112 and 71/112 mean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CDB934-B4B8-2C20-CA5F-5FC09857A89B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CB6916-1C8E-E688-A270-78E36AEB597F}"/>
              </a:ext>
            </a:extLst>
          </p:cNvPr>
          <p:cNvSpPr txBox="1"/>
          <p:nvPr/>
        </p:nvSpPr>
        <p:spPr>
          <a:xfrm>
            <a:off x="594360" y="1133856"/>
            <a:ext cx="8412480" cy="4493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40">
                <a:solidFill>
                  <a:srgbClr val="605E5C"/>
                </a:solidFill>
                <a:latin typeface="Aptos" panose="020B0004020202020204" pitchFamily="34" charset="0"/>
              </a:rPr>
              <a:t>These are not generic model accuracy numbers. They are a workflow scorecard across held-out browser-action prompts.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A5E3349-C733-2014-B075-00CF2E795205}"/>
              </a:ext>
            </a:extLst>
          </p:cNvPr>
          <p:cNvSpPr/>
          <p:nvPr/>
        </p:nvSpPr>
        <p:spPr>
          <a:xfrm>
            <a:off x="749808" y="1783080"/>
            <a:ext cx="2834640" cy="20116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DBB37B-3B81-A669-87F9-0F76F0C95E05}"/>
              </a:ext>
            </a:extLst>
          </p:cNvPr>
          <p:cNvSpPr txBox="1"/>
          <p:nvPr/>
        </p:nvSpPr>
        <p:spPr>
          <a:xfrm>
            <a:off x="1024128" y="2057400"/>
            <a:ext cx="219456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Base Gemma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90A83C-19AF-1727-6683-9C3DC5DE9806}"/>
              </a:ext>
            </a:extLst>
          </p:cNvPr>
          <p:cNvSpPr txBox="1"/>
          <p:nvPr/>
        </p:nvSpPr>
        <p:spPr>
          <a:xfrm>
            <a:off x="987552" y="2542032"/>
            <a:ext cx="2286000" cy="5139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3100" b="1">
                <a:solidFill>
                  <a:srgbClr val="004578"/>
                </a:solidFill>
                <a:latin typeface="Aptos Display" panose="020B0004020202020204" pitchFamily="34" charset="0"/>
              </a:rPr>
              <a:t>37/112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96D398-178E-7758-3C73-4FB2FE6E63A4}"/>
              </a:ext>
            </a:extLst>
          </p:cNvPr>
          <p:cNvSpPr txBox="1"/>
          <p:nvPr/>
        </p:nvSpPr>
        <p:spPr>
          <a:xfrm>
            <a:off x="1051560" y="3154680"/>
            <a:ext cx="2148840" cy="5170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40">
                <a:solidFill>
                  <a:srgbClr val="605E5C"/>
                </a:solidFill>
                <a:latin typeface="Segoe UI" panose="020B0502040204020203" pitchFamily="34" charset="0"/>
              </a:rPr>
              <a:t>Passed the easier format checks, but missed many workflow-contract checks.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363C24-7A3A-8081-12F7-9BEA87A4D400}"/>
              </a:ext>
            </a:extLst>
          </p:cNvPr>
          <p:cNvSpPr/>
          <p:nvPr/>
        </p:nvSpPr>
        <p:spPr>
          <a:xfrm>
            <a:off x="4590288" y="1783080"/>
            <a:ext cx="2834640" cy="2011680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E93732-0285-94A6-DD1D-740E346AEE0B}"/>
              </a:ext>
            </a:extLst>
          </p:cNvPr>
          <p:cNvSpPr txBox="1"/>
          <p:nvPr/>
        </p:nvSpPr>
        <p:spPr>
          <a:xfrm>
            <a:off x="4864608" y="2057400"/>
            <a:ext cx="224028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107C10"/>
                </a:solidFill>
                <a:latin typeface="Segoe UI" panose="020B0502040204020203" pitchFamily="34" charset="0"/>
              </a:rPr>
              <a:t>Fine-tuned Gemma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67787C-720A-744A-2D2A-4DAF16E9106C}"/>
              </a:ext>
            </a:extLst>
          </p:cNvPr>
          <p:cNvSpPr txBox="1"/>
          <p:nvPr/>
        </p:nvSpPr>
        <p:spPr>
          <a:xfrm>
            <a:off x="4828032" y="2542032"/>
            <a:ext cx="2286000" cy="5139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3100" b="1">
                <a:solidFill>
                  <a:srgbClr val="107C10"/>
                </a:solidFill>
                <a:latin typeface="Aptos Display" panose="020B0004020202020204" pitchFamily="34" charset="0"/>
              </a:rPr>
              <a:t>71/112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EABC3C-70BC-03DB-C08A-44DD3DCEA854}"/>
              </a:ext>
            </a:extLst>
          </p:cNvPr>
          <p:cNvSpPr txBox="1"/>
          <p:nvPr/>
        </p:nvSpPr>
        <p:spPr>
          <a:xfrm>
            <a:off x="4892040" y="3154680"/>
            <a:ext cx="2148840" cy="3570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40">
                <a:solidFill>
                  <a:srgbClr val="605E5C"/>
                </a:solidFill>
                <a:latin typeface="Segoe UI" panose="020B0502040204020203" pitchFamily="34" charset="0"/>
              </a:rPr>
              <a:t>Passed 34 more checks after learning the EIM action contract.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32AF993-FD8E-A9C2-B73F-59A17331BF29}"/>
              </a:ext>
            </a:extLst>
          </p:cNvPr>
          <p:cNvSpPr/>
          <p:nvPr/>
        </p:nvSpPr>
        <p:spPr>
          <a:xfrm>
            <a:off x="8430768" y="1783080"/>
            <a:ext cx="2331721" cy="2011680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421281-B88C-CEF6-10FA-F3AED318FB87}"/>
              </a:ext>
            </a:extLst>
          </p:cNvPr>
          <p:cNvSpPr txBox="1"/>
          <p:nvPr/>
        </p:nvSpPr>
        <p:spPr>
          <a:xfrm>
            <a:off x="8814816" y="2057400"/>
            <a:ext cx="150876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Lift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8F4254-A587-4671-8222-83C91F7CF65D}"/>
              </a:ext>
            </a:extLst>
          </p:cNvPr>
          <p:cNvSpPr txBox="1"/>
          <p:nvPr/>
        </p:nvSpPr>
        <p:spPr>
          <a:xfrm>
            <a:off x="8796528" y="2578608"/>
            <a:ext cx="1508760" cy="5139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3100" b="1">
                <a:solidFill>
                  <a:srgbClr val="004578"/>
                </a:solidFill>
                <a:latin typeface="Aptos Display" panose="020B0004020202020204" pitchFamily="34" charset="0"/>
              </a:rPr>
              <a:t>+34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6A5B11-D138-5ABA-BEC7-D56717A600C9}"/>
              </a:ext>
            </a:extLst>
          </p:cNvPr>
          <p:cNvSpPr txBox="1"/>
          <p:nvPr/>
        </p:nvSpPr>
        <p:spPr>
          <a:xfrm>
            <a:off x="8668512" y="3182112"/>
            <a:ext cx="1783080" cy="3447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>
                <a:solidFill>
                  <a:srgbClr val="605E5C"/>
                </a:solidFill>
                <a:latin typeface="Segoe UI" panose="020B0502040204020203" pitchFamily="34" charset="0"/>
              </a:rPr>
              <a:t>About +30 percentage points on this narrow scorecard.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BE0C153-3BEE-5E32-A9CB-1C0923A40704}"/>
              </a:ext>
            </a:extLst>
          </p:cNvPr>
          <p:cNvSpPr/>
          <p:nvPr/>
        </p:nvSpPr>
        <p:spPr>
          <a:xfrm>
            <a:off x="841248" y="4297680"/>
            <a:ext cx="2788920" cy="10515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31CD0D-9E99-75B5-0F35-50612B8B7256}"/>
              </a:ext>
            </a:extLst>
          </p:cNvPr>
          <p:cNvSpPr txBox="1"/>
          <p:nvPr/>
        </p:nvSpPr>
        <p:spPr>
          <a:xfrm>
            <a:off x="1078992" y="4535424"/>
            <a:ext cx="11887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Why 112?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B510AD-5352-7CB1-A17F-961D0CBC42BF}"/>
              </a:ext>
            </a:extLst>
          </p:cNvPr>
          <p:cNvSpPr txBox="1"/>
          <p:nvPr/>
        </p:nvSpPr>
        <p:spPr>
          <a:xfrm>
            <a:off x="1078992" y="4873752"/>
            <a:ext cx="2148840" cy="3385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80">
                <a:solidFill>
                  <a:srgbClr val="605E5C"/>
                </a:solidFill>
                <a:latin typeface="Segoe UI" panose="020B0502040204020203" pitchFamily="34" charset="0"/>
              </a:rPr>
              <a:t>16 held-out prompts x 7 scored checks = 112 possible pass points.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D442CF2-F9C2-0EA3-3F3E-E173A7F6FD35}"/>
              </a:ext>
            </a:extLst>
          </p:cNvPr>
          <p:cNvSpPr/>
          <p:nvPr/>
        </p:nvSpPr>
        <p:spPr>
          <a:xfrm>
            <a:off x="3886200" y="4297680"/>
            <a:ext cx="3108960" cy="10515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2F3490-8F5B-4813-9B34-CD3A12D78F3C}"/>
              </a:ext>
            </a:extLst>
          </p:cNvPr>
          <p:cNvSpPr txBox="1"/>
          <p:nvPr/>
        </p:nvSpPr>
        <p:spPr>
          <a:xfrm>
            <a:off x="4133088" y="4535424"/>
            <a:ext cx="173736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201F1E"/>
                </a:solidFill>
                <a:latin typeface="Segoe UI" panose="020B0502040204020203" pitchFamily="34" charset="0"/>
              </a:rPr>
              <a:t>What gets scored?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6E8CA0-90A3-EF7E-0E40-37FD9589C823}"/>
              </a:ext>
            </a:extLst>
          </p:cNvPr>
          <p:cNvSpPr txBox="1"/>
          <p:nvPr/>
        </p:nvSpPr>
        <p:spPr>
          <a:xfrm>
            <a:off x="4133088" y="4864608"/>
            <a:ext cx="2423160" cy="4616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605E5C"/>
                </a:solidFill>
                <a:latin typeface="Segoe UI" panose="020B0502040204020203" pitchFamily="34" charset="0"/>
              </a:rPr>
              <a:t>JSON validity, schema, selector policy, missing actions, action order, exact match, and selector validity.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0F3A5E8-F576-FEFD-F016-FE90C9BB30AA}"/>
              </a:ext>
            </a:extLst>
          </p:cNvPr>
          <p:cNvSpPr/>
          <p:nvPr/>
        </p:nvSpPr>
        <p:spPr>
          <a:xfrm>
            <a:off x="7315200" y="4297680"/>
            <a:ext cx="3246120" cy="1051560"/>
          </a:xfrm>
          <a:prstGeom prst="roundRect">
            <a:avLst/>
          </a:prstGeom>
          <a:solidFill>
            <a:srgbClr val="FFF4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FE53EF-07D8-6166-15F7-07BABB7ADFC3}"/>
              </a:ext>
            </a:extLst>
          </p:cNvPr>
          <p:cNvSpPr txBox="1"/>
          <p:nvPr/>
        </p:nvSpPr>
        <p:spPr>
          <a:xfrm>
            <a:off x="7571232" y="4535424"/>
            <a:ext cx="155448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 b="1">
                <a:solidFill>
                  <a:srgbClr val="8A4B00"/>
                </a:solidFill>
                <a:latin typeface="Segoe UI" panose="020B0502040204020203" pitchFamily="34" charset="0"/>
              </a:rPr>
              <a:t>How to say it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125048-4F5B-7CA2-C20B-0AE0D4AD28EF}"/>
              </a:ext>
            </a:extLst>
          </p:cNvPr>
          <p:cNvSpPr txBox="1"/>
          <p:nvPr/>
        </p:nvSpPr>
        <p:spPr>
          <a:xfrm>
            <a:off x="7571232" y="4864608"/>
            <a:ext cx="2560320" cy="4708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40">
                <a:solidFill>
                  <a:srgbClr val="8A4B00"/>
                </a:solidFill>
                <a:latin typeface="Segoe UI" panose="020B0502040204020203" pitchFamily="34" charset="0"/>
              </a:rPr>
              <a:t>This proves directional lift on a synthetic workflow benchmark, not production readiness.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882950-CD3D-5456-A332-67AEED3D0EBB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05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397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9E50A7-32C3-2718-8FA0-1AC93D9F7D0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9C0FA9-9746-A51C-D488-0E48F886733D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9C8C00-D463-C795-196C-7F9E19BD68E4}"/>
              </a:ext>
            </a:extLst>
          </p:cNvPr>
          <p:cNvSpPr txBox="1"/>
          <p:nvPr/>
        </p:nvSpPr>
        <p:spPr>
          <a:xfrm>
            <a:off x="502920" y="502920"/>
            <a:ext cx="8046720" cy="92948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Where the small SLM succeeds natively - and where it fails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524EF-13DF-8CBA-B12A-E993010687A7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7B4F50-02D7-D150-9BBD-0A459290B166}"/>
              </a:ext>
            </a:extLst>
          </p:cNvPr>
          <p:cNvSpPr/>
          <p:nvPr/>
        </p:nvSpPr>
        <p:spPr>
          <a:xfrm>
            <a:off x="658368" y="1417320"/>
            <a:ext cx="5212080" cy="4480560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8AA28-7DF5-89F8-9BAB-FFB328CD71B2}"/>
              </a:ext>
            </a:extLst>
          </p:cNvPr>
          <p:cNvSpPr txBox="1"/>
          <p:nvPr/>
        </p:nvSpPr>
        <p:spPr>
          <a:xfrm>
            <a:off x="950976" y="1719072"/>
            <a:ext cx="237744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700" b="1">
                <a:solidFill>
                  <a:srgbClr val="107C10"/>
                </a:solidFill>
                <a:latin typeface="Aptos Display" panose="020B0004020202020204" pitchFamily="34" charset="0"/>
              </a:rPr>
              <a:t>Native strengths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452870C-DA58-B468-80D2-1D2FB114DDE5}"/>
              </a:ext>
            </a:extLst>
          </p:cNvPr>
          <p:cNvSpPr/>
          <p:nvPr/>
        </p:nvSpPr>
        <p:spPr>
          <a:xfrm>
            <a:off x="969264" y="22219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60809-DFAA-0717-ADE1-72F233C6C757}"/>
              </a:ext>
            </a:extLst>
          </p:cNvPr>
          <p:cNvSpPr txBox="1"/>
          <p:nvPr/>
        </p:nvSpPr>
        <p:spPr>
          <a:xfrm>
            <a:off x="982980" y="22905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76695E-B506-D2BC-9B07-4954203677A7}"/>
              </a:ext>
            </a:extLst>
          </p:cNvPr>
          <p:cNvSpPr txBox="1"/>
          <p:nvPr/>
        </p:nvSpPr>
        <p:spPr>
          <a:xfrm>
            <a:off x="1353312" y="21945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Understands healthcare-ish instructions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E6C714A-AC4A-10B6-753C-30B90A8CE767}"/>
              </a:ext>
            </a:extLst>
          </p:cNvPr>
          <p:cNvSpPr/>
          <p:nvPr/>
        </p:nvSpPr>
        <p:spPr>
          <a:xfrm>
            <a:off x="969264" y="29077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BD0136-73C3-A87C-60C1-5976F022E284}"/>
              </a:ext>
            </a:extLst>
          </p:cNvPr>
          <p:cNvSpPr txBox="1"/>
          <p:nvPr/>
        </p:nvSpPr>
        <p:spPr>
          <a:xfrm>
            <a:off x="982980" y="29763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0B873-F8BA-304D-128F-F054CE0B2196}"/>
              </a:ext>
            </a:extLst>
          </p:cNvPr>
          <p:cNvSpPr txBox="1"/>
          <p:nvPr/>
        </p:nvSpPr>
        <p:spPr>
          <a:xfrm>
            <a:off x="1353312" y="28803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Can parse compact HTML/DOM snippets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65AD462-0257-CAE0-CEAA-CAD9805C8D19}"/>
              </a:ext>
            </a:extLst>
          </p:cNvPr>
          <p:cNvSpPr/>
          <p:nvPr/>
        </p:nvSpPr>
        <p:spPr>
          <a:xfrm>
            <a:off x="969264" y="35935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0CCE7C-EA79-6F84-8160-91FFF11FA698}"/>
              </a:ext>
            </a:extLst>
          </p:cNvPr>
          <p:cNvSpPr txBox="1"/>
          <p:nvPr/>
        </p:nvSpPr>
        <p:spPr>
          <a:xfrm>
            <a:off x="982980" y="36621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4A955F-6A86-4BFD-851C-9FFD239074D5}"/>
              </a:ext>
            </a:extLst>
          </p:cNvPr>
          <p:cNvSpPr txBox="1"/>
          <p:nvPr/>
        </p:nvSpPr>
        <p:spPr>
          <a:xfrm>
            <a:off x="1353312" y="35661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Usually recognizes click/type/extract actions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D0F15BA-ADE0-E000-7398-74EB39CE6504}"/>
              </a:ext>
            </a:extLst>
          </p:cNvPr>
          <p:cNvSpPr/>
          <p:nvPr/>
        </p:nvSpPr>
        <p:spPr>
          <a:xfrm>
            <a:off x="969264" y="4279392"/>
            <a:ext cx="256032" cy="2560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0558DC-52DF-099F-1330-C92795B330A2}"/>
              </a:ext>
            </a:extLst>
          </p:cNvPr>
          <p:cNvSpPr txBox="1"/>
          <p:nvPr/>
        </p:nvSpPr>
        <p:spPr>
          <a:xfrm>
            <a:off x="982980" y="4347972"/>
            <a:ext cx="228600" cy="1215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550" b="1">
                <a:solidFill>
                  <a:srgbClr val="FFFFFF"/>
                </a:solidFill>
                <a:latin typeface="Segoe UI" panose="020B0502040204020203" pitchFamily="34" charset="0"/>
              </a:rPr>
              <a:t>OK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AE408F-F3E0-B402-8A83-CABA46135617}"/>
              </a:ext>
            </a:extLst>
          </p:cNvPr>
          <p:cNvSpPr txBox="1"/>
          <p:nvPr/>
        </p:nvSpPr>
        <p:spPr>
          <a:xfrm>
            <a:off x="1353312" y="4251960"/>
            <a:ext cx="393192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Can emit JSON when strongly prompted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424507-F5F2-FD84-1997-33FCEE702341}"/>
              </a:ext>
            </a:extLst>
          </p:cNvPr>
          <p:cNvSpPr/>
          <p:nvPr/>
        </p:nvSpPr>
        <p:spPr>
          <a:xfrm>
            <a:off x="6355080" y="1417320"/>
            <a:ext cx="5212080" cy="4480560"/>
          </a:xfrm>
          <a:prstGeom prst="roundRect">
            <a:avLst/>
          </a:prstGeom>
          <a:solidFill>
            <a:srgbClr val="FDE7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87B71-E130-7818-EC1C-D8F00B61CCFE}"/>
              </a:ext>
            </a:extLst>
          </p:cNvPr>
          <p:cNvSpPr txBox="1"/>
          <p:nvPr/>
        </p:nvSpPr>
        <p:spPr>
          <a:xfrm>
            <a:off x="6647688" y="1719072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700" b="1">
                <a:solidFill>
                  <a:srgbClr val="D13438"/>
                </a:solidFill>
                <a:latin typeface="Aptos Display" panose="020B0004020202020204" pitchFamily="34" charset="0"/>
              </a:rPr>
              <a:t>Native gaps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5C6ABDC-E40E-48BE-6C46-9C20E26622B1}"/>
              </a:ext>
            </a:extLst>
          </p:cNvPr>
          <p:cNvSpPr/>
          <p:nvPr/>
        </p:nvSpPr>
        <p:spPr>
          <a:xfrm>
            <a:off x="6665976" y="22219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803572-DCE7-31FE-59ED-42190464CB79}"/>
              </a:ext>
            </a:extLst>
          </p:cNvPr>
          <p:cNvSpPr txBox="1"/>
          <p:nvPr/>
        </p:nvSpPr>
        <p:spPr>
          <a:xfrm>
            <a:off x="6693408" y="22722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C67033-620A-8B56-2817-15BCC4C56C19}"/>
              </a:ext>
            </a:extLst>
          </p:cNvPr>
          <p:cNvSpPr txBox="1"/>
          <p:nvPr/>
        </p:nvSpPr>
        <p:spPr>
          <a:xfrm>
            <a:off x="7040880" y="21945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Chooses generated IDs instead of stable selectors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3A52ADE-6099-50DF-3A7C-12CE144C0EDC}"/>
              </a:ext>
            </a:extLst>
          </p:cNvPr>
          <p:cNvSpPr/>
          <p:nvPr/>
        </p:nvSpPr>
        <p:spPr>
          <a:xfrm>
            <a:off x="6665976" y="29077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BFA3E3-8989-82EF-802A-2B1C18493BF9}"/>
              </a:ext>
            </a:extLst>
          </p:cNvPr>
          <p:cNvSpPr txBox="1"/>
          <p:nvPr/>
        </p:nvSpPr>
        <p:spPr>
          <a:xfrm>
            <a:off x="6693408" y="29580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9BD53C-EE37-8D4C-D146-9C1AC3414EAA}"/>
              </a:ext>
            </a:extLst>
          </p:cNvPr>
          <p:cNvSpPr txBox="1"/>
          <p:nvPr/>
        </p:nvSpPr>
        <p:spPr>
          <a:xfrm>
            <a:off x="7040880" y="28803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May explain instead of returning only contract JSON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0E03FD6-24E0-C1FD-8FB1-F4A53CBF49BC}"/>
              </a:ext>
            </a:extLst>
          </p:cNvPr>
          <p:cNvSpPr/>
          <p:nvPr/>
        </p:nvSpPr>
        <p:spPr>
          <a:xfrm>
            <a:off x="6665976" y="35935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A82842-1C4F-3E68-8DB2-7680E2516ED1}"/>
              </a:ext>
            </a:extLst>
          </p:cNvPr>
          <p:cNvSpPr txBox="1"/>
          <p:nvPr/>
        </p:nvSpPr>
        <p:spPr>
          <a:xfrm>
            <a:off x="6693408" y="36438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9EE73F-1296-8AD0-550B-86EB40FE838C}"/>
              </a:ext>
            </a:extLst>
          </p:cNvPr>
          <p:cNvSpPr txBox="1"/>
          <p:nvPr/>
        </p:nvSpPr>
        <p:spPr>
          <a:xfrm>
            <a:off x="7040880" y="35661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Misses workflow navigation or pre-submit checks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12CD442-2FD6-0BC5-74A1-1A19A06A8803}"/>
              </a:ext>
            </a:extLst>
          </p:cNvPr>
          <p:cNvSpPr/>
          <p:nvPr/>
        </p:nvSpPr>
        <p:spPr>
          <a:xfrm>
            <a:off x="6665976" y="4279392"/>
            <a:ext cx="256032" cy="256032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569961-1A51-5E9D-4FBE-607643E517C6}"/>
              </a:ext>
            </a:extLst>
          </p:cNvPr>
          <p:cNvSpPr txBox="1"/>
          <p:nvPr/>
        </p:nvSpPr>
        <p:spPr>
          <a:xfrm>
            <a:off x="6693408" y="4329684"/>
            <a:ext cx="201168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!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4B5E64-1E39-D473-5633-A8D0D0C2ECA8}"/>
              </a:ext>
            </a:extLst>
          </p:cNvPr>
          <p:cNvSpPr txBox="1"/>
          <p:nvPr/>
        </p:nvSpPr>
        <p:spPr>
          <a:xfrm>
            <a:off x="7040880" y="4251960"/>
            <a:ext cx="3977640" cy="23698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00">
                <a:solidFill>
                  <a:srgbClr val="201F1E"/>
                </a:solidFill>
                <a:latin typeface="Segoe UI" panose="020B0502040204020203" pitchFamily="34" charset="0"/>
              </a:rPr>
              <a:t>Order can drift on multi-step tasks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D9097DF-2DFA-5CAD-3EEE-EC79EB752F78}"/>
              </a:ext>
            </a:extLst>
          </p:cNvPr>
          <p:cNvSpPr/>
          <p:nvPr/>
        </p:nvSpPr>
        <p:spPr>
          <a:xfrm>
            <a:off x="4370832" y="5413248"/>
            <a:ext cx="3429000" cy="713232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314806-6F5D-F0F8-E197-EDFBA20DD36B}"/>
              </a:ext>
            </a:extLst>
          </p:cNvPr>
          <p:cNvSpPr txBox="1"/>
          <p:nvPr/>
        </p:nvSpPr>
        <p:spPr>
          <a:xfrm>
            <a:off x="4617720" y="5650992"/>
            <a:ext cx="2926080" cy="3816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20" b="1">
                <a:solidFill>
                  <a:srgbClr val="FFFFFF"/>
                </a:solidFill>
                <a:latin typeface="Segoe UI" panose="020B0502040204020203" pitchFamily="34" charset="0"/>
              </a:rPr>
              <a:t>Conclusion: promptable, but not yet dependable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670265-4DAE-AD18-0089-203E878B4EF3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06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441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F3E2D6-B288-E795-A45C-8532B37707E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B94D3-1A3A-3179-E89B-4EBE5967DD16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33F074-E0E4-65B3-D0E5-3093107C39F2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Why fine-tuning is the right lever here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BD033-73B9-896D-9B01-C21E92028AC1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4D1A2E-1706-E2E7-D690-6F8A664D653C}"/>
              </a:ext>
            </a:extLst>
          </p:cNvPr>
          <p:cNvSpPr txBox="1"/>
          <p:nvPr/>
        </p:nvSpPr>
        <p:spPr>
          <a:xfrm>
            <a:off x="594360" y="1143000"/>
            <a:ext cx="731520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We are not trying to teach the model medical facts. We are teaching it a repeatable output behavior: the Molina/EIM action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7EF2FC-8999-1C46-2C83-046CF0994971}"/>
              </a:ext>
            </a:extLst>
          </p:cNvPr>
          <p:cNvSpPr/>
          <p:nvPr/>
        </p:nvSpPr>
        <p:spPr>
          <a:xfrm>
            <a:off x="749808" y="1874520"/>
            <a:ext cx="2834640" cy="3017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06D943-F19A-37F8-252B-774E7A35ABB9}"/>
              </a:ext>
            </a:extLst>
          </p:cNvPr>
          <p:cNvSpPr txBox="1"/>
          <p:nvPr/>
        </p:nvSpPr>
        <p:spPr>
          <a:xfrm>
            <a:off x="987552" y="2148840"/>
            <a:ext cx="210312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004578"/>
                </a:solidFill>
                <a:latin typeface="Aptos Display" panose="020B0004020202020204" pitchFamily="34" charset="0"/>
              </a:rPr>
              <a:t>Frozen base model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1BB0759-40FB-13F8-29AA-BA5EE38F8A4B}"/>
              </a:ext>
            </a:extLst>
          </p:cNvPr>
          <p:cNvSpPr/>
          <p:nvPr/>
        </p:nvSpPr>
        <p:spPr>
          <a:xfrm>
            <a:off x="1417320" y="2697480"/>
            <a:ext cx="1417320" cy="1417320"/>
          </a:xfrm>
          <a:prstGeom prst="ellipse">
            <a:avLst/>
          </a:prstGeom>
          <a:solidFill>
            <a:srgbClr val="D7EBFF"/>
          </a:solidFill>
          <a:ln>
            <a:solidFill>
              <a:srgbClr val="007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94F93F-7908-D5BB-0568-2F35CE79E1AC}"/>
              </a:ext>
            </a:extLst>
          </p:cNvPr>
          <p:cNvSpPr txBox="1"/>
          <p:nvPr/>
        </p:nvSpPr>
        <p:spPr>
          <a:xfrm>
            <a:off x="1746504" y="3154680"/>
            <a:ext cx="749808" cy="52937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004578"/>
                </a:solidFill>
                <a:latin typeface="Aptos" panose="020B0004020202020204" pitchFamily="34" charset="0"/>
              </a:rPr>
              <a:t>Gemma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A3A8F8-482F-F0E8-63E8-6DF0CFA6C8D7}"/>
              </a:ext>
            </a:extLst>
          </p:cNvPr>
          <p:cNvSpPr txBox="1"/>
          <p:nvPr/>
        </p:nvSpPr>
        <p:spPr>
          <a:xfrm>
            <a:off x="1143000" y="4343400"/>
            <a:ext cx="2057400" cy="3600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50">
                <a:solidFill>
                  <a:srgbClr val="605E5C"/>
                </a:solidFill>
                <a:latin typeface="Segoe UI" panose="020B0502040204020203" pitchFamily="34" charset="0"/>
              </a:rPr>
              <a:t>General language + code + web understanding stays intact.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D86D128-998A-EDC5-C9E6-E3B36970A447}"/>
              </a:ext>
            </a:extLst>
          </p:cNvPr>
          <p:cNvSpPr/>
          <p:nvPr/>
        </p:nvSpPr>
        <p:spPr>
          <a:xfrm>
            <a:off x="4663440" y="1627632"/>
            <a:ext cx="2834640" cy="3520440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1B2837-A521-EA20-3871-83B419BF20C4}"/>
              </a:ext>
            </a:extLst>
          </p:cNvPr>
          <p:cNvSpPr txBox="1"/>
          <p:nvPr/>
        </p:nvSpPr>
        <p:spPr>
          <a:xfrm>
            <a:off x="4965192" y="1993392"/>
            <a:ext cx="214884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700" b="1">
                <a:solidFill>
                  <a:srgbClr val="5C2D91"/>
                </a:solidFill>
                <a:latin typeface="Aptos Display" panose="020B0004020202020204" pitchFamily="34" charset="0"/>
              </a:rPr>
              <a:t>LoRA adapter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4AF3605-6682-347B-D4AC-A03D2A54DC97}"/>
              </a:ext>
            </a:extLst>
          </p:cNvPr>
          <p:cNvSpPr/>
          <p:nvPr/>
        </p:nvSpPr>
        <p:spPr>
          <a:xfrm>
            <a:off x="5285232" y="2670048"/>
            <a:ext cx="1627632" cy="1005840"/>
          </a:xfrm>
          <a:prstGeom prst="roundRect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7012DD-7243-53D1-63C0-D36CEDC0DEF4}"/>
              </a:ext>
            </a:extLst>
          </p:cNvPr>
          <p:cNvSpPr txBox="1"/>
          <p:nvPr/>
        </p:nvSpPr>
        <p:spPr>
          <a:xfrm>
            <a:off x="5486400" y="2916936"/>
            <a:ext cx="1207008" cy="56015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~0.1%</a:t>
            </a:r>
          </a:p>
          <a:p>
            <a:pPr algn="ctr"/>
            <a:r>
              <a:rPr lang="en-US" sz="1700" b="1">
                <a:solidFill>
                  <a:srgbClr val="FFFFFF"/>
                </a:solidFill>
                <a:latin typeface="Aptos Display" panose="020B0004020202020204" pitchFamily="34" charset="0"/>
              </a:rPr>
              <a:t>trainable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480110-6628-03A3-DAAE-17A076412D37}"/>
              </a:ext>
            </a:extLst>
          </p:cNvPr>
          <p:cNvSpPr txBox="1"/>
          <p:nvPr/>
        </p:nvSpPr>
        <p:spPr>
          <a:xfrm>
            <a:off x="5074920" y="4187952"/>
            <a:ext cx="1828800" cy="52168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50">
                <a:solidFill>
                  <a:srgbClr val="605E5C"/>
                </a:solidFill>
                <a:latin typeface="Segoe UI" panose="020B0502040204020203" pitchFamily="34" charset="0"/>
              </a:rPr>
              <a:t>Small adapter learns selectors, ordering, and contract discipline.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9BB81E-6205-877F-B1DB-1B8D383B0FA4}"/>
              </a:ext>
            </a:extLst>
          </p:cNvPr>
          <p:cNvSpPr/>
          <p:nvPr/>
        </p:nvSpPr>
        <p:spPr>
          <a:xfrm>
            <a:off x="8549640" y="1874520"/>
            <a:ext cx="2834640" cy="3017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9D7861-1254-C0BB-4001-7F03A402D251}"/>
              </a:ext>
            </a:extLst>
          </p:cNvPr>
          <p:cNvSpPr txBox="1"/>
          <p:nvPr/>
        </p:nvSpPr>
        <p:spPr>
          <a:xfrm>
            <a:off x="8851392" y="2148840"/>
            <a:ext cx="2148840" cy="2831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600" b="1">
                <a:solidFill>
                  <a:srgbClr val="107C10"/>
                </a:solidFill>
                <a:latin typeface="Aptos Display" panose="020B0004020202020204" pitchFamily="34" charset="0"/>
              </a:rPr>
              <a:t>Tuned behavior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AE89F7-1C92-3460-EE32-DBE5793049B2}"/>
              </a:ext>
            </a:extLst>
          </p:cNvPr>
          <p:cNvSpPr/>
          <p:nvPr/>
        </p:nvSpPr>
        <p:spPr>
          <a:xfrm>
            <a:off x="9015984" y="274320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12A439-1A00-969F-A8DB-F3897B56A956}"/>
              </a:ext>
            </a:extLst>
          </p:cNvPr>
          <p:cNvSpPr txBox="1"/>
          <p:nvPr/>
        </p:nvSpPr>
        <p:spPr>
          <a:xfrm>
            <a:off x="9226296" y="2880360"/>
            <a:ext cx="13716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stable selectors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44866EF-C5ED-9B00-E623-2D4F51A9A698}"/>
              </a:ext>
            </a:extLst>
          </p:cNvPr>
          <p:cNvSpPr/>
          <p:nvPr/>
        </p:nvSpPr>
        <p:spPr>
          <a:xfrm>
            <a:off x="9015984" y="324612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0C64E8-3AC3-72C8-3EB2-383CA94CFAB8}"/>
              </a:ext>
            </a:extLst>
          </p:cNvPr>
          <p:cNvSpPr txBox="1"/>
          <p:nvPr/>
        </p:nvSpPr>
        <p:spPr>
          <a:xfrm>
            <a:off x="9400032" y="3383280"/>
            <a:ext cx="914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right order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1218A83-7F7C-6C83-8282-7A7C95B69409}"/>
              </a:ext>
            </a:extLst>
          </p:cNvPr>
          <p:cNvSpPr/>
          <p:nvPr/>
        </p:nvSpPr>
        <p:spPr>
          <a:xfrm>
            <a:off x="9015984" y="3749040"/>
            <a:ext cx="1828800" cy="384048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CDC540-4A00-4013-020E-4F0220CB1F85}"/>
              </a:ext>
            </a:extLst>
          </p:cNvPr>
          <p:cNvSpPr txBox="1"/>
          <p:nvPr/>
        </p:nvSpPr>
        <p:spPr>
          <a:xfrm>
            <a:off x="9491472" y="3886200"/>
            <a:ext cx="73152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50" b="1">
                <a:solidFill>
                  <a:srgbClr val="107C10"/>
                </a:solidFill>
                <a:latin typeface="Segoe UI" panose="020B0502040204020203" pitchFamily="34" charset="0"/>
              </a:rPr>
              <a:t>no prose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D2782E-7A48-AADB-3BC5-BA3B48670841}"/>
              </a:ext>
            </a:extLst>
          </p:cNvPr>
          <p:cNvCxnSpPr/>
          <p:nvPr/>
        </p:nvCxnSpPr>
        <p:spPr>
          <a:xfrm>
            <a:off x="3611880" y="3364992"/>
            <a:ext cx="978408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F17A632-1503-D7DC-35E5-392B09564B32}"/>
              </a:ext>
            </a:extLst>
          </p:cNvPr>
          <p:cNvCxnSpPr/>
          <p:nvPr/>
        </p:nvCxnSpPr>
        <p:spPr>
          <a:xfrm>
            <a:off x="7525512" y="3364992"/>
            <a:ext cx="978408" cy="0"/>
          </a:xfrm>
          <a:prstGeom prst="line">
            <a:avLst/>
          </a:prstGeom>
          <a:ln w="381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C83F9-190F-F928-F256-DF328C842889}"/>
              </a:ext>
            </a:extLst>
          </p:cNvPr>
          <p:cNvSpPr/>
          <p:nvPr/>
        </p:nvSpPr>
        <p:spPr>
          <a:xfrm>
            <a:off x="91440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84321B-EF75-5E0E-8864-23D36BD126BA}"/>
              </a:ext>
            </a:extLst>
          </p:cNvPr>
          <p:cNvSpPr txBox="1"/>
          <p:nvPr/>
        </p:nvSpPr>
        <p:spPr>
          <a:xfrm>
            <a:off x="107899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bf16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B16EB3-A1C0-9794-128E-36407285F2F3}"/>
              </a:ext>
            </a:extLst>
          </p:cNvPr>
          <p:cNvSpPr txBox="1"/>
          <p:nvPr/>
        </p:nvSpPr>
        <p:spPr>
          <a:xfrm>
            <a:off x="107899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Fits single A100 80GB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12DC4CB-0B5C-876E-5EFE-50A265CD481C}"/>
              </a:ext>
            </a:extLst>
          </p:cNvPr>
          <p:cNvSpPr/>
          <p:nvPr/>
        </p:nvSpPr>
        <p:spPr>
          <a:xfrm>
            <a:off x="347472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3807E9-BCCA-FAC0-559D-85933814D0AE}"/>
              </a:ext>
            </a:extLst>
          </p:cNvPr>
          <p:cNvSpPr txBox="1"/>
          <p:nvPr/>
        </p:nvSpPr>
        <p:spPr>
          <a:xfrm>
            <a:off x="363931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LoRA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F7FB36-611B-F4FB-2C24-3D05F5DF5225}"/>
              </a:ext>
            </a:extLst>
          </p:cNvPr>
          <p:cNvSpPr txBox="1"/>
          <p:nvPr/>
        </p:nvSpPr>
        <p:spPr>
          <a:xfrm>
            <a:off x="363931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No full model retrain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0127CA4-CD05-9546-9ECB-0C62567B5A34}"/>
              </a:ext>
            </a:extLst>
          </p:cNvPr>
          <p:cNvSpPr/>
          <p:nvPr/>
        </p:nvSpPr>
        <p:spPr>
          <a:xfrm>
            <a:off x="603504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77D001-5A63-984A-20D5-F477BF92BADD}"/>
              </a:ext>
            </a:extLst>
          </p:cNvPr>
          <p:cNvSpPr txBox="1"/>
          <p:nvPr/>
        </p:nvSpPr>
        <p:spPr>
          <a:xfrm>
            <a:off x="619963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per flow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D3FCD2-D6E3-2A3E-1A79-58E3A8608175}"/>
              </a:ext>
            </a:extLst>
          </p:cNvPr>
          <p:cNvSpPr txBox="1"/>
          <p:nvPr/>
        </p:nvSpPr>
        <p:spPr>
          <a:xfrm>
            <a:off x="619963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Adapter can be swapped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4EEDDAB-0A93-A79E-588B-7BAEF48C16DA}"/>
              </a:ext>
            </a:extLst>
          </p:cNvPr>
          <p:cNvSpPr/>
          <p:nvPr/>
        </p:nvSpPr>
        <p:spPr>
          <a:xfrm>
            <a:off x="8595360" y="553212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BBA36F9-8EEA-40F5-B714-5D5D3EF677F4}"/>
              </a:ext>
            </a:extLst>
          </p:cNvPr>
          <p:cNvSpPr txBox="1"/>
          <p:nvPr/>
        </p:nvSpPr>
        <p:spPr>
          <a:xfrm>
            <a:off x="8759952" y="566013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fast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0B81D8-6447-DADE-A093-2D1BC7D05EA9}"/>
              </a:ext>
            </a:extLst>
          </p:cNvPr>
          <p:cNvSpPr txBox="1"/>
          <p:nvPr/>
        </p:nvSpPr>
        <p:spPr>
          <a:xfrm>
            <a:off x="8759952" y="609904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Lower experiment cost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F7D3-A485-FC2B-AC60-DC1ECE53FAD4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07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3211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ED8400-96D1-CBAF-2A01-5F7EA84B570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76376D-10AA-BEA4-70B9-2F5712EFDFEC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64E902-9CA2-C308-7AB9-AE8BC078D91E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process flow used in this project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7D4C6A-9488-7715-8192-CFA3FF42FB30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C4F591-A26D-44DB-76CC-4A90F4024A9D}"/>
              </a:ext>
            </a:extLst>
          </p:cNvPr>
          <p:cNvSpPr txBox="1"/>
          <p:nvPr/>
        </p:nvSpPr>
        <p:spPr>
          <a:xfrm>
            <a:off x="594360" y="1115568"/>
            <a:ext cx="832104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implementation is deliberately end-to-end: generate safe data, train on AzureML A100 compute, register the adapter, deploy, evaluate, and clean up.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02D2D5F-8792-BD1C-09B5-61A3785F29BC}"/>
              </a:ext>
            </a:extLst>
          </p:cNvPr>
          <p:cNvSpPr/>
          <p:nvPr/>
        </p:nvSpPr>
        <p:spPr>
          <a:xfrm>
            <a:off x="74980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A659B7A-A8B8-17C2-162A-CBC67DA2E930}"/>
              </a:ext>
            </a:extLst>
          </p:cNvPr>
          <p:cNvSpPr/>
          <p:nvPr/>
        </p:nvSpPr>
        <p:spPr>
          <a:xfrm>
            <a:off x="896112" y="2039112"/>
            <a:ext cx="420624" cy="420624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29370-2D2D-A239-9646-61F9BB96C011}"/>
              </a:ext>
            </a:extLst>
          </p:cNvPr>
          <p:cNvSpPr txBox="1"/>
          <p:nvPr/>
        </p:nvSpPr>
        <p:spPr>
          <a:xfrm>
            <a:off x="90525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E58AF6-1447-1CD7-FCF0-9B833552B2CF}"/>
              </a:ext>
            </a:extLst>
          </p:cNvPr>
          <p:cNvSpPr txBox="1"/>
          <p:nvPr/>
        </p:nvSpPr>
        <p:spPr>
          <a:xfrm>
            <a:off x="143560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Generate synthetic JSONL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BFCA61-F416-E319-62EA-90B701D94456}"/>
              </a:ext>
            </a:extLst>
          </p:cNvPr>
          <p:cNvSpPr txBox="1"/>
          <p:nvPr/>
        </p:nvSpPr>
        <p:spPr>
          <a:xfrm>
            <a:off x="1435608" y="230428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DOM + instruction + gold assistant action plan.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0929E6-3324-2CB1-C71C-CAE416B1B9F8}"/>
              </a:ext>
            </a:extLst>
          </p:cNvPr>
          <p:cNvCxnSpPr/>
          <p:nvPr/>
        </p:nvCxnSpPr>
        <p:spPr>
          <a:xfrm>
            <a:off x="3840480" y="2350008"/>
            <a:ext cx="402336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2803B55-3704-1185-0909-24D3DD83D217}"/>
              </a:ext>
            </a:extLst>
          </p:cNvPr>
          <p:cNvSpPr/>
          <p:nvPr/>
        </p:nvSpPr>
        <p:spPr>
          <a:xfrm>
            <a:off x="445312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7CA1425-0426-3E21-DF6B-8016974A832A}"/>
              </a:ext>
            </a:extLst>
          </p:cNvPr>
          <p:cNvSpPr/>
          <p:nvPr/>
        </p:nvSpPr>
        <p:spPr>
          <a:xfrm>
            <a:off x="4599432" y="2039112"/>
            <a:ext cx="420624" cy="420624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528AC6-9437-7F8C-9991-800AC88A4D95}"/>
              </a:ext>
            </a:extLst>
          </p:cNvPr>
          <p:cNvSpPr txBox="1"/>
          <p:nvPr/>
        </p:nvSpPr>
        <p:spPr>
          <a:xfrm>
            <a:off x="460857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6214A9-F317-65F7-DAA7-7F1536524725}"/>
              </a:ext>
            </a:extLst>
          </p:cNvPr>
          <p:cNvSpPr txBox="1"/>
          <p:nvPr/>
        </p:nvSpPr>
        <p:spPr>
          <a:xfrm>
            <a:off x="513892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Prepare data asset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78BCB2-0D9F-3AF3-9B7B-D922F5166241}"/>
              </a:ext>
            </a:extLst>
          </p:cNvPr>
          <p:cNvSpPr txBox="1"/>
          <p:nvPr/>
        </p:nvSpPr>
        <p:spPr>
          <a:xfrm>
            <a:off x="5138928" y="230428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Register or package train and validation files.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13A32A8-9929-5DA4-B015-0C8E506BE580}"/>
              </a:ext>
            </a:extLst>
          </p:cNvPr>
          <p:cNvCxnSpPr/>
          <p:nvPr/>
        </p:nvCxnSpPr>
        <p:spPr>
          <a:xfrm>
            <a:off x="7543800" y="2350008"/>
            <a:ext cx="402336" cy="0"/>
          </a:xfrm>
          <a:prstGeom prst="line">
            <a:avLst/>
          </a:prstGeom>
          <a:ln w="31750">
            <a:solidFill>
              <a:srgbClr val="0383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BDBB5D1-ECBD-6EED-C3D1-B7E1256BEDF5}"/>
              </a:ext>
            </a:extLst>
          </p:cNvPr>
          <p:cNvSpPr/>
          <p:nvPr/>
        </p:nvSpPr>
        <p:spPr>
          <a:xfrm>
            <a:off x="8156448" y="187452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AF9F40F-D759-566A-6981-5FB742AC4060}"/>
              </a:ext>
            </a:extLst>
          </p:cNvPr>
          <p:cNvSpPr/>
          <p:nvPr/>
        </p:nvSpPr>
        <p:spPr>
          <a:xfrm>
            <a:off x="8302752" y="2039112"/>
            <a:ext cx="420624" cy="420624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5BEF4A-1688-AE61-56EA-E1AB11C29EA0}"/>
              </a:ext>
            </a:extLst>
          </p:cNvPr>
          <p:cNvSpPr txBox="1"/>
          <p:nvPr/>
        </p:nvSpPr>
        <p:spPr>
          <a:xfrm>
            <a:off x="8311896" y="210312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17F37B-BAE7-B586-99A3-5EB38D7E9315}"/>
              </a:ext>
            </a:extLst>
          </p:cNvPr>
          <p:cNvSpPr txBox="1"/>
          <p:nvPr/>
        </p:nvSpPr>
        <p:spPr>
          <a:xfrm>
            <a:off x="8842248" y="202082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Submit AML job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9D7187-0FF1-19A1-3E90-1335A233D4A7}"/>
              </a:ext>
            </a:extLst>
          </p:cNvPr>
          <p:cNvSpPr txBox="1"/>
          <p:nvPr/>
        </p:nvSpPr>
        <p:spPr>
          <a:xfrm>
            <a:off x="8842248" y="2304288"/>
            <a:ext cx="219456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A100 command job runs training/train.py.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7516EDF-7C9E-99C3-9F44-BAF06AC79739}"/>
              </a:ext>
            </a:extLst>
          </p:cNvPr>
          <p:cNvCxnSpPr/>
          <p:nvPr/>
        </p:nvCxnSpPr>
        <p:spPr>
          <a:xfrm>
            <a:off x="9692640" y="2880360"/>
            <a:ext cx="0" cy="73152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A1586E4-5390-1AFC-F364-CAFEB3E0930B}"/>
              </a:ext>
            </a:extLst>
          </p:cNvPr>
          <p:cNvSpPr/>
          <p:nvPr/>
        </p:nvSpPr>
        <p:spPr>
          <a:xfrm>
            <a:off x="815644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4028727-A129-F3B8-3998-D2012488DD78}"/>
              </a:ext>
            </a:extLst>
          </p:cNvPr>
          <p:cNvSpPr/>
          <p:nvPr/>
        </p:nvSpPr>
        <p:spPr>
          <a:xfrm>
            <a:off x="8302752" y="4050792"/>
            <a:ext cx="420624" cy="420624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C9C403-D9F4-6B4C-44B8-7805569D4E71}"/>
              </a:ext>
            </a:extLst>
          </p:cNvPr>
          <p:cNvSpPr txBox="1"/>
          <p:nvPr/>
        </p:nvSpPr>
        <p:spPr>
          <a:xfrm>
            <a:off x="831189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44654B-419E-BA8C-8123-74B52F244B60}"/>
              </a:ext>
            </a:extLst>
          </p:cNvPr>
          <p:cNvSpPr txBox="1"/>
          <p:nvPr/>
        </p:nvSpPr>
        <p:spPr>
          <a:xfrm>
            <a:off x="884224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Train LoRA adapter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087263-5333-8D53-210D-CF95431DC522}"/>
              </a:ext>
            </a:extLst>
          </p:cNvPr>
          <p:cNvSpPr txBox="1"/>
          <p:nvPr/>
        </p:nvSpPr>
        <p:spPr>
          <a:xfrm>
            <a:off x="884224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bf16 base model, rank/alpha adapters, SFTTrainer.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AC3EE3A-9AE8-D228-DDBE-B5E8040B8535}"/>
              </a:ext>
            </a:extLst>
          </p:cNvPr>
          <p:cNvSpPr/>
          <p:nvPr/>
        </p:nvSpPr>
        <p:spPr>
          <a:xfrm>
            <a:off x="445312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8762FF1-BE56-DC3A-AC51-86E6E4948EA3}"/>
              </a:ext>
            </a:extLst>
          </p:cNvPr>
          <p:cNvSpPr/>
          <p:nvPr/>
        </p:nvSpPr>
        <p:spPr>
          <a:xfrm>
            <a:off x="4599432" y="4050792"/>
            <a:ext cx="420624" cy="420624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760764-E267-4F1E-309A-5DAF6CEA1B8E}"/>
              </a:ext>
            </a:extLst>
          </p:cNvPr>
          <p:cNvSpPr txBox="1"/>
          <p:nvPr/>
        </p:nvSpPr>
        <p:spPr>
          <a:xfrm>
            <a:off x="460857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33746D-E5D2-F88E-692C-25F215C309D4}"/>
              </a:ext>
            </a:extLst>
          </p:cNvPr>
          <p:cNvSpPr txBox="1"/>
          <p:nvPr/>
        </p:nvSpPr>
        <p:spPr>
          <a:xfrm>
            <a:off x="513892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Register + deploy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4BEEAF-4FC3-6765-9B68-0A55CA0F8B40}"/>
              </a:ext>
            </a:extLst>
          </p:cNvPr>
          <p:cNvSpPr txBox="1"/>
          <p:nvPr/>
        </p:nvSpPr>
        <p:spPr>
          <a:xfrm>
            <a:off x="513892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Adapter artifact becomes an AML model and endpoint.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5B904B5-04DA-FC4C-CB44-968E2717703D}"/>
              </a:ext>
            </a:extLst>
          </p:cNvPr>
          <p:cNvCxnSpPr/>
          <p:nvPr/>
        </p:nvCxnSpPr>
        <p:spPr>
          <a:xfrm>
            <a:off x="4050792" y="4361688"/>
            <a:ext cx="384048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50C665E-4E95-B5EE-886D-1A8204B08CB5}"/>
              </a:ext>
            </a:extLst>
          </p:cNvPr>
          <p:cNvSpPr/>
          <p:nvPr/>
        </p:nvSpPr>
        <p:spPr>
          <a:xfrm>
            <a:off x="749808" y="3886200"/>
            <a:ext cx="306324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8B75B8E-30CB-AE8B-0886-A992ADBBCA58}"/>
              </a:ext>
            </a:extLst>
          </p:cNvPr>
          <p:cNvSpPr/>
          <p:nvPr/>
        </p:nvSpPr>
        <p:spPr>
          <a:xfrm>
            <a:off x="896112" y="4050792"/>
            <a:ext cx="420624" cy="420624"/>
          </a:xfrm>
          <a:prstGeom prst="ellipse">
            <a:avLst/>
          </a:prstGeom>
          <a:solidFill>
            <a:srgbClr val="D134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5B76CA-6C71-3DD3-30BF-79FBACDDD8AB}"/>
              </a:ext>
            </a:extLst>
          </p:cNvPr>
          <p:cNvSpPr txBox="1"/>
          <p:nvPr/>
        </p:nvSpPr>
        <p:spPr>
          <a:xfrm>
            <a:off x="905256" y="4114800"/>
            <a:ext cx="393192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88C4EB-063E-6F8A-0896-EB9EC72EFDCE}"/>
              </a:ext>
            </a:extLst>
          </p:cNvPr>
          <p:cNvSpPr txBox="1"/>
          <p:nvPr/>
        </p:nvSpPr>
        <p:spPr>
          <a:xfrm>
            <a:off x="1435608" y="4032504"/>
            <a:ext cx="2194560" cy="21390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50" b="1">
                <a:solidFill>
                  <a:srgbClr val="201F1E"/>
                </a:solidFill>
                <a:latin typeface="Segoe UI" panose="020B0502040204020203" pitchFamily="34" charset="0"/>
              </a:rPr>
              <a:t>Evaluate + cleanup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A6B16-E725-67FD-3BA2-CB415BECA333}"/>
              </a:ext>
            </a:extLst>
          </p:cNvPr>
          <p:cNvSpPr txBox="1"/>
          <p:nvPr/>
        </p:nvSpPr>
        <p:spPr>
          <a:xfrm>
            <a:off x="1435608" y="4315968"/>
            <a:ext cx="2194560" cy="298543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Same prompts, base vs tuned, delete endpoint after demo.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4C7759F-B91C-79C6-3252-B40AF4BDB073}"/>
              </a:ext>
            </a:extLst>
          </p:cNvPr>
          <p:cNvCxnSpPr/>
          <p:nvPr/>
        </p:nvCxnSpPr>
        <p:spPr>
          <a:xfrm>
            <a:off x="347472" y="4361688"/>
            <a:ext cx="384048" cy="0"/>
          </a:xfrm>
          <a:prstGeom prst="line">
            <a:avLst/>
          </a:prstGeom>
          <a:ln w="31750">
            <a:solidFill>
              <a:srgbClr val="D134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1CD263A-3D4F-6F45-89DB-FBB6464A3566}"/>
              </a:ext>
            </a:extLst>
          </p:cNvPr>
          <p:cNvSpPr/>
          <p:nvPr/>
        </p:nvSpPr>
        <p:spPr>
          <a:xfrm>
            <a:off x="868680" y="6071616"/>
            <a:ext cx="10287000" cy="310896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D22F9A-854C-A3B2-9298-7DFF0F34C1AB}"/>
              </a:ext>
            </a:extLst>
          </p:cNvPr>
          <p:cNvSpPr txBox="1"/>
          <p:nvPr/>
        </p:nvSpPr>
        <p:spPr>
          <a:xfrm>
            <a:off x="987552" y="6163056"/>
            <a:ext cx="10058400" cy="1569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80" b="1">
                <a:solidFill>
                  <a:srgbClr val="004578"/>
                </a:solidFill>
                <a:latin typeface="Consolas" panose="020B0609020204030204" pitchFamily="49" charset="0"/>
              </a:rPr>
              <a:t>Project files: data/generate_winner_data.py -&gt; src/03_submit_training_job.py -&gt; training/train.py -&gt; src/04_register_and_deploy.py -&gt; demo_app/app.py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883352-7EEC-CED0-BDE4-9F25CD10125C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08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2101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1732AFF-2559-EC9F-A9DA-F40734AAC38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01DC59-06C4-8063-A3C7-CF94788C8384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DF235-327E-70A3-0F4A-8C61FB251837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Training data: synthetic browser-action examples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59DA4-3444-FF4F-232B-18DF7F991468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63057-4809-11CB-0060-8924FF145203}"/>
              </a:ext>
            </a:extLst>
          </p:cNvPr>
          <p:cNvSpPr txBox="1"/>
          <p:nvPr/>
        </p:nvSpPr>
        <p:spPr>
          <a:xfrm>
            <a:off x="594360" y="1143000"/>
            <a:ext cx="7680960" cy="45243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>
                <a:solidFill>
                  <a:srgbClr val="605E5C"/>
                </a:solidFill>
                <a:latin typeface="Aptos" panose="020B0004020202020204" pitchFamily="34" charset="0"/>
              </a:rPr>
              <a:t>The examples mirror the task shape without using Molina data: fake members, fake claims, deterministic seeds, and stable EIM selectors.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53820D-765C-3C1C-6E95-F739D9972A70}"/>
              </a:ext>
            </a:extLst>
          </p:cNvPr>
          <p:cNvSpPr/>
          <p:nvPr/>
        </p:nvSpPr>
        <p:spPr>
          <a:xfrm>
            <a:off x="713232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F9A81-696B-B05E-A314-AF071CABE791}"/>
              </a:ext>
            </a:extLst>
          </p:cNvPr>
          <p:cNvSpPr txBox="1"/>
          <p:nvPr/>
        </p:nvSpPr>
        <p:spPr>
          <a:xfrm>
            <a:off x="877824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078D4"/>
                </a:solidFill>
                <a:latin typeface="Aptos Display" panose="020B0004020202020204" pitchFamily="34" charset="0"/>
              </a:rPr>
              <a:t>96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967398-2B3A-5DF6-6699-B45116D19B38}"/>
              </a:ext>
            </a:extLst>
          </p:cNvPr>
          <p:cNvSpPr txBox="1"/>
          <p:nvPr/>
        </p:nvSpPr>
        <p:spPr>
          <a:xfrm>
            <a:off x="877824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training records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2A1B70C-A2D2-0A52-8930-4E3133FA45F9}"/>
              </a:ext>
            </a:extLst>
          </p:cNvPr>
          <p:cNvSpPr/>
          <p:nvPr/>
        </p:nvSpPr>
        <p:spPr>
          <a:xfrm>
            <a:off x="2788920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9670F-373F-2F8B-FC04-14BD31A00677}"/>
              </a:ext>
            </a:extLst>
          </p:cNvPr>
          <p:cNvSpPr txBox="1"/>
          <p:nvPr/>
        </p:nvSpPr>
        <p:spPr>
          <a:xfrm>
            <a:off x="2953512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038387"/>
                </a:solidFill>
                <a:latin typeface="Aptos Display" panose="020B0004020202020204" pitchFamily="34" charset="0"/>
              </a:rPr>
              <a:t>24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03258-5B41-AA9C-D392-BD38F506ABF5}"/>
              </a:ext>
            </a:extLst>
          </p:cNvPr>
          <p:cNvSpPr txBox="1"/>
          <p:nvPr/>
        </p:nvSpPr>
        <p:spPr>
          <a:xfrm>
            <a:off x="2953512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validation records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DBAA563-20FB-8D78-47DC-B7BCDD08DF57}"/>
              </a:ext>
            </a:extLst>
          </p:cNvPr>
          <p:cNvSpPr/>
          <p:nvPr/>
        </p:nvSpPr>
        <p:spPr>
          <a:xfrm>
            <a:off x="4864608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D1EE49-A43F-F756-C47F-D0D8A235B63D}"/>
              </a:ext>
            </a:extLst>
          </p:cNvPr>
          <p:cNvSpPr txBox="1"/>
          <p:nvPr/>
        </p:nvSpPr>
        <p:spPr>
          <a:xfrm>
            <a:off x="5029200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5C2D91"/>
                </a:solidFill>
                <a:latin typeface="Aptos Display" panose="020B0004020202020204" pitchFamily="34" charset="0"/>
              </a:rPr>
              <a:t>16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5E9020-D613-6BC0-3CA7-622D931E847C}"/>
              </a:ext>
            </a:extLst>
          </p:cNvPr>
          <p:cNvSpPr txBox="1"/>
          <p:nvPr/>
        </p:nvSpPr>
        <p:spPr>
          <a:xfrm>
            <a:off x="5029200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holdout eval prompts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58634A1-8007-5178-B60B-9AC4B022082A}"/>
              </a:ext>
            </a:extLst>
          </p:cNvPr>
          <p:cNvSpPr/>
          <p:nvPr/>
        </p:nvSpPr>
        <p:spPr>
          <a:xfrm>
            <a:off x="6940296" y="1783080"/>
            <a:ext cx="1828800" cy="960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8012BA-61C0-B6BC-F931-7CDB5884B118}"/>
              </a:ext>
            </a:extLst>
          </p:cNvPr>
          <p:cNvSpPr txBox="1"/>
          <p:nvPr/>
        </p:nvSpPr>
        <p:spPr>
          <a:xfrm>
            <a:off x="7104888" y="1911096"/>
            <a:ext cx="1499616" cy="42165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500" b="1">
                <a:solidFill>
                  <a:srgbClr val="107C10"/>
                </a:solidFill>
                <a:latin typeface="Aptos Display" panose="020B0004020202020204" pitchFamily="34" charset="0"/>
              </a:rPr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F0A539-15A5-3345-23ED-A86820CB9AEA}"/>
              </a:ext>
            </a:extLst>
          </p:cNvPr>
          <p:cNvSpPr txBox="1"/>
          <p:nvPr/>
        </p:nvSpPr>
        <p:spPr>
          <a:xfrm>
            <a:off x="7104888" y="2350008"/>
            <a:ext cx="1499616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real PHI used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A0F2075-08AC-BA58-ACFC-A902FFB6E0BD}"/>
              </a:ext>
            </a:extLst>
          </p:cNvPr>
          <p:cNvSpPr/>
          <p:nvPr/>
        </p:nvSpPr>
        <p:spPr>
          <a:xfrm>
            <a:off x="713232" y="3063240"/>
            <a:ext cx="5376672" cy="2651760"/>
          </a:xfrm>
          <a:prstGeom prst="roundRect">
            <a:avLst/>
          </a:prstGeom>
          <a:solidFill>
            <a:srgbClr val="11100F"/>
          </a:solidFill>
          <a:ln w="6350">
            <a:solidFill>
              <a:srgbClr val="605E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2AC27B-8972-6100-DFC0-A4DD65C8A23D}"/>
              </a:ext>
            </a:extLst>
          </p:cNvPr>
          <p:cNvSpPr txBox="1"/>
          <p:nvPr/>
        </p:nvSpPr>
        <p:spPr>
          <a:xfrm>
            <a:off x="960120" y="3310128"/>
            <a:ext cx="1280160" cy="2215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00" b="1">
                <a:solidFill>
                  <a:srgbClr val="D7EBFF"/>
                </a:solidFill>
                <a:latin typeface="Segoe UI" panose="020B0502040204020203" pitchFamily="34" charset="0"/>
              </a:rPr>
              <a:t>Sample input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4A0D99-0B9C-4FA6-9594-716125758C42}"/>
              </a:ext>
            </a:extLst>
          </p:cNvPr>
          <p:cNvSpPr txBox="1"/>
          <p:nvPr/>
        </p:nvSpPr>
        <p:spPr>
          <a:xfrm>
            <a:off x="960120" y="3675888"/>
            <a:ext cx="4800600" cy="131112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DOM: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&lt;button id='nav-1288-auth' data-eim-action='open-authorizations'&gt;...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&lt;input id='member-search-1288' data-eim-field='member-id' /&gt;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&lt;button id='submit-review-1288' data-eim-action='complete-nurse-review'&gt;...</a:t>
            </a:r>
          </a:p>
          <a:p>
            <a:endParaRPr lang="en-US" sz="920">
              <a:solidFill>
                <a:srgbClr val="F3F2F1"/>
              </a:solidFill>
              <a:latin typeface="Consolas" panose="020B0609020204030204" pitchFamily="49" charset="0"/>
            </a:endParaRP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Instruction:</a:t>
            </a:r>
          </a:p>
          <a:p>
            <a:r>
              <a:rPr lang="en-US" sz="920">
                <a:solidFill>
                  <a:srgbClr val="F3F2F1"/>
                </a:solidFill>
                <a:latin typeface="Consolas" panose="020B0609020204030204" pitchFamily="49" charset="0"/>
              </a:rPr>
              <a:t>Open authorization PA-2000109 for member M10000077 and complete nurse review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679281D-4E29-6DD2-2083-CDB4C4C69070}"/>
              </a:ext>
            </a:extLst>
          </p:cNvPr>
          <p:cNvSpPr/>
          <p:nvPr/>
        </p:nvSpPr>
        <p:spPr>
          <a:xfrm>
            <a:off x="6419088" y="3063240"/>
            <a:ext cx="5047488" cy="26517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E348EFF-CAEA-ECD5-15EB-4DB47AA026B7}"/>
              </a:ext>
            </a:extLst>
          </p:cNvPr>
          <p:cNvSpPr txBox="1"/>
          <p:nvPr/>
        </p:nvSpPr>
        <p:spPr>
          <a:xfrm>
            <a:off x="6693408" y="3310128"/>
            <a:ext cx="1828800" cy="22159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00" b="1">
                <a:solidFill>
                  <a:srgbClr val="107C10"/>
                </a:solidFill>
                <a:latin typeface="Segoe UI" panose="020B0502040204020203" pitchFamily="34" charset="0"/>
              </a:rPr>
              <a:t>Gold assistant output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F1597E-632C-F88E-D80F-49111815B58B}"/>
              </a:ext>
            </a:extLst>
          </p:cNvPr>
          <p:cNvSpPr txBox="1"/>
          <p:nvPr/>
        </p:nvSpPr>
        <p:spPr>
          <a:xfrm>
            <a:off x="6693408" y="3675888"/>
            <a:ext cx="4434840" cy="136037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"actions": [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{"type":"click", "selector":"[data-eim-action='open-authorizations']"},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{"type":"type", "selector":"[data-eim-field='member-id']", "value":"M10000077"},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    {"type":"click", "selector":"[data-eim-action='complete-nurse-review']"}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    ]</a:t>
            </a:r>
          </a:p>
          <a:p>
            <a:r>
              <a:rPr lang="en-US" sz="860">
                <a:solidFill>
                  <a:srgbClr val="201F1E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6FBEB96-5492-2E61-4B53-0E78B78B27C5}"/>
              </a:ext>
            </a:extLst>
          </p:cNvPr>
          <p:cNvSpPr/>
          <p:nvPr/>
        </p:nvSpPr>
        <p:spPr>
          <a:xfrm>
            <a:off x="2148840" y="5870448"/>
            <a:ext cx="7863840" cy="347472"/>
          </a:xfrm>
          <a:prstGeom prst="roundRect">
            <a:avLst/>
          </a:prstGeom>
          <a:solidFill>
            <a:srgbClr val="FFF4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A58CD9-B3BA-356A-20E6-4B04472F73BA}"/>
              </a:ext>
            </a:extLst>
          </p:cNvPr>
          <p:cNvSpPr txBox="1"/>
          <p:nvPr/>
        </p:nvSpPr>
        <p:spPr>
          <a:xfrm>
            <a:off x="2359152" y="5980176"/>
            <a:ext cx="7443216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80" b="1">
                <a:solidFill>
                  <a:srgbClr val="8A4B00"/>
                </a:solidFill>
                <a:latin typeface="Segoe UI" panose="020B0502040204020203" pitchFamily="34" charset="0"/>
              </a:rPr>
              <a:t>Why this data: teach stable selectors, exact JSON, workflow order, and reusable browser actions - not medical facts.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6CF761-1B59-3BBD-3553-503194186396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09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772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92F7D3-C884-4D83-817E-AF35E940B6E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4E5BF3-B93A-30B0-E9C7-859B3AA306DB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E6AC14-BE22-64D0-7EE0-EEB7602DF059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Technical resources leveraged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8BCF21-5C38-E316-AE49-8176B96DA247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19A8E3-AFE4-0EEC-69C4-7626BF816E4E}"/>
              </a:ext>
            </a:extLst>
          </p:cNvPr>
          <p:cNvSpPr txBox="1"/>
          <p:nvPr/>
        </p:nvSpPr>
        <p:spPr>
          <a:xfrm>
            <a:off x="594360" y="1225296"/>
            <a:ext cx="9052560" cy="4278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70">
                <a:solidFill>
                  <a:srgbClr val="605E5C"/>
                </a:solidFill>
                <a:latin typeface="Aptos" panose="020B0004020202020204" pitchFamily="34" charset="0"/>
              </a:rPr>
              <a:t>Foundry catalog assets plus AzureML SDK resources powered the demo. Gemma was not available through this serverless fine-tuning path, so training ran on AzureML managed A100 compute.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D01C53-F79A-E358-5091-682644645F1A}"/>
              </a:ext>
            </a:extLst>
          </p:cNvPr>
          <p:cNvSpPr/>
          <p:nvPr/>
        </p:nvSpPr>
        <p:spPr>
          <a:xfrm>
            <a:off x="713232" y="1755648"/>
            <a:ext cx="1965960" cy="1005840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908B0F-0586-375C-818D-A39F24194828}"/>
              </a:ext>
            </a:extLst>
          </p:cNvPr>
          <p:cNvSpPr txBox="1"/>
          <p:nvPr/>
        </p:nvSpPr>
        <p:spPr>
          <a:xfrm>
            <a:off x="914400" y="2029968"/>
            <a:ext cx="1536192" cy="3754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004578"/>
                </a:solidFill>
                <a:latin typeface="Segoe UI" panose="020B0502040204020203" pitchFamily="34" charset="0"/>
              </a:rPr>
              <a:t>Foundry / AML catalog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F71EEA-3729-84AD-EAC8-78BF72C785B3}"/>
              </a:ext>
            </a:extLst>
          </p:cNvPr>
          <p:cNvSpPr txBox="1"/>
          <p:nvPr/>
        </p:nvSpPr>
        <p:spPr>
          <a:xfrm>
            <a:off x="960120" y="2359152"/>
            <a:ext cx="1444752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Gemma base model asset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7BABB6-DA2B-6883-363E-AFF428D9C233}"/>
              </a:ext>
            </a:extLst>
          </p:cNvPr>
          <p:cNvSpPr/>
          <p:nvPr/>
        </p:nvSpPr>
        <p:spPr>
          <a:xfrm>
            <a:off x="3182112" y="1755648"/>
            <a:ext cx="1965960" cy="1005840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716946-B5DC-498D-87E8-AC2BDF317A95}"/>
              </a:ext>
            </a:extLst>
          </p:cNvPr>
          <p:cNvSpPr txBox="1"/>
          <p:nvPr/>
        </p:nvSpPr>
        <p:spPr>
          <a:xfrm>
            <a:off x="3456432" y="2029968"/>
            <a:ext cx="1371600" cy="37548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107C10"/>
                </a:solidFill>
                <a:latin typeface="Segoe UI" panose="020B0502040204020203" pitchFamily="34" charset="0"/>
              </a:rPr>
              <a:t>AzureML workspace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1C337-C325-9E96-8722-7522817CAF73}"/>
              </a:ext>
            </a:extLst>
          </p:cNvPr>
          <p:cNvSpPr txBox="1"/>
          <p:nvPr/>
        </p:nvSpPr>
        <p:spPr>
          <a:xfrm>
            <a:off x="3474720" y="2359152"/>
            <a:ext cx="1371600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jobs, data, models, lineage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DD241DB-525C-CBE5-F6D6-999CB2664D81}"/>
              </a:ext>
            </a:extLst>
          </p:cNvPr>
          <p:cNvSpPr/>
          <p:nvPr/>
        </p:nvSpPr>
        <p:spPr>
          <a:xfrm>
            <a:off x="5650992" y="1755648"/>
            <a:ext cx="1965960" cy="1005840"/>
          </a:xfrm>
          <a:prstGeom prst="roundRect">
            <a:avLst/>
          </a:prstGeom>
          <a:solidFill>
            <a:srgbClr val="EDE7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615D9D-1AD3-DCA6-1D6E-0C19B38C2EA4}"/>
              </a:ext>
            </a:extLst>
          </p:cNvPr>
          <p:cNvSpPr txBox="1"/>
          <p:nvPr/>
        </p:nvSpPr>
        <p:spPr>
          <a:xfrm>
            <a:off x="6062472" y="2029968"/>
            <a:ext cx="1051560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5C2D91"/>
                </a:solidFill>
                <a:latin typeface="Segoe UI" panose="020B0502040204020203" pitchFamily="34" charset="0"/>
              </a:rPr>
              <a:t>A100 compute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BC98A9-AFBC-6B0D-7FBB-E7392E05243E}"/>
              </a:ext>
            </a:extLst>
          </p:cNvPr>
          <p:cNvSpPr txBox="1"/>
          <p:nvPr/>
        </p:nvSpPr>
        <p:spPr>
          <a:xfrm>
            <a:off x="5870448" y="2359152"/>
            <a:ext cx="1508760" cy="15081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740">
                <a:solidFill>
                  <a:srgbClr val="605E5C"/>
                </a:solidFill>
                <a:latin typeface="Segoe UI" panose="020B0502040204020203" pitchFamily="34" charset="0"/>
              </a:rPr>
              <a:t>Standard_NC24ads_A100_v4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D14B8BA-8A5B-50CE-552A-D6186A36332B}"/>
              </a:ext>
            </a:extLst>
          </p:cNvPr>
          <p:cNvSpPr/>
          <p:nvPr/>
        </p:nvSpPr>
        <p:spPr>
          <a:xfrm>
            <a:off x="8119872" y="1755648"/>
            <a:ext cx="1965960" cy="1005840"/>
          </a:xfrm>
          <a:prstGeom prst="roundRect">
            <a:avLst/>
          </a:prstGeom>
          <a:solidFill>
            <a:srgbClr val="FFF4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EBEDBD-A395-1D8A-67A4-2276F971F517}"/>
              </a:ext>
            </a:extLst>
          </p:cNvPr>
          <p:cNvSpPr txBox="1"/>
          <p:nvPr/>
        </p:nvSpPr>
        <p:spPr>
          <a:xfrm>
            <a:off x="8641080" y="2029968"/>
            <a:ext cx="914400" cy="2062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100" b="1">
                <a:solidFill>
                  <a:srgbClr val="8A4B00"/>
                </a:solidFill>
                <a:latin typeface="Segoe UI" panose="020B0502040204020203" pitchFamily="34" charset="0"/>
              </a:rPr>
              <a:t>Key Vault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6C9DFB-FB23-F96E-7ABC-C804719D2D34}"/>
              </a:ext>
            </a:extLst>
          </p:cNvPr>
          <p:cNvSpPr txBox="1"/>
          <p:nvPr/>
        </p:nvSpPr>
        <p:spPr>
          <a:xfrm>
            <a:off x="8549640" y="2359152"/>
            <a:ext cx="1051560" cy="16004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00">
                <a:solidFill>
                  <a:srgbClr val="605E5C"/>
                </a:solidFill>
                <a:latin typeface="Segoe UI" panose="020B0502040204020203" pitchFamily="34" charset="0"/>
              </a:rPr>
              <a:t>HF token / secrets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4F964D-F46A-8EA5-FA8F-4E04B606C40A}"/>
              </a:ext>
            </a:extLst>
          </p:cNvPr>
          <p:cNvCxnSpPr/>
          <p:nvPr/>
        </p:nvCxnSpPr>
        <p:spPr>
          <a:xfrm>
            <a:off x="2697480" y="2258568"/>
            <a:ext cx="457200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621328C-FEBB-FE16-962B-91A876CA82CD}"/>
              </a:ext>
            </a:extLst>
          </p:cNvPr>
          <p:cNvCxnSpPr/>
          <p:nvPr/>
        </p:nvCxnSpPr>
        <p:spPr>
          <a:xfrm>
            <a:off x="5166360" y="2258568"/>
            <a:ext cx="457200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2C95D1-D386-6621-92FB-F5C63E7E5317}"/>
              </a:ext>
            </a:extLst>
          </p:cNvPr>
          <p:cNvCxnSpPr/>
          <p:nvPr/>
        </p:nvCxnSpPr>
        <p:spPr>
          <a:xfrm>
            <a:off x="7635240" y="2258568"/>
            <a:ext cx="457200" cy="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069091C-3DA3-9B8F-CE0A-DE21A9883E51}"/>
              </a:ext>
            </a:extLst>
          </p:cNvPr>
          <p:cNvSpPr/>
          <p:nvPr/>
        </p:nvSpPr>
        <p:spPr>
          <a:xfrm>
            <a:off x="1115568" y="3520440"/>
            <a:ext cx="9509760" cy="20299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691A0-441D-8751-1C7C-6CDBDD1632DC}"/>
              </a:ext>
            </a:extLst>
          </p:cNvPr>
          <p:cNvSpPr txBox="1"/>
          <p:nvPr/>
        </p:nvSpPr>
        <p:spPr>
          <a:xfrm>
            <a:off x="1417320" y="3822192"/>
            <a:ext cx="2560320" cy="2523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 b="1">
                <a:solidFill>
                  <a:srgbClr val="201F1E"/>
                </a:solidFill>
                <a:latin typeface="Segoe UI" panose="020B0502040204020203" pitchFamily="34" charset="0"/>
              </a:rPr>
              <a:t>What the SDK scripts did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EDA138-DC8E-FC6A-FCDB-21A29F8184A5}"/>
              </a:ext>
            </a:extLst>
          </p:cNvPr>
          <p:cNvSpPr txBox="1"/>
          <p:nvPr/>
        </p:nvSpPr>
        <p:spPr>
          <a:xfrm>
            <a:off x="1444752" y="4315968"/>
            <a:ext cx="20116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it-IT" sz="920" b="1">
                <a:solidFill>
                  <a:srgbClr val="004578"/>
                </a:solidFill>
                <a:latin typeface="Consolas" panose="020B0609020204030204" pitchFamily="49" charset="0"/>
              </a:rPr>
              <a:t>src/02_prepare_data.py</a:t>
            </a:r>
            <a:endParaRPr lang="en-US" sz="920" b="1">
              <a:solidFill>
                <a:srgbClr val="004578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734E6B-7867-6864-E964-1A17DA7A0974}"/>
              </a:ext>
            </a:extLst>
          </p:cNvPr>
          <p:cNvSpPr txBox="1"/>
          <p:nvPr/>
        </p:nvSpPr>
        <p:spPr>
          <a:xfrm>
            <a:off x="3429000" y="4297680"/>
            <a:ext cx="621792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Registered synthetic train/validation data as an AML asset.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BCDC82-CCDA-1D6A-882B-84941FFA333B}"/>
              </a:ext>
            </a:extLst>
          </p:cNvPr>
          <p:cNvSpPr txBox="1"/>
          <p:nvPr/>
        </p:nvSpPr>
        <p:spPr>
          <a:xfrm>
            <a:off x="1444752" y="4663440"/>
            <a:ext cx="210312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 b="1">
                <a:solidFill>
                  <a:srgbClr val="004578"/>
                </a:solidFill>
                <a:latin typeface="Consolas" panose="020B0609020204030204" pitchFamily="49" charset="0"/>
              </a:rPr>
              <a:t>src/03_submit_training_job.py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70E0A7-6AD9-525A-7477-B061F23CE80E}"/>
              </a:ext>
            </a:extLst>
          </p:cNvPr>
          <p:cNvSpPr txBox="1"/>
          <p:nvPr/>
        </p:nvSpPr>
        <p:spPr>
          <a:xfrm>
            <a:off x="3429000" y="4645152"/>
            <a:ext cx="635508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Submitted a command job to A100 compute with custom CUDA/Transformers/TRL environment.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0FD7BF-204D-5178-DDBE-587DF518980A}"/>
              </a:ext>
            </a:extLst>
          </p:cNvPr>
          <p:cNvSpPr txBox="1"/>
          <p:nvPr/>
        </p:nvSpPr>
        <p:spPr>
          <a:xfrm>
            <a:off x="1444752" y="5010912"/>
            <a:ext cx="2267712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20" b="1">
                <a:solidFill>
                  <a:srgbClr val="004578"/>
                </a:solidFill>
                <a:latin typeface="Consolas" panose="020B0609020204030204" pitchFamily="49" charset="0"/>
              </a:rPr>
              <a:t>src/04_register_and_deploy.py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DD5B1A-27D0-84A5-AA86-64E5A341C07A}"/>
              </a:ext>
            </a:extLst>
          </p:cNvPr>
          <p:cNvSpPr txBox="1"/>
          <p:nvPr/>
        </p:nvSpPr>
        <p:spPr>
          <a:xfrm>
            <a:off x="3429000" y="4992624"/>
            <a:ext cx="612648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>
                <a:solidFill>
                  <a:srgbClr val="605E5C"/>
                </a:solidFill>
                <a:latin typeface="Segoe UI" panose="020B0502040204020203" pitchFamily="34" charset="0"/>
              </a:rPr>
              <a:t>Registered adapter, packaged base+LoRA, and deployed a managed online endpoint.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3B8AE0-B2D6-5E91-C341-E91D82E2D685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10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3937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25D35A-FF07-FA2E-4409-9EF23D9912F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D9DE0-5F0E-8F54-5B2D-42F2A5C16D3C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8A21F-8235-AAA1-BA6B-EF537E4D5999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details: what trained on the A100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8826A7-D15A-916B-229C-63E0836BF64C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6C648C-7FF7-8964-AA25-E030A6B6149C}"/>
              </a:ext>
            </a:extLst>
          </p:cNvPr>
          <p:cNvSpPr txBox="1"/>
          <p:nvPr/>
        </p:nvSpPr>
        <p:spPr>
          <a:xfrm>
            <a:off x="594360" y="1143000"/>
            <a:ext cx="804672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job runs inside AzureML. The laptop only submits and monitors; the GPU node loads the model, applies LoRA, trains, and writes artifacts.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B86373-144C-1966-868F-137EDEF5891D}"/>
              </a:ext>
            </a:extLst>
          </p:cNvPr>
          <p:cNvSpPr/>
          <p:nvPr/>
        </p:nvSpPr>
        <p:spPr>
          <a:xfrm>
            <a:off x="713232" y="1773936"/>
            <a:ext cx="2834640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9A1760-4A02-0948-9F79-38B1554D4556}"/>
              </a:ext>
            </a:extLst>
          </p:cNvPr>
          <p:cNvSpPr txBox="1"/>
          <p:nvPr/>
        </p:nvSpPr>
        <p:spPr>
          <a:xfrm>
            <a:off x="987552" y="2057400"/>
            <a:ext cx="14630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Model load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4AD96-6173-72FE-E5A8-BBF38557ADCF}"/>
              </a:ext>
            </a:extLst>
          </p:cNvPr>
          <p:cNvSpPr txBox="1"/>
          <p:nvPr/>
        </p:nvSpPr>
        <p:spPr>
          <a:xfrm>
            <a:off x="987552" y="2578608"/>
            <a:ext cx="2011680" cy="76328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Gemma 4B-class SLM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AzureML catalog mount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bf16 on GPU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scaled dot-product attention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1E071AC-7F95-E062-F865-5F4DFB40A46A}"/>
              </a:ext>
            </a:extLst>
          </p:cNvPr>
          <p:cNvSpPr/>
          <p:nvPr/>
        </p:nvSpPr>
        <p:spPr>
          <a:xfrm>
            <a:off x="3767328" y="1773936"/>
            <a:ext cx="2834640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94C8A8-CEC3-D828-2162-562A860AFC94}"/>
              </a:ext>
            </a:extLst>
          </p:cNvPr>
          <p:cNvSpPr txBox="1"/>
          <p:nvPr/>
        </p:nvSpPr>
        <p:spPr>
          <a:xfrm>
            <a:off x="4041648" y="2057400"/>
            <a:ext cx="14630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5C2D91"/>
                </a:solidFill>
                <a:latin typeface="Segoe UI" panose="020B0502040204020203" pitchFamily="34" charset="0"/>
              </a:rPr>
              <a:t>LoRA config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75774-82AD-E461-9C43-2389BE9AFD69}"/>
              </a:ext>
            </a:extLst>
          </p:cNvPr>
          <p:cNvSpPr txBox="1"/>
          <p:nvPr/>
        </p:nvSpPr>
        <p:spPr>
          <a:xfrm>
            <a:off x="4041648" y="2578608"/>
            <a:ext cx="2057400" cy="9448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Rank 32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Alpha 64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Dropout 0.05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Target: q/k/v/o + MLP projections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575D92-1CB3-FE6C-59BA-63B1F47E533F}"/>
              </a:ext>
            </a:extLst>
          </p:cNvPr>
          <p:cNvSpPr/>
          <p:nvPr/>
        </p:nvSpPr>
        <p:spPr>
          <a:xfrm>
            <a:off x="6812280" y="1773936"/>
            <a:ext cx="2697481" cy="41605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70273D-B680-0D10-2FED-AE825849FDBF}"/>
              </a:ext>
            </a:extLst>
          </p:cNvPr>
          <p:cNvSpPr txBox="1"/>
          <p:nvPr/>
        </p:nvSpPr>
        <p:spPr>
          <a:xfrm>
            <a:off x="7086600" y="2057400"/>
            <a:ext cx="123444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Segoe UI" panose="020B0502040204020203" pitchFamily="34" charset="0"/>
              </a:rPr>
              <a:t>Trainer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7F982-9F66-EA8F-E9DB-750242AF448C}"/>
              </a:ext>
            </a:extLst>
          </p:cNvPr>
          <p:cNvSpPr txBox="1"/>
          <p:nvPr/>
        </p:nvSpPr>
        <p:spPr>
          <a:xfrm>
            <a:off x="7086600" y="2578608"/>
            <a:ext cx="1828800" cy="94487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TRL SFTTrainer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chat template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8 epochs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batch 2 x grad accum 4</a:t>
            </a:r>
          </a:p>
          <a:p>
            <a:r>
              <a:rPr lang="en-US" sz="1180">
                <a:solidFill>
                  <a:srgbClr val="201F1E"/>
                </a:solidFill>
                <a:latin typeface="Aptos" panose="020B0004020202020204" pitchFamily="34" charset="0"/>
              </a:rPr>
              <a:t>cosine LR schedule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151C377-449D-D2D2-ACC5-19E79EDFDFE6}"/>
              </a:ext>
            </a:extLst>
          </p:cNvPr>
          <p:cNvSpPr/>
          <p:nvPr/>
        </p:nvSpPr>
        <p:spPr>
          <a:xfrm>
            <a:off x="9738360" y="1773936"/>
            <a:ext cx="1691640" cy="416052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C7A608-D526-A419-2AB5-648EB62F0CAD}"/>
              </a:ext>
            </a:extLst>
          </p:cNvPr>
          <p:cNvSpPr txBox="1"/>
          <p:nvPr/>
        </p:nvSpPr>
        <p:spPr>
          <a:xfrm>
            <a:off x="10104120" y="2057400"/>
            <a:ext cx="91440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Segoe UI" panose="020B0502040204020203" pitchFamily="34" charset="0"/>
              </a:rPr>
              <a:t>Output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389EE0-8E6C-FB5E-1088-224274176194}"/>
              </a:ext>
            </a:extLst>
          </p:cNvPr>
          <p:cNvSpPr txBox="1"/>
          <p:nvPr/>
        </p:nvSpPr>
        <p:spPr>
          <a:xfrm>
            <a:off x="9948672" y="2706624"/>
            <a:ext cx="1252728" cy="7017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LoRA adapter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metadata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registered model</a:t>
            </a:r>
          </a:p>
          <a:p>
            <a:pPr algn="ctr"/>
            <a:r>
              <a:rPr lang="en-US" sz="1080" b="1">
                <a:solidFill>
                  <a:srgbClr val="D7EBFF"/>
                </a:solidFill>
                <a:latin typeface="Aptos" panose="020B0004020202020204" pitchFamily="34" charset="0"/>
              </a:rPr>
              <a:t>deploy package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802F6F2-77EE-7E7B-9783-AF960685D871}"/>
              </a:ext>
            </a:extLst>
          </p:cNvPr>
          <p:cNvCxnSpPr/>
          <p:nvPr/>
        </p:nvCxnSpPr>
        <p:spPr>
          <a:xfrm>
            <a:off x="3566160" y="3749040"/>
            <a:ext cx="164592" cy="0"/>
          </a:xfrm>
          <a:prstGeom prst="line">
            <a:avLst/>
          </a:prstGeom>
          <a:ln w="254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6C9F2E-29F1-B21D-33E5-0736F1D12AB4}"/>
              </a:ext>
            </a:extLst>
          </p:cNvPr>
          <p:cNvCxnSpPr/>
          <p:nvPr/>
        </p:nvCxnSpPr>
        <p:spPr>
          <a:xfrm>
            <a:off x="6620256" y="3749040"/>
            <a:ext cx="164592" cy="0"/>
          </a:xfrm>
          <a:prstGeom prst="line">
            <a:avLst/>
          </a:prstGeom>
          <a:ln w="2540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097315-06A8-E941-3F57-073F9862C783}"/>
              </a:ext>
            </a:extLst>
          </p:cNvPr>
          <p:cNvCxnSpPr/>
          <p:nvPr/>
        </p:nvCxnSpPr>
        <p:spPr>
          <a:xfrm>
            <a:off x="9528048" y="3749040"/>
            <a:ext cx="182880" cy="0"/>
          </a:xfrm>
          <a:prstGeom prst="line">
            <a:avLst/>
          </a:prstGeom>
          <a:ln w="254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47DBD01-9C79-53C2-10CD-327A68B3F3EA}"/>
              </a:ext>
            </a:extLst>
          </p:cNvPr>
          <p:cNvSpPr/>
          <p:nvPr/>
        </p:nvSpPr>
        <p:spPr>
          <a:xfrm>
            <a:off x="1261872" y="6181344"/>
            <a:ext cx="9646920" cy="25603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CC0D2E-D446-6288-9B0C-4E9C1484D692}"/>
              </a:ext>
            </a:extLst>
          </p:cNvPr>
          <p:cNvSpPr txBox="1"/>
          <p:nvPr/>
        </p:nvSpPr>
        <p:spPr>
          <a:xfrm>
            <a:off x="1417320" y="6263640"/>
            <a:ext cx="9326880" cy="1569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780" b="1">
                <a:solidFill>
                  <a:srgbClr val="004578"/>
                </a:solidFill>
                <a:latin typeface="Segoe UI" panose="020B0502040204020203" pitchFamily="34" charset="0"/>
              </a:rPr>
              <a:t>Memory shape: base weights ~8GB, LoRA trainable params small, total fits comfortably on a single A100 80GB.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C7135B-74AC-C979-5D81-8E480200968C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11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594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21DC0EE-F384-C56E-6583-F51AC7B9261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2544-1514-6691-0B28-8DFF21930239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4D089-9570-9384-23B0-2B8FB4B9BF6D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Fine-tuning in code: what actually changes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11AE0F-9F38-AD60-8DD5-AAFFA95273D7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03B7D6-2676-D6B2-F58E-E8CFD99772D3}"/>
              </a:ext>
            </a:extLst>
          </p:cNvPr>
          <p:cNvSpPr txBox="1"/>
          <p:nvPr/>
        </p:nvSpPr>
        <p:spPr>
          <a:xfrm>
            <a:off x="594360" y="1133856"/>
            <a:ext cx="877824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base Gemma weights stay mostly frozen. The training job learns a small LoRA adapter that changes how the model responds to this browser-action contract.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50E353-D06B-B7E6-BCC5-AEAA0EA34519}"/>
              </a:ext>
            </a:extLst>
          </p:cNvPr>
          <p:cNvSpPr/>
          <p:nvPr/>
        </p:nvSpPr>
        <p:spPr>
          <a:xfrm>
            <a:off x="713232" y="1874520"/>
            <a:ext cx="2487168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EA155EC-0902-D2DF-1DD0-4FEE18B19E48}"/>
              </a:ext>
            </a:extLst>
          </p:cNvPr>
          <p:cNvSpPr/>
          <p:nvPr/>
        </p:nvSpPr>
        <p:spPr>
          <a:xfrm>
            <a:off x="877824" y="2084832"/>
            <a:ext cx="438912" cy="43891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B8F89A-6F8D-0DFE-6EE1-D77A0F6A588B}"/>
              </a:ext>
            </a:extLst>
          </p:cNvPr>
          <p:cNvSpPr txBox="1"/>
          <p:nvPr/>
        </p:nvSpPr>
        <p:spPr>
          <a:xfrm>
            <a:off x="89154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B41EB0-0D13-7BE5-7E95-C2EB6B77D494}"/>
              </a:ext>
            </a:extLst>
          </p:cNvPr>
          <p:cNvSpPr txBox="1"/>
          <p:nvPr/>
        </p:nvSpPr>
        <p:spPr>
          <a:xfrm>
            <a:off x="142646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Load base Gemma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D3AB1-3544-B1CE-A311-94CD4A0BE81D}"/>
              </a:ext>
            </a:extLst>
          </p:cNvPr>
          <p:cNvSpPr txBox="1"/>
          <p:nvPr/>
        </p:nvSpPr>
        <p:spPr>
          <a:xfrm>
            <a:off x="932688" y="2651760"/>
            <a:ext cx="2011680" cy="3508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Transformers loads the catalog model in bf16 on the A100.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959DF2-768A-1522-2881-ACFE242678AA}"/>
              </a:ext>
            </a:extLst>
          </p:cNvPr>
          <p:cNvSpPr/>
          <p:nvPr/>
        </p:nvSpPr>
        <p:spPr>
          <a:xfrm>
            <a:off x="93268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3EFFEC-DADD-6C70-9A7A-72631B997BA6}"/>
              </a:ext>
            </a:extLst>
          </p:cNvPr>
          <p:cNvSpPr txBox="1"/>
          <p:nvPr/>
        </p:nvSpPr>
        <p:spPr>
          <a:xfrm>
            <a:off x="103327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from_pretrained(...)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4CD7FA-674E-0D47-CB0D-C517CDED660B}"/>
              </a:ext>
            </a:extLst>
          </p:cNvPr>
          <p:cNvCxnSpPr/>
          <p:nvPr/>
        </p:nvCxnSpPr>
        <p:spPr>
          <a:xfrm>
            <a:off x="3218688" y="3657600"/>
            <a:ext cx="237744" cy="0"/>
          </a:xfrm>
          <a:prstGeom prst="line">
            <a:avLst/>
          </a:prstGeom>
          <a:ln w="3175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6A9E211-D9C1-EE9B-D0EB-9E9B327030B4}"/>
              </a:ext>
            </a:extLst>
          </p:cNvPr>
          <p:cNvSpPr/>
          <p:nvPr/>
        </p:nvSpPr>
        <p:spPr>
          <a:xfrm>
            <a:off x="3502152" y="1874520"/>
            <a:ext cx="2487168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769A4D0-818C-2895-C177-FBE9BC8C6D82}"/>
              </a:ext>
            </a:extLst>
          </p:cNvPr>
          <p:cNvSpPr/>
          <p:nvPr/>
        </p:nvSpPr>
        <p:spPr>
          <a:xfrm>
            <a:off x="3666744" y="2084832"/>
            <a:ext cx="438912" cy="438912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3556CB-C8CA-6C2F-DC91-9CBA3A7E0678}"/>
              </a:ext>
            </a:extLst>
          </p:cNvPr>
          <p:cNvSpPr txBox="1"/>
          <p:nvPr/>
        </p:nvSpPr>
        <p:spPr>
          <a:xfrm>
            <a:off x="368046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9B499E-6CDB-78F3-D86A-9E6D8D17A218}"/>
              </a:ext>
            </a:extLst>
          </p:cNvPr>
          <p:cNvSpPr txBox="1"/>
          <p:nvPr/>
        </p:nvSpPr>
        <p:spPr>
          <a:xfrm>
            <a:off x="421538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Inject LoRA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0A446-8BE6-0660-BDC8-34E3E1AFE987}"/>
              </a:ext>
            </a:extLst>
          </p:cNvPr>
          <p:cNvSpPr txBox="1"/>
          <p:nvPr/>
        </p:nvSpPr>
        <p:spPr>
          <a:xfrm>
            <a:off x="372160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PEFT adds trainable adapter matrices to attention and MLP projections.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1CE6270-66E4-6F3E-6360-71EFBF645E00}"/>
              </a:ext>
            </a:extLst>
          </p:cNvPr>
          <p:cNvSpPr/>
          <p:nvPr/>
        </p:nvSpPr>
        <p:spPr>
          <a:xfrm>
            <a:off x="372160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A63DCE-DDCD-CE23-D1A5-CEC3B8D51171}"/>
              </a:ext>
            </a:extLst>
          </p:cNvPr>
          <p:cNvSpPr txBox="1"/>
          <p:nvPr/>
        </p:nvSpPr>
        <p:spPr>
          <a:xfrm>
            <a:off x="382219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pt-BR" sz="770">
                <a:solidFill>
                  <a:srgbClr val="D7EBFF"/>
                </a:solidFill>
                <a:latin typeface="Consolas" panose="020B0609020204030204" pitchFamily="49" charset="0"/>
              </a:rPr>
              <a:t>LoraConfig(r=32, alpha=64)</a:t>
            </a:r>
            <a:endParaRPr lang="en-US" sz="770">
              <a:solidFill>
                <a:srgbClr val="D7EBFF"/>
              </a:solidFill>
              <a:latin typeface="Consolas" panose="020B0609020204030204" pitchFamily="49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0020E6F-F45D-CC16-DF55-47638D8003A7}"/>
              </a:ext>
            </a:extLst>
          </p:cNvPr>
          <p:cNvCxnSpPr/>
          <p:nvPr/>
        </p:nvCxnSpPr>
        <p:spPr>
          <a:xfrm>
            <a:off x="6007608" y="3657600"/>
            <a:ext cx="237744" cy="0"/>
          </a:xfrm>
          <a:prstGeom prst="line">
            <a:avLst/>
          </a:prstGeom>
          <a:ln w="31750">
            <a:solidFill>
              <a:srgbClr val="5C2D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548C6E1-E1DC-9BF2-F072-82A4CC20CADD}"/>
              </a:ext>
            </a:extLst>
          </p:cNvPr>
          <p:cNvSpPr/>
          <p:nvPr/>
        </p:nvSpPr>
        <p:spPr>
          <a:xfrm>
            <a:off x="6291072" y="1874520"/>
            <a:ext cx="2487167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518B76C-74E7-225A-8B92-F16D264C66DE}"/>
              </a:ext>
            </a:extLst>
          </p:cNvPr>
          <p:cNvSpPr/>
          <p:nvPr/>
        </p:nvSpPr>
        <p:spPr>
          <a:xfrm>
            <a:off x="6455664" y="2084832"/>
            <a:ext cx="438912" cy="43891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D75DAA-4DB6-081B-B5A7-BE1ADD2B845A}"/>
              </a:ext>
            </a:extLst>
          </p:cNvPr>
          <p:cNvSpPr txBox="1"/>
          <p:nvPr/>
        </p:nvSpPr>
        <p:spPr>
          <a:xfrm>
            <a:off x="646938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A61E6D-FE01-23C2-A3E1-60C7A317181F}"/>
              </a:ext>
            </a:extLst>
          </p:cNvPr>
          <p:cNvSpPr txBox="1"/>
          <p:nvPr/>
        </p:nvSpPr>
        <p:spPr>
          <a:xfrm>
            <a:off x="700430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Run SFT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0E4FA0-3DFB-5D6A-B23C-27443F4784BF}"/>
              </a:ext>
            </a:extLst>
          </p:cNvPr>
          <p:cNvSpPr txBox="1"/>
          <p:nvPr/>
        </p:nvSpPr>
        <p:spPr>
          <a:xfrm>
            <a:off x="651052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TRL SFTTrainer learns from messages: system, user DOM, assistant JSON.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4D5ECDC-F2A7-67DE-962A-819013E364F6}"/>
              </a:ext>
            </a:extLst>
          </p:cNvPr>
          <p:cNvSpPr/>
          <p:nvPr/>
        </p:nvSpPr>
        <p:spPr>
          <a:xfrm>
            <a:off x="651052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A9BA98-1CE7-AC9D-1589-8F8C7995788F}"/>
              </a:ext>
            </a:extLst>
          </p:cNvPr>
          <p:cNvSpPr txBox="1"/>
          <p:nvPr/>
        </p:nvSpPr>
        <p:spPr>
          <a:xfrm>
            <a:off x="661111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trainer = SFTTrainer(...)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16E4AE1-1E95-41F0-D68A-39EA5EDB02C5}"/>
              </a:ext>
            </a:extLst>
          </p:cNvPr>
          <p:cNvCxnSpPr/>
          <p:nvPr/>
        </p:nvCxnSpPr>
        <p:spPr>
          <a:xfrm>
            <a:off x="8796528" y="3657600"/>
            <a:ext cx="237744" cy="0"/>
          </a:xfrm>
          <a:prstGeom prst="line">
            <a:avLst/>
          </a:prstGeom>
          <a:ln w="3175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A066B91-86D1-9C05-3B15-07E37D50AFEC}"/>
              </a:ext>
            </a:extLst>
          </p:cNvPr>
          <p:cNvSpPr/>
          <p:nvPr/>
        </p:nvSpPr>
        <p:spPr>
          <a:xfrm>
            <a:off x="9079992" y="1874520"/>
            <a:ext cx="2487169" cy="3566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D97CB53-DF8B-AF27-0028-A1F67E178877}"/>
              </a:ext>
            </a:extLst>
          </p:cNvPr>
          <p:cNvSpPr/>
          <p:nvPr/>
        </p:nvSpPr>
        <p:spPr>
          <a:xfrm>
            <a:off x="9244584" y="2084832"/>
            <a:ext cx="438912" cy="438912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0A5C7C-D10E-1F36-4C1C-6D3B5807A8A8}"/>
              </a:ext>
            </a:extLst>
          </p:cNvPr>
          <p:cNvSpPr txBox="1"/>
          <p:nvPr/>
        </p:nvSpPr>
        <p:spPr>
          <a:xfrm>
            <a:off x="9258300" y="2157984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AFDCA0-7956-DA7D-CB69-44B35799E8FD}"/>
              </a:ext>
            </a:extLst>
          </p:cNvPr>
          <p:cNvSpPr txBox="1"/>
          <p:nvPr/>
        </p:nvSpPr>
        <p:spPr>
          <a:xfrm>
            <a:off x="9793224" y="2084832"/>
            <a:ext cx="1536192" cy="22929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 b="1">
                <a:solidFill>
                  <a:srgbClr val="201F1E"/>
                </a:solidFill>
                <a:latin typeface="Segoe UI" panose="020B0502040204020203" pitchFamily="34" charset="0"/>
              </a:rPr>
              <a:t>Save adapter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84EBEA-C5FC-9A72-29EC-62B8996211C2}"/>
              </a:ext>
            </a:extLst>
          </p:cNvPr>
          <p:cNvSpPr txBox="1"/>
          <p:nvPr/>
        </p:nvSpPr>
        <p:spPr>
          <a:xfrm>
            <a:off x="9299448" y="2651760"/>
            <a:ext cx="2011680" cy="50783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20">
                <a:solidFill>
                  <a:srgbClr val="605E5C"/>
                </a:solidFill>
                <a:latin typeface="Segoe UI" panose="020B0502040204020203" pitchFamily="34" charset="0"/>
              </a:rPr>
              <a:t>Only the adapter and metadata are saved, then registered and deployed.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F7818D0-5365-0A54-91D2-CB23637274C2}"/>
              </a:ext>
            </a:extLst>
          </p:cNvPr>
          <p:cNvSpPr/>
          <p:nvPr/>
        </p:nvSpPr>
        <p:spPr>
          <a:xfrm>
            <a:off x="9299448" y="3703320"/>
            <a:ext cx="1993392" cy="566928"/>
          </a:xfrm>
          <a:prstGeom prst="roundRect">
            <a:avLst/>
          </a:prstGeom>
          <a:solidFill>
            <a:srgbClr val="11100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0A76CE-B030-E4E0-6127-8D55B352D79E}"/>
              </a:ext>
            </a:extLst>
          </p:cNvPr>
          <p:cNvSpPr txBox="1"/>
          <p:nvPr/>
        </p:nvSpPr>
        <p:spPr>
          <a:xfrm>
            <a:off x="9400032" y="3913632"/>
            <a:ext cx="1810512" cy="1554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770">
                <a:solidFill>
                  <a:srgbClr val="D7EBFF"/>
                </a:solidFill>
                <a:latin typeface="Consolas" panose="020B0609020204030204" pitchFamily="49" charset="0"/>
              </a:rPr>
              <a:t>save_pretrained(adapter)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515A85A-1554-CC8C-C45B-E49C379082A7}"/>
              </a:ext>
            </a:extLst>
          </p:cNvPr>
          <p:cNvSpPr/>
          <p:nvPr/>
        </p:nvSpPr>
        <p:spPr>
          <a:xfrm>
            <a:off x="960120" y="5806440"/>
            <a:ext cx="10195560" cy="438912"/>
          </a:xfrm>
          <a:prstGeom prst="roundRect">
            <a:avLst/>
          </a:prstGeom>
          <a:solidFill>
            <a:srgbClr val="D7E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9B2FC8-C8DD-5282-2A23-93C67674FA97}"/>
              </a:ext>
            </a:extLst>
          </p:cNvPr>
          <p:cNvSpPr txBox="1"/>
          <p:nvPr/>
        </p:nvSpPr>
        <p:spPr>
          <a:xfrm>
            <a:off x="1170432" y="5943600"/>
            <a:ext cx="9784080" cy="17851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 b="1">
                <a:solidFill>
                  <a:srgbClr val="004578"/>
                </a:solidFill>
                <a:latin typeface="Segoe UI" panose="020B0502040204020203" pitchFamily="34" charset="0"/>
              </a:rPr>
              <a:t>Plain English: we do not overwrite Gemma. We attach a small learned adapter that nudges it toward stable selectors, strict JSON, and correct workflow order.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4C8665-C004-DA99-E87B-7F0D5280F815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12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6476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4A02B5-5AC3-CBE3-AE32-D05CABF76B8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825CD7-7189-7CD9-27B4-102570C18868}"/>
              </a:ext>
            </a:extLst>
          </p:cNvPr>
          <p:cNvSpPr txBox="1"/>
          <p:nvPr/>
        </p:nvSpPr>
        <p:spPr>
          <a:xfrm>
            <a:off x="502920" y="228600"/>
            <a:ext cx="640080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950" b="1">
                <a:solidFill>
                  <a:srgbClr val="0078D4"/>
                </a:solidFill>
                <a:latin typeface="Segoe UI" panose="020B0502040204020203" pitchFamily="34" charset="0"/>
              </a:rPr>
              <a:t>Molina EIM | Gemma 4B-class SLM fine-tuning demo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0A362-A4C5-69EB-0809-705C5A85F96F}"/>
              </a:ext>
            </a:extLst>
          </p:cNvPr>
          <p:cNvSpPr txBox="1"/>
          <p:nvPr/>
        </p:nvSpPr>
        <p:spPr>
          <a:xfrm>
            <a:off x="502920" y="502920"/>
            <a:ext cx="8046720" cy="48320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2900" b="1">
                <a:solidFill>
                  <a:srgbClr val="201F1E"/>
                </a:solidFill>
                <a:latin typeface="Aptos Display" panose="020B0004020202020204" pitchFamily="34" charset="0"/>
              </a:rPr>
              <a:t>Live serving: one endpoint, two behaviors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37C74-7EBD-F0C9-5D55-28C96EFBEC22}"/>
              </a:ext>
            </a:extLst>
          </p:cNvPr>
          <p:cNvSpPr txBox="1"/>
          <p:nvPr/>
        </p:nvSpPr>
        <p:spPr>
          <a:xfrm>
            <a:off x="9646920" y="256032"/>
            <a:ext cx="205740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en-US" sz="850">
                <a:solidFill>
                  <a:srgbClr val="605E5C"/>
                </a:solidFill>
                <a:latin typeface="Segoe UI" panose="020B0502040204020203" pitchFamily="34" charset="0"/>
              </a:rPr>
              <a:t>Microsoft AI + AzureML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CD12E1-927D-7784-F21C-CC133484B679}"/>
              </a:ext>
            </a:extLst>
          </p:cNvPr>
          <p:cNvSpPr txBox="1"/>
          <p:nvPr/>
        </p:nvSpPr>
        <p:spPr>
          <a:xfrm>
            <a:off x="594360" y="1143000"/>
            <a:ext cx="8412480" cy="4431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20">
                <a:solidFill>
                  <a:srgbClr val="605E5C"/>
                </a:solidFill>
                <a:latin typeface="Aptos" panose="020B0004020202020204" pitchFamily="34" charset="0"/>
              </a:rPr>
              <a:t>The Streamlit demo calls the same AzureML endpoint twice: base behavior with the adapter disabled, and fine-tuned behavior with the adapter enabled.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E9D831-927C-B4B7-C969-7D100D8DAEAC}"/>
              </a:ext>
            </a:extLst>
          </p:cNvPr>
          <p:cNvSpPr/>
          <p:nvPr/>
        </p:nvSpPr>
        <p:spPr>
          <a:xfrm>
            <a:off x="749808" y="1874520"/>
            <a:ext cx="3063240" cy="3520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07F74-045B-F6B8-9EEA-9AA7D80A0A9F}"/>
              </a:ext>
            </a:extLst>
          </p:cNvPr>
          <p:cNvSpPr txBox="1"/>
          <p:nvPr/>
        </p:nvSpPr>
        <p:spPr>
          <a:xfrm>
            <a:off x="1042416" y="2167128"/>
            <a:ext cx="118872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004578"/>
                </a:solidFill>
                <a:latin typeface="Segoe UI" panose="020B0502040204020203" pitchFamily="34" charset="0"/>
              </a:rPr>
              <a:t>Base call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6A95D6-CD27-7704-095B-914A18A97ACE}"/>
              </a:ext>
            </a:extLst>
          </p:cNvPr>
          <p:cNvSpPr txBox="1"/>
          <p:nvPr/>
        </p:nvSpPr>
        <p:spPr>
          <a:xfrm>
            <a:off x="1042416" y="2615184"/>
            <a:ext cx="173736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004578"/>
                </a:solidFill>
                <a:latin typeface="Consolas" panose="020B0609020204030204" pitchFamily="49" charset="0"/>
              </a:rPr>
              <a:t>use_adapter=false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F10585-7D7C-58E5-A83A-0595841FEA02}"/>
              </a:ext>
            </a:extLst>
          </p:cNvPr>
          <p:cNvSpPr txBox="1"/>
          <p:nvPr/>
        </p:nvSpPr>
        <p:spPr>
          <a:xfrm>
            <a:off x="1042416" y="3054096"/>
            <a:ext cx="2240280" cy="61401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>
                <a:solidFill>
                  <a:srgbClr val="605E5C"/>
                </a:solidFill>
                <a:latin typeface="Aptos" panose="020B0004020202020204" pitchFamily="34" charset="0"/>
              </a:rPr>
              <a:t>Good general reasoning, but often brittle selectors and incomplete workflow steps.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4A9E485-B4AC-69EF-7432-B06B09913E51}"/>
              </a:ext>
            </a:extLst>
          </p:cNvPr>
          <p:cNvSpPr/>
          <p:nvPr/>
        </p:nvSpPr>
        <p:spPr>
          <a:xfrm>
            <a:off x="4526280" y="1691640"/>
            <a:ext cx="3063240" cy="3886200"/>
          </a:xfrm>
          <a:prstGeom prst="round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B29921-D89A-78E5-5996-A365618D8613}"/>
              </a:ext>
            </a:extLst>
          </p:cNvPr>
          <p:cNvSpPr txBox="1"/>
          <p:nvPr/>
        </p:nvSpPr>
        <p:spPr>
          <a:xfrm>
            <a:off x="4892040" y="2029968"/>
            <a:ext cx="2331720" cy="4985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AzureML managed online endpoint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9D91FB5-8FB6-F5E1-E66B-6DE5D2B6D55E}"/>
              </a:ext>
            </a:extLst>
          </p:cNvPr>
          <p:cNvSpPr/>
          <p:nvPr/>
        </p:nvSpPr>
        <p:spPr>
          <a:xfrm>
            <a:off x="5257800" y="2788920"/>
            <a:ext cx="713232" cy="71323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01CDE27-23E9-23C8-6AF9-1E87ED17EDB6}"/>
              </a:ext>
            </a:extLst>
          </p:cNvPr>
          <p:cNvSpPr/>
          <p:nvPr/>
        </p:nvSpPr>
        <p:spPr>
          <a:xfrm>
            <a:off x="6144768" y="2788920"/>
            <a:ext cx="713232" cy="713232"/>
          </a:xfrm>
          <a:prstGeom prst="ellipse">
            <a:avLst/>
          </a:prstGeom>
          <a:solidFill>
            <a:srgbClr val="5C2D9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0A6597F-6D31-4BE7-A426-2CF7B4B91728}"/>
              </a:ext>
            </a:extLst>
          </p:cNvPr>
          <p:cNvSpPr/>
          <p:nvPr/>
        </p:nvSpPr>
        <p:spPr>
          <a:xfrm>
            <a:off x="6565392" y="3529584"/>
            <a:ext cx="713232" cy="71323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1FCED26-C876-0E35-69CE-991A847AD504}"/>
              </a:ext>
            </a:extLst>
          </p:cNvPr>
          <p:cNvSpPr/>
          <p:nvPr/>
        </p:nvSpPr>
        <p:spPr>
          <a:xfrm>
            <a:off x="5669280" y="3529584"/>
            <a:ext cx="713232" cy="713232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646F9F-D923-7175-745F-E7230B93F6A2}"/>
              </a:ext>
            </a:extLst>
          </p:cNvPr>
          <p:cNvSpPr txBox="1"/>
          <p:nvPr/>
        </p:nvSpPr>
        <p:spPr>
          <a:xfrm>
            <a:off x="5641848" y="3182112"/>
            <a:ext cx="1051560" cy="49859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base +</a:t>
            </a:r>
          </a:p>
          <a:p>
            <a:pPr algn="ctr"/>
            <a:r>
              <a:rPr lang="en-US" sz="1500" b="1">
                <a:solidFill>
                  <a:srgbClr val="FFFFFF"/>
                </a:solidFill>
                <a:latin typeface="Aptos Display" panose="020B0004020202020204" pitchFamily="34" charset="0"/>
              </a:rPr>
              <a:t>LoRA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54C799-BFD9-43EE-04EE-3B830200DE9B}"/>
              </a:ext>
            </a:extLst>
          </p:cNvPr>
          <p:cNvSpPr txBox="1"/>
          <p:nvPr/>
        </p:nvSpPr>
        <p:spPr>
          <a:xfrm>
            <a:off x="4983480" y="4498848"/>
            <a:ext cx="2240280" cy="46166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Deployment: ftadapter</a:t>
            </a:r>
          </a:p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SKU: Standard_NC24ads_A100_v4</a:t>
            </a:r>
          </a:p>
          <a:p>
            <a:pPr algn="ctr"/>
            <a:r>
              <a:rPr lang="en-US" sz="920">
                <a:solidFill>
                  <a:srgbClr val="D7EBFF"/>
                </a:solidFill>
                <a:latin typeface="Segoe UI" panose="020B0502040204020203" pitchFamily="34" charset="0"/>
              </a:rPr>
              <a:t>Mode: catalog base + LoRA adapter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8242D36-5203-2AC6-DFA3-CE277FE37959}"/>
              </a:ext>
            </a:extLst>
          </p:cNvPr>
          <p:cNvSpPr/>
          <p:nvPr/>
        </p:nvSpPr>
        <p:spPr>
          <a:xfrm>
            <a:off x="8321040" y="1874520"/>
            <a:ext cx="3063240" cy="3520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2D0C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75E749-9037-4C9E-119B-2764CB9814F3}"/>
              </a:ext>
            </a:extLst>
          </p:cNvPr>
          <p:cNvSpPr txBox="1"/>
          <p:nvPr/>
        </p:nvSpPr>
        <p:spPr>
          <a:xfrm>
            <a:off x="8613648" y="2167128"/>
            <a:ext cx="1600200" cy="26776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500" b="1">
                <a:solidFill>
                  <a:srgbClr val="107C10"/>
                </a:solidFill>
                <a:latin typeface="Segoe UI" panose="020B0502040204020203" pitchFamily="34" charset="0"/>
              </a:rPr>
              <a:t>Fine-tuned call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ABCCF2-A084-6FD3-F730-A19BF012AF83}"/>
              </a:ext>
            </a:extLst>
          </p:cNvPr>
          <p:cNvSpPr txBox="1"/>
          <p:nvPr/>
        </p:nvSpPr>
        <p:spPr>
          <a:xfrm>
            <a:off x="8613648" y="2615184"/>
            <a:ext cx="1737360" cy="198516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050" b="1">
                <a:solidFill>
                  <a:srgbClr val="107C10"/>
                </a:solidFill>
                <a:latin typeface="Consolas" panose="020B0609020204030204" pitchFamily="49" charset="0"/>
              </a:rPr>
              <a:t>use_adapter=true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D7C35C-755D-BEA5-2371-426ECD3328C0}"/>
              </a:ext>
            </a:extLst>
          </p:cNvPr>
          <p:cNvSpPr txBox="1"/>
          <p:nvPr/>
        </p:nvSpPr>
        <p:spPr>
          <a:xfrm>
            <a:off x="8613648" y="3054096"/>
            <a:ext cx="2240280" cy="614014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250">
                <a:solidFill>
                  <a:srgbClr val="605E5C"/>
                </a:solidFill>
                <a:latin typeface="Aptos" panose="020B0004020202020204" pitchFamily="34" charset="0"/>
              </a:rPr>
              <a:t>Learns the EIM contract: stable data-eim selectors, action order, and no prose.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968DE2-3B73-4D29-122B-950AB1970413}"/>
              </a:ext>
            </a:extLst>
          </p:cNvPr>
          <p:cNvCxnSpPr/>
          <p:nvPr/>
        </p:nvCxnSpPr>
        <p:spPr>
          <a:xfrm>
            <a:off x="3822192" y="3529584"/>
            <a:ext cx="658368" cy="0"/>
          </a:xfrm>
          <a:prstGeom prst="line">
            <a:avLst/>
          </a:prstGeom>
          <a:ln w="38100">
            <a:solidFill>
              <a:srgbClr val="0078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91426C-76B6-FFD5-CF6A-7919606DF2AE}"/>
              </a:ext>
            </a:extLst>
          </p:cNvPr>
          <p:cNvCxnSpPr/>
          <p:nvPr/>
        </p:nvCxnSpPr>
        <p:spPr>
          <a:xfrm>
            <a:off x="7607808" y="3529584"/>
            <a:ext cx="667512" cy="0"/>
          </a:xfrm>
          <a:prstGeom prst="line">
            <a:avLst/>
          </a:prstGeom>
          <a:ln w="38100">
            <a:solidFill>
              <a:srgbClr val="107C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F40FDF-6EF4-0D52-3E42-A750D2B87148}"/>
              </a:ext>
            </a:extLst>
          </p:cNvPr>
          <p:cNvSpPr/>
          <p:nvPr/>
        </p:nvSpPr>
        <p:spPr>
          <a:xfrm>
            <a:off x="1993392" y="5998464"/>
            <a:ext cx="8211312" cy="402336"/>
          </a:xfrm>
          <a:prstGeom prst="roundRect">
            <a:avLst/>
          </a:prstGeom>
          <a:solidFill>
            <a:srgbClr val="DFF6D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D76069-8313-D5E3-C4EA-851A8F49EFBA}"/>
              </a:ext>
            </a:extLst>
          </p:cNvPr>
          <p:cNvSpPr txBox="1"/>
          <p:nvPr/>
        </p:nvSpPr>
        <p:spPr>
          <a:xfrm>
            <a:off x="2176272" y="6126480"/>
            <a:ext cx="7845552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880" b="1">
                <a:solidFill>
                  <a:srgbClr val="107C10"/>
                </a:solidFill>
                <a:latin typeface="Segoe UI" panose="020B0502040204020203" pitchFamily="34" charset="0"/>
              </a:rPr>
              <a:t>Cost posture: one A100 endpoint for the demo, delete immediately afterward to stop hourly billing.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CF2B18-E656-489D-6C30-0FF9717558AC}"/>
              </a:ext>
            </a:extLst>
          </p:cNvPr>
          <p:cNvSpPr txBox="1"/>
          <p:nvPr/>
        </p:nvSpPr>
        <p:spPr>
          <a:xfrm>
            <a:off x="9281160" y="6510528"/>
            <a:ext cx="2423160" cy="152349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r"/>
            <a:r>
              <a:rPr lang="it-IT" sz="750">
                <a:solidFill>
                  <a:srgbClr val="8A8886"/>
                </a:solidFill>
                <a:latin typeface="Segoe UI" panose="020B0502040204020203" pitchFamily="34" charset="0"/>
              </a:rPr>
              <a:t>Molina Healthcare EIM demo | 13</a:t>
            </a:r>
            <a:endParaRPr lang="en-US" sz="750">
              <a:solidFill>
                <a:srgbClr val="8A888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4703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E593E2-9042-40BF-0C76-08CD712478D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42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3C0C577-4881-A2CF-B5FA-9F7C87B1F802}"/>
              </a:ext>
            </a:extLst>
          </p:cNvPr>
          <p:cNvSpPr/>
          <p:nvPr/>
        </p:nvSpPr>
        <p:spPr>
          <a:xfrm>
            <a:off x="-640080" y="4297680"/>
            <a:ext cx="2926080" cy="2926080"/>
          </a:xfrm>
          <a:prstGeom prst="ellipse">
            <a:avLst/>
          </a:prstGeom>
          <a:solidFill>
            <a:srgbClr val="0078D4">
              <a:alpha val="80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8395726-11AF-A80A-758A-A91985EAA2A4}"/>
              </a:ext>
            </a:extLst>
          </p:cNvPr>
          <p:cNvSpPr/>
          <p:nvPr/>
        </p:nvSpPr>
        <p:spPr>
          <a:xfrm>
            <a:off x="9875520" y="-868680"/>
            <a:ext cx="2743200" cy="2743200"/>
          </a:xfrm>
          <a:prstGeom prst="ellipse">
            <a:avLst/>
          </a:prstGeom>
          <a:solidFill>
            <a:srgbClr val="00B7C3">
              <a:alpha val="7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BF58F5-95CB-D166-24C5-8CEFDFA7B1A2}"/>
              </a:ext>
            </a:extLst>
          </p:cNvPr>
          <p:cNvSpPr txBox="1"/>
          <p:nvPr/>
        </p:nvSpPr>
        <p:spPr>
          <a:xfrm>
            <a:off x="658368" y="658368"/>
            <a:ext cx="6766560" cy="99104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3100" b="1">
                <a:solidFill>
                  <a:srgbClr val="FFFFFF"/>
                </a:solidFill>
                <a:latin typeface="Aptos Display" panose="020B0004020202020204" pitchFamily="34" charset="0"/>
              </a:rPr>
              <a:t>How the fine-tuned model solves the problem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5BC22-2487-C19C-51DD-47B452077FA7}"/>
              </a:ext>
            </a:extLst>
          </p:cNvPr>
          <p:cNvSpPr txBox="1"/>
          <p:nvPr/>
        </p:nvSpPr>
        <p:spPr>
          <a:xfrm>
            <a:off x="685800" y="1444752"/>
            <a:ext cx="5852160" cy="467820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400">
                <a:solidFill>
                  <a:srgbClr val="D7EBFF"/>
                </a:solidFill>
                <a:latin typeface="Aptos" panose="020B0004020202020204" pitchFamily="34" charset="0"/>
              </a:rPr>
              <a:t>It turns the ask into a dependable workflow contract instead of a plausible web-action guess.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1AAEFE-4174-F6A5-FE7A-AE2BF72D6171}"/>
              </a:ext>
            </a:extLst>
          </p:cNvPr>
          <p:cNvSpPr/>
          <p:nvPr/>
        </p:nvSpPr>
        <p:spPr>
          <a:xfrm>
            <a:off x="804672" y="224028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AE9177D-45F6-F6EB-7629-3DFBD55BE2F3}"/>
              </a:ext>
            </a:extLst>
          </p:cNvPr>
          <p:cNvSpPr/>
          <p:nvPr/>
        </p:nvSpPr>
        <p:spPr>
          <a:xfrm>
            <a:off x="1005840" y="2468880"/>
            <a:ext cx="438912" cy="438912"/>
          </a:xfrm>
          <a:prstGeom prst="ellipse">
            <a:avLst/>
          </a:prstGeom>
          <a:solidFill>
            <a:srgbClr val="0078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37DFA-1638-4544-D19D-5B9F13409272}"/>
              </a:ext>
            </a:extLst>
          </p:cNvPr>
          <p:cNvSpPr txBox="1"/>
          <p:nvPr/>
        </p:nvSpPr>
        <p:spPr>
          <a:xfrm>
            <a:off x="1019556" y="254203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A9635B-4F1F-998A-721D-B1BAAAFF8702}"/>
              </a:ext>
            </a:extLst>
          </p:cNvPr>
          <p:cNvSpPr txBox="1"/>
          <p:nvPr/>
        </p:nvSpPr>
        <p:spPr>
          <a:xfrm>
            <a:off x="1609344" y="240487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Stable selectors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A9D9FE-FD72-65AC-32CA-AACD2026C10D}"/>
              </a:ext>
            </a:extLst>
          </p:cNvPr>
          <p:cNvSpPr txBox="1"/>
          <p:nvPr/>
        </p:nvSpPr>
        <p:spPr>
          <a:xfrm>
            <a:off x="1609344" y="271576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Uses [data-eim-*] contract selectors instead of generated IDs.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B67F23-110F-2590-D726-26A075A7F371}"/>
              </a:ext>
            </a:extLst>
          </p:cNvPr>
          <p:cNvSpPr/>
          <p:nvPr/>
        </p:nvSpPr>
        <p:spPr>
          <a:xfrm>
            <a:off x="6153912" y="224028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5ADD7C3-8B78-B78F-B117-640D761CF5A4}"/>
              </a:ext>
            </a:extLst>
          </p:cNvPr>
          <p:cNvSpPr/>
          <p:nvPr/>
        </p:nvSpPr>
        <p:spPr>
          <a:xfrm>
            <a:off x="6355080" y="2468880"/>
            <a:ext cx="438912" cy="438912"/>
          </a:xfrm>
          <a:prstGeom prst="ellipse">
            <a:avLst/>
          </a:prstGeom>
          <a:solidFill>
            <a:srgbClr val="0383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519F1D-3D6B-FA84-B01E-AF3CCDA990C3}"/>
              </a:ext>
            </a:extLst>
          </p:cNvPr>
          <p:cNvSpPr txBox="1"/>
          <p:nvPr/>
        </p:nvSpPr>
        <p:spPr>
          <a:xfrm>
            <a:off x="6368796" y="254203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386368-CE8A-83A0-A88F-ED79B8EEA1DE}"/>
              </a:ext>
            </a:extLst>
          </p:cNvPr>
          <p:cNvSpPr txBox="1"/>
          <p:nvPr/>
        </p:nvSpPr>
        <p:spPr>
          <a:xfrm>
            <a:off x="6958584" y="240487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Workflow order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6EA70B-0D34-EE33-71C7-67E08882CCE9}"/>
              </a:ext>
            </a:extLst>
          </p:cNvPr>
          <p:cNvSpPr txBox="1"/>
          <p:nvPr/>
        </p:nvSpPr>
        <p:spPr>
          <a:xfrm>
            <a:off x="6958584" y="2715768"/>
            <a:ext cx="3566160" cy="30777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Opens the right workspace, fills fields, runs checks, submits in sequence.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FE9A1B-CB31-960B-55D8-14FC35CCDC7F}"/>
              </a:ext>
            </a:extLst>
          </p:cNvPr>
          <p:cNvSpPr/>
          <p:nvPr/>
        </p:nvSpPr>
        <p:spPr>
          <a:xfrm>
            <a:off x="804672" y="365760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D709275-C2CF-036A-89DB-853435732ED1}"/>
              </a:ext>
            </a:extLst>
          </p:cNvPr>
          <p:cNvSpPr/>
          <p:nvPr/>
        </p:nvSpPr>
        <p:spPr>
          <a:xfrm>
            <a:off x="1005840" y="3886200"/>
            <a:ext cx="438912" cy="438912"/>
          </a:xfrm>
          <a:prstGeom prst="ellipse">
            <a:avLst/>
          </a:prstGeom>
          <a:solidFill>
            <a:srgbClr val="107C1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E0DF48-C29E-606D-F28D-6337E061C006}"/>
              </a:ext>
            </a:extLst>
          </p:cNvPr>
          <p:cNvSpPr txBox="1"/>
          <p:nvPr/>
        </p:nvSpPr>
        <p:spPr>
          <a:xfrm>
            <a:off x="1019556" y="395935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0B8857-449E-4EE8-CCF4-958978C0A37E}"/>
              </a:ext>
            </a:extLst>
          </p:cNvPr>
          <p:cNvSpPr txBox="1"/>
          <p:nvPr/>
        </p:nvSpPr>
        <p:spPr>
          <a:xfrm>
            <a:off x="1609344" y="382219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Machine-readable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B59CCC-7AB6-1535-F9D9-FC08929D642F}"/>
              </a:ext>
            </a:extLst>
          </p:cNvPr>
          <p:cNvSpPr txBox="1"/>
          <p:nvPr/>
        </p:nvSpPr>
        <p:spPr>
          <a:xfrm>
            <a:off x="1609344" y="413308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Returns JSON only, so downstream automation can parse and replay.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8AC7295-68E2-99A4-EB72-2938BD715311}"/>
              </a:ext>
            </a:extLst>
          </p:cNvPr>
          <p:cNvSpPr/>
          <p:nvPr/>
        </p:nvSpPr>
        <p:spPr>
          <a:xfrm>
            <a:off x="6153912" y="3657600"/>
            <a:ext cx="4754880" cy="1005840"/>
          </a:xfrm>
          <a:prstGeom prst="roundRect">
            <a:avLst/>
          </a:prstGeom>
          <a:solidFill>
            <a:srgbClr val="FFFFFF">
              <a:alpha val="97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966BA79-ACF4-E336-4470-C7C49F3D34F5}"/>
              </a:ext>
            </a:extLst>
          </p:cNvPr>
          <p:cNvSpPr/>
          <p:nvPr/>
        </p:nvSpPr>
        <p:spPr>
          <a:xfrm>
            <a:off x="6355080" y="3886200"/>
            <a:ext cx="438912" cy="438912"/>
          </a:xfrm>
          <a:prstGeom prst="ellipse">
            <a:avLst/>
          </a:prstGeom>
          <a:solidFill>
            <a:srgbClr val="FF8C0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1F6BB0-5701-1584-1330-24AD200DF7AC}"/>
              </a:ext>
            </a:extLst>
          </p:cNvPr>
          <p:cNvSpPr txBox="1"/>
          <p:nvPr/>
        </p:nvSpPr>
        <p:spPr>
          <a:xfrm>
            <a:off x="6368796" y="3959352"/>
            <a:ext cx="411480" cy="190821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FA7CE4-AB14-8453-0A0A-4F9A598C87B6}"/>
              </a:ext>
            </a:extLst>
          </p:cNvPr>
          <p:cNvSpPr txBox="1"/>
          <p:nvPr/>
        </p:nvSpPr>
        <p:spPr>
          <a:xfrm>
            <a:off x="6958584" y="3822192"/>
            <a:ext cx="3566160" cy="244682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1350" b="1">
                <a:solidFill>
                  <a:srgbClr val="201F1E"/>
                </a:solidFill>
                <a:latin typeface="Segoe UI" panose="020B0502040204020203" pitchFamily="34" charset="0"/>
              </a:rPr>
              <a:t>Governed path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56774E-0135-C4AE-176D-8C49D1382C21}"/>
              </a:ext>
            </a:extLst>
          </p:cNvPr>
          <p:cNvSpPr txBox="1"/>
          <p:nvPr/>
        </p:nvSpPr>
        <p:spPr>
          <a:xfrm>
            <a:off x="6958584" y="4133088"/>
            <a:ext cx="3566160" cy="172355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en-US" sz="880">
                <a:solidFill>
                  <a:srgbClr val="605E5C"/>
                </a:solidFill>
                <a:latin typeface="Segoe UI" panose="020B0502040204020203" pitchFamily="34" charset="0"/>
              </a:rPr>
              <a:t>Synthetic data, AzureML lineage, model registration, endpoint cleanup.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4F6F384-A59E-61D5-55A5-3F7EC28B29FE}"/>
              </a:ext>
            </a:extLst>
          </p:cNvPr>
          <p:cNvSpPr/>
          <p:nvPr/>
        </p:nvSpPr>
        <p:spPr>
          <a:xfrm>
            <a:off x="1828800" y="5650992"/>
            <a:ext cx="8549640" cy="502920"/>
          </a:xfrm>
          <a:prstGeom prst="roundRect">
            <a:avLst/>
          </a:prstGeom>
          <a:solidFill>
            <a:srgbClr val="0045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216606-537F-352F-1E13-F057C84583F0}"/>
              </a:ext>
            </a:extLst>
          </p:cNvPr>
          <p:cNvSpPr txBox="1"/>
          <p:nvPr/>
        </p:nvSpPr>
        <p:spPr>
          <a:xfrm>
            <a:off x="2029968" y="5833872"/>
            <a:ext cx="8138160" cy="183127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pPr algn="ctr"/>
            <a:r>
              <a:rPr lang="en-US" sz="950" b="1">
                <a:solidFill>
                  <a:srgbClr val="FFFFFF"/>
                </a:solidFill>
                <a:latin typeface="Segoe UI" panose="020B0502040204020203" pitchFamily="34" charset="0"/>
              </a:rPr>
              <a:t>Recommended next step: pick one real EIM flow, define graders, curate safe examples, rerun the same baseline -&gt; fine-tune -&gt; eval loop.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8DBBF4-8596-1578-9F34-25D3105C7039}"/>
              </a:ext>
            </a:extLst>
          </p:cNvPr>
          <p:cNvSpPr txBox="1"/>
          <p:nvPr/>
        </p:nvSpPr>
        <p:spPr>
          <a:xfrm>
            <a:off x="713232" y="6473952"/>
            <a:ext cx="2926080" cy="167738"/>
          </a:xfrm>
          <a:prstGeom prst="rect">
            <a:avLst/>
          </a:prstGeom>
          <a:noFill/>
        </p:spPr>
        <p:txBody>
          <a:bodyPr vert="horz" wrap="square" lIns="36576" tIns="18288" rIns="36576" bIns="18288" rtlCol="0">
            <a:spAutoFit/>
          </a:bodyPr>
          <a:lstStyle/>
          <a:p>
            <a:r>
              <a:rPr lang="it-IT" sz="850">
                <a:solidFill>
                  <a:srgbClr val="C8C6C4"/>
                </a:solidFill>
                <a:latin typeface="Segoe UI" panose="020B0502040204020203" pitchFamily="34" charset="0"/>
              </a:rPr>
              <a:t>Microsoft AI + AzureML | June 2026</a:t>
            </a:r>
            <a:endParaRPr lang="en-US" sz="850">
              <a:solidFill>
                <a:srgbClr val="C8C6C4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037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3270</Words>
  <Application>Microsoft Office PowerPoint</Application>
  <PresentationFormat>Custom</PresentationFormat>
  <Paragraphs>432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 Padhya</dc:creator>
  <cp:lastModifiedBy>Jay Padhya</cp:lastModifiedBy>
  <cp:revision>1</cp:revision>
  <dcterms:created xsi:type="dcterms:W3CDTF">2026-06-03T15:06:52Z</dcterms:created>
  <dcterms:modified xsi:type="dcterms:W3CDTF">2026-06-03T15:07:06Z</dcterms:modified>
</cp:coreProperties>
</file>